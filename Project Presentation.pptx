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 id="2147483753" r:id="rId2"/>
    <p:sldMasterId id="2147483766" r:id="rId3"/>
    <p:sldMasterId id="2147483779" r:id="rId4"/>
  </p:sldMasterIdLst>
  <p:notesMasterIdLst>
    <p:notesMasterId r:id="rId38"/>
  </p:notesMasterIdLst>
  <p:sldIdLst>
    <p:sldId id="256" r:id="rId5"/>
    <p:sldId id="257" r:id="rId6"/>
    <p:sldId id="258" r:id="rId7"/>
    <p:sldId id="259" r:id="rId8"/>
    <p:sldId id="260" r:id="rId9"/>
    <p:sldId id="261" r:id="rId10"/>
    <p:sldId id="262" r:id="rId11"/>
    <p:sldId id="263" r:id="rId12"/>
    <p:sldId id="264" r:id="rId13"/>
    <p:sldId id="287" r:id="rId14"/>
    <p:sldId id="266" r:id="rId15"/>
    <p:sldId id="265" r:id="rId16"/>
    <p:sldId id="271" r:id="rId17"/>
    <p:sldId id="288" r:id="rId18"/>
    <p:sldId id="267" r:id="rId19"/>
    <p:sldId id="268" r:id="rId20"/>
    <p:sldId id="269" r:id="rId21"/>
    <p:sldId id="270" r:id="rId22"/>
    <p:sldId id="272" r:id="rId23"/>
    <p:sldId id="273" r:id="rId24"/>
    <p:sldId id="274" r:id="rId25"/>
    <p:sldId id="275" r:id="rId26"/>
    <p:sldId id="276" r:id="rId27"/>
    <p:sldId id="277" r:id="rId28"/>
    <p:sldId id="278" r:id="rId29"/>
    <p:sldId id="279" r:id="rId30"/>
    <p:sldId id="280" r:id="rId31"/>
    <p:sldId id="281" r:id="rId32"/>
    <p:sldId id="282" r:id="rId33"/>
    <p:sldId id="286" r:id="rId34"/>
    <p:sldId id="290" r:id="rId35"/>
    <p:sldId id="283" r:id="rId36"/>
    <p:sldId id="284" r:id="rId3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959AFA-9781-4935-A512-B24C3AC46813}">
          <p14:sldIdLst>
            <p14:sldId id="256"/>
            <p14:sldId id="257"/>
            <p14:sldId id="258"/>
            <p14:sldId id="259"/>
            <p14:sldId id="260"/>
            <p14:sldId id="261"/>
            <p14:sldId id="262"/>
            <p14:sldId id="263"/>
            <p14:sldId id="264"/>
            <p14:sldId id="287"/>
            <p14:sldId id="266"/>
            <p14:sldId id="265"/>
            <p14:sldId id="271"/>
            <p14:sldId id="288"/>
            <p14:sldId id="267"/>
            <p14:sldId id="268"/>
            <p14:sldId id="269"/>
            <p14:sldId id="270"/>
            <p14:sldId id="272"/>
            <p14:sldId id="273"/>
            <p14:sldId id="274"/>
            <p14:sldId id="275"/>
            <p14:sldId id="276"/>
            <p14:sldId id="277"/>
            <p14:sldId id="278"/>
            <p14:sldId id="279"/>
            <p14:sldId id="280"/>
            <p14:sldId id="281"/>
            <p14:sldId id="282"/>
            <p14:sldId id="286"/>
            <p14:sldId id="290"/>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213D"/>
    <a:srgbClr val="2235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175" autoAdjust="0"/>
  </p:normalViewPr>
  <p:slideViewPr>
    <p:cSldViewPr snapToGrid="0" snapToObjects="1">
      <p:cViewPr varScale="1">
        <p:scale>
          <a:sx n="76" d="100"/>
          <a:sy n="76" d="100"/>
        </p:scale>
        <p:origin x="86" y="2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F:\Project\Analytics%20Project\Project.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7.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F:\Project\Analytics%20Project\Project.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[Project.xlsx]Type with count of status!PivotTable1</c:name>
    <c:fmtId val="17"/>
  </c:pivotSource>
  <c:chart>
    <c:title>
      <c:tx>
        <c:rich>
          <a:bodyPr/>
          <a:lstStyle/>
          <a:p>
            <a:pPr algn="ctr">
              <a:defRPr lang="en-US" sz="1400" b="1"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US" sz="1400" b="1" i="0" u="none" strike="noStrike" kern="1200" baseline="0" dirty="0">
                <a:solidFill>
                  <a:schemeClr val="tx2">
                    <a:lumMod val="50000"/>
                  </a:schemeClr>
                </a:solidFill>
                <a:latin typeface="Times New Roman" panose="02020603050405020304" pitchFamily="18" charset="0"/>
                <a:ea typeface="+mn-ea"/>
                <a:cs typeface="Times New Roman" panose="02020603050405020304" pitchFamily="18" charset="0"/>
              </a:rPr>
              <a:t>COUNT OF POLICY BY STATUS</a:t>
            </a:r>
          </a:p>
        </c:rich>
      </c:tx>
      <c:overlay val="0"/>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marker>
          <c:symbol val="none"/>
        </c:marker>
        <c:dLbl>
          <c:idx val="0"/>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marker>
          <c:symbol val="none"/>
        </c:marker>
        <c:dLbl>
          <c:idx val="0"/>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marker>
          <c:symbol val="none"/>
        </c:marker>
        <c:dLbl>
          <c:idx val="0"/>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1"/>
        <c:ser>
          <c:idx val="0"/>
          <c:order val="0"/>
          <c:tx>
            <c:strRef>
              <c:f>'Type with count of status'!$B$3</c:f>
              <c:strCache>
                <c:ptCount val="1"/>
                <c:pt idx="0">
                  <c:v>Total</c:v>
                </c:pt>
              </c:strCache>
            </c:strRef>
          </c:tx>
          <c:invertIfNegative val="1"/>
          <c:dLbls>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'Type with count of status'!$A$4:$A$7</c:f>
              <c:strCache>
                <c:ptCount val="3"/>
                <c:pt idx="0">
                  <c:v>Lapsed</c:v>
                </c:pt>
                <c:pt idx="1">
                  <c:v>Terminated</c:v>
                </c:pt>
                <c:pt idx="2">
                  <c:v>Active</c:v>
                </c:pt>
              </c:strCache>
            </c:strRef>
          </c:cat>
          <c:val>
            <c:numRef>
              <c:f>'Type with count of status'!$B$4:$B$7</c:f>
              <c:numCache>
                <c:formatCode>General</c:formatCode>
                <c:ptCount val="3"/>
                <c:pt idx="0">
                  <c:v>1640</c:v>
                </c:pt>
                <c:pt idx="1">
                  <c:v>1678</c:v>
                </c:pt>
                <c:pt idx="2">
                  <c:v>1682</c:v>
                </c:pt>
              </c:numCache>
            </c:numRef>
          </c:val>
          <c:extLst>
            <c:ext xmlns:c16="http://schemas.microsoft.com/office/drawing/2014/chart" uri="{C3380CC4-5D6E-409C-BE32-E72D297353CC}">
              <c16:uniqueId val="{00000000-C34C-4FD7-AA3A-B29AC7FA7581}"/>
            </c:ext>
          </c:extLst>
        </c:ser>
        <c:dLbls>
          <c:dLblPos val="outEnd"/>
          <c:showLegendKey val="0"/>
          <c:showVal val="1"/>
          <c:showCatName val="0"/>
          <c:showSerName val="0"/>
          <c:showPercent val="0"/>
          <c:showBubbleSize val="0"/>
        </c:dLbls>
        <c:gapWidth val="182"/>
        <c:axId val="1329040191"/>
        <c:axId val="1234650895"/>
      </c:barChart>
      <c:catAx>
        <c:axId val="1329040191"/>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234650895"/>
        <c:crosses val="autoZero"/>
        <c:auto val="1"/>
        <c:lblAlgn val="ctr"/>
        <c:lblOffset val="100"/>
        <c:noMultiLvlLbl val="0"/>
      </c:catAx>
      <c:valAx>
        <c:axId val="1234650895"/>
        <c:scaling>
          <c:orientation val="minMax"/>
        </c:scaling>
        <c:delete val="1"/>
        <c:axPos val="b"/>
        <c:numFmt formatCode="General" sourceLinked="1"/>
        <c:majorTickMark val="out"/>
        <c:minorTickMark val="none"/>
        <c:tickLblPos val="nextTo"/>
        <c:crossAx val="1329040191"/>
        <c:crosses val="autoZero"/>
        <c:crossBetween val="between"/>
      </c:valAx>
      <c:spPr>
        <a:solidFill>
          <a:schemeClr val="accent1">
            <a:lumMod val="20000"/>
            <a:lumOff val="80000"/>
          </a:schemeClr>
        </a:solidFill>
      </c:spPr>
    </c:plotArea>
    <c:plotVisOnly val="1"/>
    <c:dispBlanksAs val="gap"/>
    <c:showDLblsOverMax val="0"/>
    <c:extLst/>
  </c:chart>
  <c:spPr>
    <a:solidFill>
      <a:schemeClr val="accent1">
        <a:lumMod val="20000"/>
        <a:lumOff val="80000"/>
      </a:schemeClr>
    </a:solidFill>
    <a:ln>
      <a:solidFill>
        <a:schemeClr val="tx2">
          <a:lumMod val="75000"/>
        </a:schemeClr>
      </a:solidFill>
    </a:ln>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[Project.xlsx]Top Gender with high Policies!PivotTable11</c:name>
    <c:fmtId val="38"/>
  </c:pivotSource>
  <c:chart>
    <c:title>
      <c:tx>
        <c:rich>
          <a:bodyPr rot="0" spcFirstLastPara="1" vertOverflow="ellipsis" vert="horz" wrap="square" anchor="ctr" anchorCtr="1"/>
          <a:lstStyle/>
          <a:p>
            <a:pPr algn="ctr" rtl="0">
              <a:defRPr lang="en-US" sz="1200" b="1" i="0" u="none" strike="noStrike" kern="1200" spc="0" baseline="0">
                <a:solidFill>
                  <a:schemeClr val="tx2">
                    <a:lumMod val="75000"/>
                  </a:schemeClr>
                </a:solidFill>
                <a:latin typeface="Times New Roman" panose="02020603050405020304" pitchFamily="18" charset="0"/>
                <a:ea typeface="+mn-ea"/>
                <a:cs typeface="Times New Roman" panose="02020603050405020304" pitchFamily="18" charset="0"/>
              </a:defRPr>
            </a:pPr>
            <a:r>
              <a:rPr lang="en-US" sz="1200" b="1" i="0" u="none" strike="noStrike" kern="1200" spc="0" baseline="0">
                <a:solidFill>
                  <a:schemeClr val="tx2">
                    <a:lumMod val="75000"/>
                  </a:schemeClr>
                </a:solidFill>
                <a:latin typeface="Times New Roman" panose="02020603050405020304" pitchFamily="18" charset="0"/>
                <a:ea typeface="+mn-ea"/>
                <a:cs typeface="Times New Roman" panose="02020603050405020304" pitchFamily="18" charset="0"/>
              </a:rPr>
              <a:t>GENDER WITH HIGH POLICY</a:t>
            </a:r>
          </a:p>
        </c:rich>
      </c:tx>
      <c:overlay val="0"/>
      <c:spPr>
        <a:solidFill>
          <a:schemeClr val="accent1">
            <a:lumMod val="20000"/>
            <a:lumOff val="80000"/>
          </a:schemeClr>
        </a:solidFill>
        <a:ln>
          <a:noFill/>
        </a:ln>
        <a:effectLst/>
      </c:spPr>
      <c:txPr>
        <a:bodyPr rot="0" spcFirstLastPara="1" vertOverflow="ellipsis" vert="horz" wrap="square" anchor="ctr" anchorCtr="1"/>
        <a:lstStyle/>
        <a:p>
          <a:pPr algn="ctr" rtl="0">
            <a:defRPr lang="en-US" sz="1200" b="1" i="0" u="none" strike="noStrike" kern="1200" spc="0" baseline="0">
              <a:solidFill>
                <a:schemeClr val="tx2">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3"/>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4"/>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7"/>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8"/>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9"/>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1"/>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2"/>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3"/>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4"/>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0.19757137157535629"/>
          <c:y val="0.20484652960046662"/>
          <c:w val="0.56138139095135331"/>
          <c:h val="0.65757545931758532"/>
        </c:manualLayout>
      </c:layout>
      <c:pieChart>
        <c:varyColors val="1"/>
        <c:ser>
          <c:idx val="0"/>
          <c:order val="0"/>
          <c:tx>
            <c:strRef>
              <c:f>'Top Gender with high Policies'!$B$3</c:f>
              <c:strCache>
                <c:ptCount val="1"/>
                <c:pt idx="0">
                  <c:v>Total</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CA5A-4C0E-AD07-A3CFB80EB02D}"/>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CA5A-4C0E-AD07-A3CFB80EB02D}"/>
              </c:ext>
            </c:extLst>
          </c:dPt>
          <c:dPt>
            <c:idx val="2"/>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CA5A-4C0E-AD07-A3CFB80EB02D}"/>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'Top Gender with high Policies'!$A$4:$A$7</c:f>
              <c:strCache>
                <c:ptCount val="3"/>
                <c:pt idx="0">
                  <c:v>Male</c:v>
                </c:pt>
                <c:pt idx="1">
                  <c:v>Other</c:v>
                </c:pt>
                <c:pt idx="2">
                  <c:v>Female</c:v>
                </c:pt>
              </c:strCache>
            </c:strRef>
          </c:cat>
          <c:val>
            <c:numRef>
              <c:f>'Top Gender with high Policies'!$B$4:$B$7</c:f>
              <c:numCache>
                <c:formatCode>General</c:formatCode>
                <c:ptCount val="3"/>
                <c:pt idx="0">
                  <c:v>1705</c:v>
                </c:pt>
                <c:pt idx="1">
                  <c:v>1655</c:v>
                </c:pt>
                <c:pt idx="2">
                  <c:v>1640</c:v>
                </c:pt>
              </c:numCache>
            </c:numRef>
          </c:val>
          <c:extLst>
            <c:ext xmlns:c16="http://schemas.microsoft.com/office/drawing/2014/chart" uri="{C3380CC4-5D6E-409C-BE32-E72D297353CC}">
              <c16:uniqueId val="{00000006-CA5A-4C0E-AD07-A3CFB80EB02D}"/>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[Project.xlsx]Age wise highest no of policies!PivotTable2</c:name>
    <c:fmtId val="23"/>
  </c:pivotSource>
  <c:chart>
    <c:title>
      <c:tx>
        <c:rich>
          <a:bodyPr rot="0" spcFirstLastPara="1" vertOverflow="ellipsis" vert="horz" wrap="square" anchor="ctr" anchorCtr="1"/>
          <a:lstStyle/>
          <a:p>
            <a:pPr algn="ctr" rtl="0">
              <a:defRPr lang="en-US" sz="1200" b="1" i="0" u="none" strike="noStrike" kern="1200" spc="0" baseline="0">
                <a:solidFill>
                  <a:schemeClr val="tx2">
                    <a:lumMod val="75000"/>
                  </a:schemeClr>
                </a:solidFill>
                <a:latin typeface="Times New Roman" panose="02020603050405020304" pitchFamily="18" charset="0"/>
                <a:ea typeface="+mn-ea"/>
                <a:cs typeface="Times New Roman" panose="02020603050405020304" pitchFamily="18" charset="0"/>
              </a:defRPr>
            </a:pPr>
            <a:r>
              <a:rPr lang="en-US" sz="1000" b="1" i="0" u="none" strike="noStrike" kern="1200" spc="0" baseline="0">
                <a:solidFill>
                  <a:schemeClr val="tx2">
                    <a:lumMod val="75000"/>
                  </a:schemeClr>
                </a:solidFill>
                <a:latin typeface="Times New Roman" panose="02020603050405020304" pitchFamily="18" charset="0"/>
                <a:ea typeface="+mn-ea"/>
                <a:cs typeface="Times New Roman" panose="02020603050405020304" pitchFamily="18" charset="0"/>
              </a:rPr>
              <a:t>AGE WISE HIGHEST NO OF POLICIES</a:t>
            </a:r>
          </a:p>
        </c:rich>
      </c:tx>
      <c:layout>
        <c:manualLayout>
          <c:xMode val="edge"/>
          <c:yMode val="edge"/>
          <c:x val="0.18209733158355204"/>
          <c:y val="4.9905220180810735E-2"/>
        </c:manualLayout>
      </c:layout>
      <c:overlay val="0"/>
      <c:spPr>
        <a:solidFill>
          <a:schemeClr val="accent1">
            <a:lumMod val="20000"/>
            <a:lumOff val="80000"/>
          </a:schemeClr>
        </a:solidFill>
        <a:ln>
          <a:noFill/>
        </a:ln>
        <a:effectLst/>
      </c:spPr>
      <c:txPr>
        <a:bodyPr rot="0" spcFirstLastPara="1" vertOverflow="ellipsis" vert="horz" wrap="square" anchor="ctr" anchorCtr="1"/>
        <a:lstStyle/>
        <a:p>
          <a:pPr algn="ctr" rtl="0">
            <a:defRPr lang="en-US" sz="1200" b="1" i="0" u="none" strike="noStrike" kern="1200" spc="0" baseline="0">
              <a:solidFill>
                <a:schemeClr val="tx2">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4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4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lang="en-US" sz="1200" b="1"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lang="en-US" sz="1200" b="1"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lang="en-US" sz="1200" b="1"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s>
    <c:plotArea>
      <c:layout>
        <c:manualLayout>
          <c:layoutTarget val="inner"/>
          <c:xMode val="edge"/>
          <c:yMode val="edge"/>
          <c:x val="2.3703278825096447E-2"/>
          <c:y val="0.22401956708567264"/>
          <c:w val="0.76104512370404487"/>
          <c:h val="0.57712573119692456"/>
        </c:manualLayout>
      </c:layout>
      <c:pieChart>
        <c:varyColors val="1"/>
        <c:ser>
          <c:idx val="0"/>
          <c:order val="0"/>
          <c:tx>
            <c:strRef>
              <c:f>'Age wise highest no of policies'!$B$3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CD4-4B91-B3E6-7F8A2A7FD3D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CD4-4B91-B3E6-7F8A2A7FD3D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CD4-4B91-B3E6-7F8A2A7FD3D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CD4-4B91-B3E6-7F8A2A7FD3D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CD4-4B91-B3E6-7F8A2A7FD3D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4CD4-4B91-B3E6-7F8A2A7FD3D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CD4-4B91-B3E6-7F8A2A7FD3D1}"/>
              </c:ext>
            </c:extLst>
          </c:dPt>
          <c:dLbls>
            <c:spPr>
              <a:noFill/>
              <a:ln>
                <a:noFill/>
              </a:ln>
              <a:effectLst/>
            </c:spPr>
            <c:txPr>
              <a:bodyPr rot="0" spcFirstLastPara="1" vertOverflow="ellipsis" vert="horz" wrap="square" anchor="ctr" anchorCtr="1"/>
              <a:lstStyle/>
              <a:p>
                <a:pPr>
                  <a:defRPr lang="en-US" sz="1200" b="1"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'Age wise highest no of policies'!$A$4:$A$11</c:f>
              <c:strCache>
                <c:ptCount val="7"/>
                <c:pt idx="0">
                  <c:v>18-27</c:v>
                </c:pt>
                <c:pt idx="1">
                  <c:v>28-37</c:v>
                </c:pt>
                <c:pt idx="2">
                  <c:v>38-47</c:v>
                </c:pt>
                <c:pt idx="3">
                  <c:v>48-57</c:v>
                </c:pt>
                <c:pt idx="4">
                  <c:v>58-67</c:v>
                </c:pt>
                <c:pt idx="5">
                  <c:v>68-77</c:v>
                </c:pt>
                <c:pt idx="6">
                  <c:v>78-87</c:v>
                </c:pt>
              </c:strCache>
            </c:strRef>
          </c:cat>
          <c:val>
            <c:numRef>
              <c:f>'Age wise highest no of policies'!$B$4:$B$11</c:f>
              <c:numCache>
                <c:formatCode>General</c:formatCode>
                <c:ptCount val="7"/>
                <c:pt idx="0">
                  <c:v>715</c:v>
                </c:pt>
                <c:pt idx="1">
                  <c:v>785</c:v>
                </c:pt>
                <c:pt idx="2">
                  <c:v>759</c:v>
                </c:pt>
                <c:pt idx="3">
                  <c:v>721</c:v>
                </c:pt>
                <c:pt idx="4">
                  <c:v>744</c:v>
                </c:pt>
                <c:pt idx="5">
                  <c:v>688</c:v>
                </c:pt>
                <c:pt idx="6">
                  <c:v>588</c:v>
                </c:pt>
              </c:numCache>
            </c:numRef>
          </c:val>
          <c:extLst>
            <c:ext xmlns:c16="http://schemas.microsoft.com/office/drawing/2014/chart" uri="{C3380CC4-5D6E-409C-BE32-E72D297353CC}">
              <c16:uniqueId val="{0000000E-4CD4-4B91-B3E6-7F8A2A7FD3D1}"/>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8038093975028856"/>
          <c:y val="0.16683683196484408"/>
          <c:w val="0.18054682960437068"/>
          <c:h val="0.70851935900627805"/>
        </c:manualLayout>
      </c:layout>
      <c:overlay val="0"/>
      <c:spPr>
        <a:noFill/>
        <a:ln>
          <a:noFill/>
        </a:ln>
        <a:effectLst/>
      </c:spPr>
      <c:txPr>
        <a:bodyPr rot="0" spcFirstLastPara="1" vertOverflow="ellipsis" vert="horz" wrap="square" anchor="ctr" anchorCtr="1"/>
        <a:lstStyle/>
        <a:p>
          <a:pPr>
            <a:defRPr lang="en-US" sz="11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lang="en-US" sz="900" b="0" i="0" u="none" strike="noStrike" kern="1200" baseline="0">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[Project.xlsx]Max,Min,Average and Difference !PivotTable15</c:name>
    <c:fmtId val="12"/>
  </c:pivotSource>
  <c:chart>
    <c:title>
      <c:tx>
        <c:rich>
          <a:bodyPr rot="0" spcFirstLastPara="1" vertOverflow="ellipsis" vert="horz" wrap="square" anchor="ctr" anchorCtr="1"/>
          <a:lstStyle/>
          <a:p>
            <a:pPr>
              <a:defRPr sz="1200" b="0" i="0" u="none" strike="noStrike" kern="1200" spc="0" baseline="0">
                <a:solidFill>
                  <a:schemeClr val="tx2"/>
                </a:solidFill>
                <a:latin typeface="Times New Roman" panose="02020603050405020304" pitchFamily="18" charset="0"/>
                <a:ea typeface="+mn-ea"/>
                <a:cs typeface="Times New Roman" panose="02020603050405020304" pitchFamily="18" charset="0"/>
              </a:defRPr>
            </a:pPr>
            <a:r>
              <a:rPr lang="en-US" sz="1200" b="1">
                <a:solidFill>
                  <a:schemeClr val="tx2"/>
                </a:solidFill>
                <a:latin typeface="Times New Roman" panose="02020603050405020304" pitchFamily="18" charset="0"/>
                <a:cs typeface="Times New Roman" panose="02020603050405020304" pitchFamily="18" charset="0"/>
              </a:rPr>
              <a:t>YEAR VS TOTAL PREMIUM</a:t>
            </a:r>
          </a:p>
        </c:rich>
      </c:tx>
      <c:layout>
        <c:manualLayout>
          <c:xMode val="edge"/>
          <c:yMode val="edge"/>
          <c:x val="0.35224366729492979"/>
          <c:y val="2.9545463907152073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0.11038136385178982"/>
              <c:y val="-4.8446594508432611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771588806550761E-2"/>
              <c:y val="0.12475340427735016"/>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8.5682779235928846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8565619245856246E-2"/>
              <c:y val="-5.3768576259421608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3.412912368802859E-2"/>
              <c:y val="7.1793890347039951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18637019775032E-2"/>
              <c:y val="-7.1594972196110912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7.6423519976669546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1025368928558222E-2"/>
              <c:y val="-8.0983887430737853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8.3324117342068002E-2"/>
              <c:y val="7.7591856379683036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2.4290124957220782E-2"/>
              <c:y val="-6.709499854184893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0750886042508733E-2"/>
              <c:y val="-7.2654376764198753E-2"/>
            </c:manualLayout>
          </c:layout>
          <c:spPr>
            <a:noFill/>
            <a:ln>
              <a:noFill/>
            </a:ln>
            <a:effectLst/>
          </c:spPr>
          <c:txPr>
            <a:bodyPr rot="0" spcFirstLastPara="1" vertOverflow="ellipsis" vert="horz" wrap="square" lIns="38100" tIns="19050" rIns="38100" bIns="19050" anchor="ctr" anchorCtr="1">
              <a:no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0.11115608816130225"/>
                  <c:h val="8.7893815350606919E-2"/>
                </c:manualLayout>
              </c15:layout>
            </c:ext>
          </c:extLst>
        </c:dLbl>
      </c:pivotFmt>
      <c:pivotFmt>
        <c:idx val="12"/>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0750886042508733E-2"/>
              <c:y val="-7.2654376764198753E-2"/>
            </c:manualLayout>
          </c:layout>
          <c:spPr>
            <a:noFill/>
            <a:ln>
              <a:noFill/>
            </a:ln>
            <a:effectLst/>
          </c:spPr>
          <c:txPr>
            <a:bodyPr rot="0" spcFirstLastPara="1" vertOverflow="ellipsis" vert="horz" wrap="square" lIns="38100" tIns="19050" rIns="38100" bIns="19050" anchor="ctr" anchorCtr="1">
              <a:no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0.11115608816130225"/>
                  <c:h val="8.7893815350606919E-2"/>
                </c:manualLayout>
              </c15:layout>
            </c:ext>
          </c:extLst>
        </c:dLbl>
      </c:pivotFmt>
      <c:pivotFmt>
        <c:idx val="14"/>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0.11038136385178982"/>
              <c:y val="-4.8446594508432611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771588806550761E-2"/>
              <c:y val="0.12475340427735016"/>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8.5682779235928846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8565619245856246E-2"/>
              <c:y val="-5.3768576259421608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3.412912368802859E-2"/>
              <c:y val="7.1793890347039951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18637019775032E-2"/>
              <c:y val="-7.1594972196110912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7.6423519976669546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1025368928558222E-2"/>
              <c:y val="-8.0983887430737853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2.4290124957220782E-2"/>
              <c:y val="-6.709499854184893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2225" cap="sq">
            <a:solidFill>
              <a:srgbClr val="FF0000"/>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8.3324117342068002E-2"/>
              <c:y val="7.7591856379683036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0750886042508733E-2"/>
              <c:y val="-7.2654376764198753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0.11115608816130225"/>
                  <c:h val="8.7893815350606919E-2"/>
                </c:manualLayout>
              </c15:layout>
            </c:ext>
          </c:extLst>
        </c:dLbl>
      </c:pivotFmt>
      <c:pivotFmt>
        <c:idx val="26"/>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0.11038136385178982"/>
              <c:y val="-4.8446594508432611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771588806550761E-2"/>
              <c:y val="0.12475340427735016"/>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33661963693858E-2"/>
              <c:y val="0.11774986396822264"/>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5.1527013437436549E-2"/>
              <c:y val="0.13863289852260868"/>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3.412912368802859E-2"/>
              <c:y val="7.1793890347039951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18637019775032E-2"/>
              <c:y val="-7.1594972196110912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7.642351997666954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1025368928558222E-2"/>
              <c:y val="-8.098388743073785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2.4290124957220782E-2"/>
              <c:y val="-6.70949985418489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8.3324117342068002E-2"/>
              <c:y val="7.759185637968303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0750886042508733E-2"/>
              <c:y val="-7.2654376764198753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0.11115608816130225"/>
                  <c:h val="8.7893815350606919E-2"/>
                </c:manualLayout>
              </c15:layout>
            </c:ext>
          </c:extLst>
        </c:dLbl>
      </c:pivotFmt>
      <c:pivotFmt>
        <c:idx val="38"/>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0.11038136385178982"/>
              <c:y val="-4.8446594508432611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771588806550761E-2"/>
              <c:y val="0.12475340427735016"/>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33661963693858E-2"/>
              <c:y val="0.11774986396822264"/>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5.1527013437436549E-2"/>
              <c:y val="0.13863289852260868"/>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2"/>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3.412912368802859E-2"/>
              <c:y val="7.1793890347039951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3"/>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18637019775032E-2"/>
              <c:y val="-7.1594972196110912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7.642351997666954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5"/>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1025368928558222E-2"/>
              <c:y val="-8.098388743073785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6"/>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2.4290124957220782E-2"/>
              <c:y val="-6.70949985418489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8.3324117342068002E-2"/>
              <c:y val="7.759185637968303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0750886042508733E-2"/>
              <c:y val="-7.2654376764198753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0.11115608816130225"/>
                  <c:h val="8.7893815350606919E-2"/>
                </c:manualLayout>
              </c15:layout>
            </c:ext>
          </c:extLst>
        </c:dLbl>
      </c:pivotFmt>
      <c:pivotFmt>
        <c:idx val="50"/>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0.11038136385178982"/>
              <c:y val="-4.8446594508432611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771588806550761E-2"/>
              <c:y val="0.12475340427735016"/>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2"/>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33661963693858E-2"/>
              <c:y val="0.11774986396822264"/>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3"/>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5.1527013437436549E-2"/>
              <c:y val="0.13863289852260868"/>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4"/>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3.412912368802859E-2"/>
              <c:y val="7.1793890347039951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5"/>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6.118637019775032E-2"/>
              <c:y val="-7.1594972196110912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6"/>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4.6427872101538467E-2"/>
              <c:y val="7.642351997666954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7"/>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7.1025368928558222E-2"/>
              <c:y val="-8.098388743073785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8"/>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2.4290124957220782E-2"/>
              <c:y val="-6.70949985418489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9"/>
        <c:spPr>
          <a:solidFill>
            <a:schemeClr val="accent1"/>
          </a:solidFill>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Lbl>
          <c:idx val="0"/>
          <c:layout>
            <c:manualLayout>
              <c:x val="-8.3324117342068002E-2"/>
              <c:y val="7.759185637968303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6413241432953324E-2"/>
          <c:y val="0.18858716714004276"/>
          <c:w val="0.80808994239343712"/>
          <c:h val="0.6293157626130067"/>
        </c:manualLayout>
      </c:layout>
      <c:lineChart>
        <c:grouping val="standard"/>
        <c:varyColors val="0"/>
        <c:ser>
          <c:idx val="0"/>
          <c:order val="0"/>
          <c:tx>
            <c:strRef>
              <c:f>'Max,Min,Average and Difference '!$B$4</c:f>
              <c:strCache>
                <c:ptCount val="1"/>
                <c:pt idx="0">
                  <c:v>Total</c:v>
                </c:pt>
              </c:strCache>
            </c:strRef>
          </c:tx>
          <c:spPr>
            <a:ln w="22225" cap="sq">
              <a:solidFill>
                <a:schemeClr val="tx2">
                  <a:lumMod val="75000"/>
                </a:schemeClr>
              </a:solidFill>
              <a:miter lim="800000"/>
              <a:headEnd type="none" w="sm" len="sm"/>
              <a:tailEnd type="arrow" w="sm" len="sm"/>
            </a:ln>
            <a:effectLst>
              <a:glow rad="63500">
                <a:schemeClr val="accent1">
                  <a:satMod val="175000"/>
                  <a:alpha val="16000"/>
                </a:schemeClr>
              </a:glow>
              <a:outerShdw blurRad="50800" dist="38100" dir="2700000" algn="tl" rotWithShape="0">
                <a:prstClr val="black">
                  <a:alpha val="40000"/>
                </a:prstClr>
              </a:outerShdw>
            </a:effectLst>
          </c:spPr>
          <c:marker>
            <c:symbol val="none"/>
          </c:marker>
          <c:dPt>
            <c:idx val="0"/>
            <c:marker>
              <c:symbol val="none"/>
            </c:marker>
            <c:bubble3D val="0"/>
            <c:extLst>
              <c:ext xmlns:c16="http://schemas.microsoft.com/office/drawing/2014/chart" uri="{C3380CC4-5D6E-409C-BE32-E72D297353CC}">
                <c16:uniqueId val="{00000000-04DC-468E-9306-FC9A38842922}"/>
              </c:ext>
            </c:extLst>
          </c:dPt>
          <c:dPt>
            <c:idx val="1"/>
            <c:marker>
              <c:symbol val="none"/>
            </c:marker>
            <c:bubble3D val="0"/>
            <c:extLst>
              <c:ext xmlns:c16="http://schemas.microsoft.com/office/drawing/2014/chart" uri="{C3380CC4-5D6E-409C-BE32-E72D297353CC}">
                <c16:uniqueId val="{00000001-04DC-468E-9306-FC9A38842922}"/>
              </c:ext>
            </c:extLst>
          </c:dPt>
          <c:dPt>
            <c:idx val="2"/>
            <c:marker>
              <c:symbol val="none"/>
            </c:marker>
            <c:bubble3D val="0"/>
            <c:extLst>
              <c:ext xmlns:c16="http://schemas.microsoft.com/office/drawing/2014/chart" uri="{C3380CC4-5D6E-409C-BE32-E72D297353CC}">
                <c16:uniqueId val="{00000002-04DC-468E-9306-FC9A38842922}"/>
              </c:ext>
            </c:extLst>
          </c:dPt>
          <c:dPt>
            <c:idx val="3"/>
            <c:marker>
              <c:symbol val="none"/>
            </c:marker>
            <c:bubble3D val="0"/>
            <c:extLst>
              <c:ext xmlns:c16="http://schemas.microsoft.com/office/drawing/2014/chart" uri="{C3380CC4-5D6E-409C-BE32-E72D297353CC}">
                <c16:uniqueId val="{00000003-04DC-468E-9306-FC9A38842922}"/>
              </c:ext>
            </c:extLst>
          </c:dPt>
          <c:dPt>
            <c:idx val="4"/>
            <c:marker>
              <c:symbol val="none"/>
            </c:marker>
            <c:bubble3D val="0"/>
            <c:extLst>
              <c:ext xmlns:c16="http://schemas.microsoft.com/office/drawing/2014/chart" uri="{C3380CC4-5D6E-409C-BE32-E72D297353CC}">
                <c16:uniqueId val="{00000004-04DC-468E-9306-FC9A38842922}"/>
              </c:ext>
            </c:extLst>
          </c:dPt>
          <c:dPt>
            <c:idx val="5"/>
            <c:marker>
              <c:symbol val="none"/>
            </c:marker>
            <c:bubble3D val="0"/>
            <c:extLst>
              <c:ext xmlns:c16="http://schemas.microsoft.com/office/drawing/2014/chart" uri="{C3380CC4-5D6E-409C-BE32-E72D297353CC}">
                <c16:uniqueId val="{00000005-04DC-468E-9306-FC9A38842922}"/>
              </c:ext>
            </c:extLst>
          </c:dPt>
          <c:dPt>
            <c:idx val="6"/>
            <c:marker>
              <c:symbol val="none"/>
            </c:marker>
            <c:bubble3D val="0"/>
            <c:extLst>
              <c:ext xmlns:c16="http://schemas.microsoft.com/office/drawing/2014/chart" uri="{C3380CC4-5D6E-409C-BE32-E72D297353CC}">
                <c16:uniqueId val="{00000006-04DC-468E-9306-FC9A38842922}"/>
              </c:ext>
            </c:extLst>
          </c:dPt>
          <c:dPt>
            <c:idx val="7"/>
            <c:marker>
              <c:symbol val="none"/>
            </c:marker>
            <c:bubble3D val="0"/>
            <c:extLst>
              <c:ext xmlns:c16="http://schemas.microsoft.com/office/drawing/2014/chart" uri="{C3380CC4-5D6E-409C-BE32-E72D297353CC}">
                <c16:uniqueId val="{00000007-04DC-468E-9306-FC9A38842922}"/>
              </c:ext>
            </c:extLst>
          </c:dPt>
          <c:dPt>
            <c:idx val="8"/>
            <c:marker>
              <c:symbol val="none"/>
            </c:marker>
            <c:bubble3D val="0"/>
            <c:extLst>
              <c:ext xmlns:c16="http://schemas.microsoft.com/office/drawing/2014/chart" uri="{C3380CC4-5D6E-409C-BE32-E72D297353CC}">
                <c16:uniqueId val="{00000008-04DC-468E-9306-FC9A38842922}"/>
              </c:ext>
            </c:extLst>
          </c:dPt>
          <c:dPt>
            <c:idx val="9"/>
            <c:marker>
              <c:symbol val="none"/>
            </c:marker>
            <c:bubble3D val="0"/>
            <c:extLst>
              <c:ext xmlns:c16="http://schemas.microsoft.com/office/drawing/2014/chart" uri="{C3380CC4-5D6E-409C-BE32-E72D297353CC}">
                <c16:uniqueId val="{00000009-04DC-468E-9306-FC9A38842922}"/>
              </c:ext>
            </c:extLst>
          </c:dPt>
          <c:dPt>
            <c:idx val="10"/>
            <c:marker>
              <c:symbol val="none"/>
            </c:marker>
            <c:bubble3D val="0"/>
            <c:extLst>
              <c:ext xmlns:c16="http://schemas.microsoft.com/office/drawing/2014/chart" uri="{C3380CC4-5D6E-409C-BE32-E72D297353CC}">
                <c16:uniqueId val="{0000000A-04DC-468E-9306-FC9A38842922}"/>
              </c:ext>
            </c:extLst>
          </c:dPt>
          <c:dLbls>
            <c:dLbl>
              <c:idx val="0"/>
              <c:layout>
                <c:manualLayout>
                  <c:x val="-6.8649311351209219E-2"/>
                  <c:y val="-8.54191497814858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DC-468E-9306-FC9A38842922}"/>
                </c:ext>
              </c:extLst>
            </c:dLbl>
            <c:dLbl>
              <c:idx val="1"/>
              <c:layout>
                <c:manualLayout>
                  <c:x val="-9.6789242169318779E-2"/>
                  <c:y val="-8.54191497814858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4DC-468E-9306-FC9A38842922}"/>
                </c:ext>
              </c:extLst>
            </c:dLbl>
            <c:dLbl>
              <c:idx val="3"/>
              <c:layout>
                <c:manualLayout>
                  <c:x val="-3.7458062733545607E-2"/>
                  <c:y val="0.1108372726688131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4DC-468E-9306-FC9A38842922}"/>
                </c:ext>
              </c:extLst>
            </c:dLbl>
            <c:dLbl>
              <c:idx val="5"/>
              <c:layout>
                <c:manualLayout>
                  <c:x val="-3.7458062733545607E-2"/>
                  <c:y val="7.28521586461746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4DC-468E-9306-FC9A38842922}"/>
                </c:ext>
              </c:extLst>
            </c:dLbl>
            <c:dLbl>
              <c:idx val="7"/>
              <c:layout>
                <c:manualLayout>
                  <c:x val="-3.110115065114134E-2"/>
                  <c:y val="0.117168125005919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4DC-468E-9306-FC9A38842922}"/>
                </c:ext>
              </c:extLst>
            </c:dLbl>
            <c:dLbl>
              <c:idx val="8"/>
              <c:layout>
                <c:manualLayout>
                  <c:x val="-3.1519772499297494E-2"/>
                  <c:y val="0.1361606820172388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4DC-468E-9306-FC9A38842922}"/>
                </c:ext>
              </c:extLst>
            </c:dLbl>
            <c:dLbl>
              <c:idx val="9"/>
              <c:layout>
                <c:manualLayout>
                  <c:x val="-1.4568006946219523E-2"/>
                  <c:y val="-0.1487276731525501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4DC-468E-9306-FC9A38842922}"/>
                </c:ext>
              </c:extLst>
            </c:dLbl>
            <c:dLbl>
              <c:idx val="10"/>
              <c:layout>
                <c:manualLayout>
                  <c:x val="2.5692436242340837E-2"/>
                  <c:y val="0.1234989773430260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4DC-468E-9306-FC9A38842922}"/>
                </c:ext>
              </c:extLst>
            </c:dLbl>
            <c:numFmt formatCode="#,##0,&quot;K&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75000"/>
                        </a:schemeClr>
                      </a:solidFill>
                      <a:round/>
                      <a:headEnd type="triangle"/>
                      <a:tailEnd type="triangle"/>
                    </a:ln>
                    <a:effectLst/>
                  </c:spPr>
                </c15:leaderLines>
              </c:ext>
            </c:extLst>
          </c:dLbls>
          <c:cat>
            <c:strRef>
              <c:f>'Max,Min,Average and Difference '!$A$5:$A$16</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'Max,Min,Average and Difference '!$B$5:$B$16</c:f>
              <c:numCache>
                <c:formatCode>General</c:formatCode>
                <c:ptCount val="11"/>
                <c:pt idx="0">
                  <c:v>13373.039999999999</c:v>
                </c:pt>
                <c:pt idx="1">
                  <c:v>528899.5699999996</c:v>
                </c:pt>
                <c:pt idx="2">
                  <c:v>560163.69999999984</c:v>
                </c:pt>
                <c:pt idx="3">
                  <c:v>521525.34000000014</c:v>
                </c:pt>
                <c:pt idx="4">
                  <c:v>522067.2699999999</c:v>
                </c:pt>
                <c:pt idx="5">
                  <c:v>527363.75999999966</c:v>
                </c:pt>
                <c:pt idx="6">
                  <c:v>517027.17000000004</c:v>
                </c:pt>
                <c:pt idx="7">
                  <c:v>523036.21999999986</c:v>
                </c:pt>
                <c:pt idx="8">
                  <c:v>562429.24000000046</c:v>
                </c:pt>
                <c:pt idx="9">
                  <c:v>509642.87999999977</c:v>
                </c:pt>
                <c:pt idx="10">
                  <c:v>475480.21000000014</c:v>
                </c:pt>
              </c:numCache>
            </c:numRef>
          </c:val>
          <c:smooth val="0"/>
          <c:extLst>
            <c:ext xmlns:c16="http://schemas.microsoft.com/office/drawing/2014/chart" uri="{C3380CC4-5D6E-409C-BE32-E72D297353CC}">
              <c16:uniqueId val="{0000000B-04DC-468E-9306-FC9A38842922}"/>
            </c:ext>
          </c:extLst>
        </c:ser>
        <c:dLbls>
          <c:dLblPos val="t"/>
          <c:showLegendKey val="0"/>
          <c:showVal val="1"/>
          <c:showCatName val="0"/>
          <c:showSerName val="0"/>
          <c:showPercent val="0"/>
          <c:showBubbleSize val="0"/>
        </c:dLbls>
        <c:smooth val="0"/>
        <c:axId val="1430153151"/>
        <c:axId val="1429987151"/>
      </c:lineChart>
      <c:catAx>
        <c:axId val="1430153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429987151"/>
        <c:crosses val="autoZero"/>
        <c:auto val="1"/>
        <c:lblAlgn val="ctr"/>
        <c:lblOffset val="100"/>
        <c:noMultiLvlLbl val="0"/>
      </c:catAx>
      <c:valAx>
        <c:axId val="1429987151"/>
        <c:scaling>
          <c:orientation val="minMax"/>
        </c:scaling>
        <c:delete val="1"/>
        <c:axPos val="l"/>
        <c:numFmt formatCode="General" sourceLinked="1"/>
        <c:majorTickMark val="none"/>
        <c:minorTickMark val="none"/>
        <c:tickLblPos val="nextTo"/>
        <c:crossAx val="1430153151"/>
        <c:crosses val="autoZero"/>
        <c:crossBetween val="between"/>
      </c:valAx>
      <c:spPr>
        <a:solidFill>
          <a:schemeClr val="accent1">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[Project.xlsx]Top Gender with high Policies!PivotTable11</c:name>
    <c:fmtId val="41"/>
  </c:pivotSource>
  <c:chart>
    <c:title>
      <c:tx>
        <c:rich>
          <a:bodyPr rot="0" spcFirstLastPara="1" vertOverflow="ellipsis" vert="horz" wrap="square" anchor="ctr" anchorCtr="1"/>
          <a:lstStyle/>
          <a:p>
            <a:pPr algn="ctr">
              <a:defRPr sz="14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200">
                <a:solidFill>
                  <a:schemeClr val="tx2">
                    <a:lumMod val="75000"/>
                  </a:schemeClr>
                </a:solidFill>
              </a:rPr>
              <a:t>COUNT OF POLICY BY  GENDER</a:t>
            </a:r>
          </a:p>
        </c:rich>
      </c:tx>
      <c:layout>
        <c:manualLayout>
          <c:xMode val="edge"/>
          <c:yMode val="edge"/>
          <c:x val="0.13039190965515868"/>
          <c:y val="3.3510769082048447E-2"/>
        </c:manualLayout>
      </c:layout>
      <c:overlay val="0"/>
      <c:spPr>
        <a:solidFill>
          <a:schemeClr val="accent1">
            <a:lumMod val="20000"/>
            <a:lumOff val="80000"/>
          </a:schemeClr>
        </a:solidFill>
        <a:ln>
          <a:noFill/>
        </a:ln>
        <a:effectLst/>
      </c:spPr>
      <c:txPr>
        <a:bodyPr rot="0" spcFirstLastPara="1" vertOverflow="ellipsis" vert="horz" wrap="square" anchor="ctr" anchorCtr="1"/>
        <a:lstStyle/>
        <a:p>
          <a:pPr algn="ctr">
            <a:defRPr sz="14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tx2">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tx2">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s>
    <c:plotArea>
      <c:layout/>
      <c:barChart>
        <c:barDir val="bar"/>
        <c:grouping val="clustered"/>
        <c:varyColors val="1"/>
        <c:ser>
          <c:idx val="0"/>
          <c:order val="0"/>
          <c:tx>
            <c:strRef>
              <c:f>'Top Gender with high Policies'!$B$3</c:f>
              <c:strCache>
                <c:ptCount val="1"/>
                <c:pt idx="0">
                  <c:v>Total</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F736-4D7A-A50D-F089EF67D16D}"/>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F736-4D7A-A50D-F089EF67D16D}"/>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F736-4D7A-A50D-F089EF67D16D}"/>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'Top Gender with high Policies'!$A$4:$A$7</c:f>
              <c:strCache>
                <c:ptCount val="3"/>
                <c:pt idx="0">
                  <c:v>Male</c:v>
                </c:pt>
                <c:pt idx="1">
                  <c:v>Other</c:v>
                </c:pt>
                <c:pt idx="2">
                  <c:v>Female</c:v>
                </c:pt>
              </c:strCache>
            </c:strRef>
          </c:cat>
          <c:val>
            <c:numRef>
              <c:f>'Top Gender with high Policies'!$B$4:$B$7</c:f>
              <c:numCache>
                <c:formatCode>General</c:formatCode>
                <c:ptCount val="3"/>
                <c:pt idx="0">
                  <c:v>1705</c:v>
                </c:pt>
                <c:pt idx="1">
                  <c:v>1655</c:v>
                </c:pt>
                <c:pt idx="2">
                  <c:v>1640</c:v>
                </c:pt>
              </c:numCache>
            </c:numRef>
          </c:val>
          <c:extLst>
            <c:ext xmlns:c16="http://schemas.microsoft.com/office/drawing/2014/chart" uri="{C3380CC4-5D6E-409C-BE32-E72D297353CC}">
              <c16:uniqueId val="{00000006-F736-4D7A-A50D-F089EF67D16D}"/>
            </c:ext>
          </c:extLst>
        </c:ser>
        <c:dLbls>
          <c:dLblPos val="outEnd"/>
          <c:showLegendKey val="0"/>
          <c:showVal val="1"/>
          <c:showCatName val="0"/>
          <c:showSerName val="0"/>
          <c:showPercent val="0"/>
          <c:showBubbleSize val="0"/>
        </c:dLbls>
        <c:gapWidth val="182"/>
        <c:axId val="1430109999"/>
        <c:axId val="1234700815"/>
      </c:barChart>
      <c:catAx>
        <c:axId val="14301099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234700815"/>
        <c:crosses val="autoZero"/>
        <c:auto val="1"/>
        <c:lblAlgn val="ctr"/>
        <c:lblOffset val="100"/>
        <c:noMultiLvlLbl val="0"/>
      </c:catAx>
      <c:valAx>
        <c:axId val="1234700815"/>
        <c:scaling>
          <c:orientation val="minMax"/>
        </c:scaling>
        <c:delete val="1"/>
        <c:axPos val="b"/>
        <c:numFmt formatCode="General" sourceLinked="1"/>
        <c:majorTickMark val="none"/>
        <c:minorTickMark val="none"/>
        <c:tickLblPos val="nextTo"/>
        <c:crossAx val="1430109999"/>
        <c:crosses val="autoZero"/>
        <c:crossBetween val="between"/>
      </c:valAx>
      <c:spPr>
        <a:solidFill>
          <a:schemeClr val="accent1">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b="1">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[Project.xlsx]Difference in Male and Female!PivotTable12</c:name>
    <c:fmtId val="18"/>
  </c:pivotSource>
  <c:chart>
    <c:title>
      <c:tx>
        <c:rich>
          <a:bodyPr rot="0" spcFirstLastPara="1" vertOverflow="ellipsis" vert="horz" wrap="square" anchor="ctr" anchorCtr="1"/>
          <a:lstStyle/>
          <a:p>
            <a:pPr>
              <a:defRPr sz="1400" b="1" i="0" u="none" strike="noStrike" kern="1200" spc="0" baseline="0">
                <a:solidFill>
                  <a:schemeClr val="tx2"/>
                </a:solidFill>
                <a:latin typeface="Times New Roman" panose="02020603050405020304" pitchFamily="18" charset="0"/>
                <a:ea typeface="+mn-ea"/>
                <a:cs typeface="Times New Roman" panose="02020603050405020304" pitchFamily="18" charset="0"/>
              </a:defRPr>
            </a:pPr>
            <a:r>
              <a:rPr lang="en-US">
                <a:solidFill>
                  <a:schemeClr val="tx2"/>
                </a:solidFill>
              </a:rPr>
              <a:t>DIFFERENCE IN POLICY COUNT</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pivotFmt>
      <c:pivotFmt>
        <c:idx val="5"/>
        <c:spPr>
          <a:solidFill>
            <a:schemeClr val="accent1"/>
          </a:solidFill>
          <a:ln>
            <a:noFill/>
          </a:ln>
          <a:effectLst/>
        </c:spP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pivotFmt>
      <c:pivotFmt>
        <c:idx val="8"/>
        <c:spPr>
          <a:solidFill>
            <a:schemeClr val="accent1"/>
          </a:solidFill>
          <a:ln>
            <a:noFill/>
          </a:ln>
          <a:effectLst/>
        </c:spPr>
      </c:pivotFmt>
    </c:pivotFmts>
    <c:plotArea>
      <c:layout/>
      <c:barChart>
        <c:barDir val="col"/>
        <c:grouping val="clustered"/>
        <c:varyColors val="1"/>
        <c:ser>
          <c:idx val="0"/>
          <c:order val="0"/>
          <c:tx>
            <c:strRef>
              <c:f>'Difference in Male and Female'!$B$3</c:f>
              <c:strCache>
                <c:ptCount val="1"/>
                <c:pt idx="0">
                  <c:v>Total</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394B-406F-B95C-0A1AFFF4FD07}"/>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394B-406F-B95C-0A1AFFF4FD07}"/>
              </c:ext>
            </c:extLst>
          </c:dPt>
          <c:dLbls>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'Difference in Male and Female'!$A$4:$A$6</c:f>
              <c:strCache>
                <c:ptCount val="2"/>
                <c:pt idx="0">
                  <c:v>Female</c:v>
                </c:pt>
                <c:pt idx="1">
                  <c:v>Male</c:v>
                </c:pt>
              </c:strCache>
            </c:strRef>
          </c:cat>
          <c:val>
            <c:numRef>
              <c:f>'Difference in Male and Female'!$B$4:$B$6</c:f>
              <c:numCache>
                <c:formatCode>General</c:formatCode>
                <c:ptCount val="2"/>
                <c:pt idx="0">
                  <c:v>1640</c:v>
                </c:pt>
                <c:pt idx="1">
                  <c:v>1705</c:v>
                </c:pt>
              </c:numCache>
            </c:numRef>
          </c:val>
          <c:extLst>
            <c:ext xmlns:c16="http://schemas.microsoft.com/office/drawing/2014/chart" uri="{C3380CC4-5D6E-409C-BE32-E72D297353CC}">
              <c16:uniqueId val="{00000004-394B-406F-B95C-0A1AFFF4FD07}"/>
            </c:ext>
          </c:extLst>
        </c:ser>
        <c:dLbls>
          <c:dLblPos val="outEnd"/>
          <c:showLegendKey val="0"/>
          <c:showVal val="1"/>
          <c:showCatName val="0"/>
          <c:showSerName val="0"/>
          <c:showPercent val="0"/>
          <c:showBubbleSize val="0"/>
        </c:dLbls>
        <c:gapWidth val="219"/>
        <c:overlap val="-27"/>
        <c:axId val="1390008079"/>
        <c:axId val="1429995311"/>
      </c:barChart>
      <c:catAx>
        <c:axId val="13900080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429995311"/>
        <c:crosses val="autoZero"/>
        <c:auto val="1"/>
        <c:lblAlgn val="ctr"/>
        <c:lblOffset val="100"/>
        <c:noMultiLvlLbl val="0"/>
      </c:catAx>
      <c:valAx>
        <c:axId val="1429995311"/>
        <c:scaling>
          <c:orientation val="minMax"/>
        </c:scaling>
        <c:delete val="1"/>
        <c:axPos val="l"/>
        <c:numFmt formatCode="General" sourceLinked="1"/>
        <c:majorTickMark val="none"/>
        <c:minorTickMark val="none"/>
        <c:tickLblPos val="nextTo"/>
        <c:crossAx val="1390008079"/>
        <c:crosses val="autoZero"/>
        <c:crossBetween val="between"/>
      </c:valAx>
      <c:spPr>
        <a:solidFill>
          <a:schemeClr val="accent1">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[Project.xlsx]Max and Min no of policies!PivotTable13</c:name>
    <c:fmtId val="12"/>
  </c:pivotSource>
  <c:chart>
    <c:title>
      <c:tx>
        <c:rich>
          <a:bodyPr rot="0" spcFirstLastPara="1" vertOverflow="ellipsis" vert="horz" wrap="square" anchor="ctr" anchorCtr="1"/>
          <a:lstStyle/>
          <a:p>
            <a:pPr>
              <a:defRPr sz="1400" b="0" i="0" u="none" strike="noStrike" kern="1200" spc="0" baseline="0">
                <a:solidFill>
                  <a:schemeClr val="tx2"/>
                </a:solidFill>
                <a:latin typeface="Times New Roman" panose="02020603050405020304" pitchFamily="18" charset="0"/>
                <a:ea typeface="+mn-ea"/>
                <a:cs typeface="Times New Roman" panose="02020603050405020304" pitchFamily="18" charset="0"/>
              </a:defRPr>
            </a:pPr>
            <a:r>
              <a:rPr lang="en-US" sz="1200" b="1" dirty="0">
                <a:solidFill>
                  <a:schemeClr val="tx2"/>
                </a:solidFill>
                <a:latin typeface="Times New Roman" panose="02020603050405020304" pitchFamily="18" charset="0"/>
                <a:cs typeface="Times New Roman" panose="02020603050405020304" pitchFamily="18" charset="0"/>
              </a:rPr>
              <a:t>MAX</a:t>
            </a:r>
            <a:r>
              <a:rPr lang="en-US" sz="1200" b="1" baseline="0" dirty="0">
                <a:solidFill>
                  <a:schemeClr val="tx2"/>
                </a:solidFill>
                <a:latin typeface="Times New Roman" panose="02020603050405020304" pitchFamily="18" charset="0"/>
                <a:cs typeface="Times New Roman" panose="02020603050405020304" pitchFamily="18" charset="0"/>
              </a:rPr>
              <a:t> AND MIN NO OF POLICY TYPE</a:t>
            </a:r>
            <a:endParaRPr lang="en-US" sz="1200" b="1" dirty="0">
              <a:solidFill>
                <a:schemeClr val="tx2"/>
              </a:solidFill>
              <a:latin typeface="Times New Roman" panose="02020603050405020304" pitchFamily="18" charset="0"/>
              <a:cs typeface="Times New Roman" panose="02020603050405020304" pitchFamily="18" charset="0"/>
            </a:endParaRPr>
          </a:p>
        </c:rich>
      </c:tx>
      <c:layout>
        <c:manualLayout>
          <c:xMode val="edge"/>
          <c:yMode val="edge"/>
          <c:x val="0.19234011373578302"/>
          <c:y val="3.240740740740740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3">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a:sp3d/>
        </c:spPr>
        <c:dLbl>
          <c:idx val="0"/>
          <c:layout>
            <c:manualLayout>
              <c:x val="-0.19810170672239646"/>
              <c:y val="-3.2240056063760652E-4"/>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4"/>
          </a:solidFill>
          <a:ln>
            <a:noFill/>
          </a:ln>
          <a:effectLst/>
          <a:sp3d/>
        </c:spPr>
        <c:dLbl>
          <c:idx val="0"/>
          <c:layout>
            <c:manualLayout>
              <c:x val="3.0477185649599364E-2"/>
              <c:y val="-9.4483160792471887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a:sp3d/>
        </c:spPr>
        <c:dLbl>
          <c:idx val="0"/>
          <c:layout>
            <c:manualLayout>
              <c:x val="5.442354580285623E-2"/>
              <c:y val="-2.9686304254499607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dLbl>
          <c:idx val="0"/>
          <c:layout>
            <c:manualLayout>
              <c:x val="2.8300243817485117E-2"/>
              <c:y val="2.8074301451311498E-3"/>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1314872866597"/>
                  <c:h val="0.12719861627941834"/>
                </c:manualLayout>
              </c15:layout>
            </c:ext>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dLbl>
          <c:idx val="0"/>
          <c:layout>
            <c:manualLayout>
              <c:x val="2.8300243817485117E-2"/>
              <c:y val="2.8074301451311498E-3"/>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1314872866597"/>
                  <c:h val="0.12719861627941834"/>
                </c:manualLayout>
              </c15:layout>
            </c:ext>
          </c:extLst>
        </c:dLbl>
      </c:pivotFmt>
      <c:pivotFmt>
        <c:idx val="10"/>
        <c:spPr>
          <a:solidFill>
            <a:schemeClr val="accent1"/>
          </a:solidFill>
          <a:ln>
            <a:noFill/>
          </a:ln>
          <a:effectLst/>
          <a:sp3d/>
        </c:spPr>
        <c:dLbl>
          <c:idx val="0"/>
          <c:layout>
            <c:manualLayout>
              <c:x val="-0.19810170672239646"/>
              <c:y val="-3.2240056063760652E-4"/>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dLbl>
          <c:idx val="0"/>
          <c:layout>
            <c:manualLayout>
              <c:x val="5.442354580285623E-2"/>
              <c:y val="-2.9686304254499607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sp3d/>
        </c:spPr>
        <c:dLbl>
          <c:idx val="0"/>
          <c:layout>
            <c:manualLayout>
              <c:x val="3.0477185649599364E-2"/>
              <c:y val="-9.4483160792471887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a:sp3d/>
        </c:spPr>
        <c:dLbl>
          <c:idx val="0"/>
          <c:layout>
            <c:manualLayout>
              <c:x val="2.8300243817485117E-2"/>
              <c:y val="2.8074301451311498E-3"/>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1314872866597"/>
                  <c:h val="0.12719861627941834"/>
                </c:manualLayout>
              </c15:layout>
            </c:ext>
          </c:extLst>
        </c:dLbl>
      </c:pivotFmt>
      <c:pivotFmt>
        <c:idx val="15"/>
        <c:spPr>
          <a:solidFill>
            <a:schemeClr val="accent1"/>
          </a:solidFill>
          <a:ln>
            <a:noFill/>
          </a:ln>
          <a:effectLst/>
          <a:sp3d/>
        </c:spPr>
        <c:dLbl>
          <c:idx val="0"/>
          <c:layout>
            <c:manualLayout>
              <c:x val="-0.19810170672239646"/>
              <c:y val="-3.2240056063760652E-4"/>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a:sp3d/>
        </c:spPr>
        <c:dLbl>
          <c:idx val="0"/>
          <c:layout>
            <c:manualLayout>
              <c:x val="5.442354580285623E-2"/>
              <c:y val="-2.9686304254499607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a:sp3d/>
        </c:spPr>
        <c:dLbl>
          <c:idx val="0"/>
          <c:layout>
            <c:manualLayout>
              <c:x val="3.0477185649599364E-2"/>
              <c:y val="-9.4483160792471887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7653356956884062"/>
          <c:y val="0.14841026983112898"/>
          <c:w val="0.67882073188602077"/>
          <c:h val="0.78049499013000678"/>
        </c:manualLayout>
      </c:layout>
      <c:bar3DChart>
        <c:barDir val="bar"/>
        <c:grouping val="clustered"/>
        <c:varyColors val="1"/>
        <c:ser>
          <c:idx val="0"/>
          <c:order val="0"/>
          <c:tx>
            <c:strRef>
              <c:f>'Max and Min no of policies'!$B$3</c:f>
              <c:strCache>
                <c:ptCount val="1"/>
                <c:pt idx="0">
                  <c:v>Total</c:v>
                </c:pt>
              </c:strCache>
            </c:strRef>
          </c:tx>
          <c:invertIfNegative val="0"/>
          <c:dPt>
            <c:idx val="0"/>
            <c:invertIfNegative val="0"/>
            <c:bubble3D val="0"/>
            <c:spPr>
              <a:solidFill>
                <a:schemeClr val="accent1"/>
              </a:solidFill>
              <a:ln>
                <a:noFill/>
              </a:ln>
              <a:effectLst/>
              <a:sp3d/>
            </c:spPr>
            <c:extLst>
              <c:ext xmlns:c16="http://schemas.microsoft.com/office/drawing/2014/chart" uri="{C3380CC4-5D6E-409C-BE32-E72D297353CC}">
                <c16:uniqueId val="{00000001-CFFC-45E6-A1FD-4CBE092D10A7}"/>
              </c:ext>
            </c:extLst>
          </c:dPt>
          <c:dPt>
            <c:idx val="1"/>
            <c:invertIfNegative val="0"/>
            <c:bubble3D val="0"/>
            <c:spPr>
              <a:solidFill>
                <a:schemeClr val="accent2"/>
              </a:solidFill>
              <a:ln>
                <a:noFill/>
              </a:ln>
              <a:effectLst/>
              <a:sp3d/>
            </c:spPr>
            <c:extLst>
              <c:ext xmlns:c16="http://schemas.microsoft.com/office/drawing/2014/chart" uri="{C3380CC4-5D6E-409C-BE32-E72D297353CC}">
                <c16:uniqueId val="{00000003-CFFC-45E6-A1FD-4CBE092D10A7}"/>
              </c:ext>
            </c:extLst>
          </c:dPt>
          <c:dPt>
            <c:idx val="2"/>
            <c:invertIfNegative val="0"/>
            <c:bubble3D val="0"/>
            <c:spPr>
              <a:solidFill>
                <a:schemeClr val="accent3"/>
              </a:solidFill>
              <a:ln>
                <a:noFill/>
              </a:ln>
              <a:effectLst/>
              <a:sp3d/>
            </c:spPr>
            <c:extLst>
              <c:ext xmlns:c16="http://schemas.microsoft.com/office/drawing/2014/chart" uri="{C3380CC4-5D6E-409C-BE32-E72D297353CC}">
                <c16:uniqueId val="{00000005-CFFC-45E6-A1FD-4CBE092D10A7}"/>
              </c:ext>
            </c:extLst>
          </c:dPt>
          <c:dPt>
            <c:idx val="3"/>
            <c:invertIfNegative val="0"/>
            <c:bubble3D val="0"/>
            <c:spPr>
              <a:solidFill>
                <a:schemeClr val="accent4"/>
              </a:solidFill>
              <a:ln>
                <a:noFill/>
              </a:ln>
              <a:effectLst/>
              <a:sp3d/>
            </c:spPr>
            <c:extLst>
              <c:ext xmlns:c16="http://schemas.microsoft.com/office/drawing/2014/chart" uri="{C3380CC4-5D6E-409C-BE32-E72D297353CC}">
                <c16:uniqueId val="{00000007-CFFC-45E6-A1FD-4CBE092D10A7}"/>
              </c:ext>
            </c:extLst>
          </c:dPt>
          <c:dLbls>
            <c:dLbl>
              <c:idx val="0"/>
              <c:layout>
                <c:manualLayout>
                  <c:x val="2.8300243817485117E-2"/>
                  <c:y val="2.8074301451311498E-3"/>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1314872866597"/>
                      <c:h val="0.12719861627941834"/>
                    </c:manualLayout>
                  </c15:layout>
                </c:ext>
                <c:ext xmlns:c16="http://schemas.microsoft.com/office/drawing/2014/chart" uri="{C3380CC4-5D6E-409C-BE32-E72D297353CC}">
                  <c16:uniqueId val="{00000001-CFFC-45E6-A1FD-4CBE092D10A7}"/>
                </c:ext>
              </c:extLst>
            </c:dLbl>
            <c:dLbl>
              <c:idx val="1"/>
              <c:layout>
                <c:manualLayout>
                  <c:x val="7.2194745409141286E-3"/>
                  <c:y val="-2.78643634555107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FFC-45E6-A1FD-4CBE092D10A7}"/>
                </c:ext>
              </c:extLst>
            </c:dLbl>
            <c:dLbl>
              <c:idx val="2"/>
              <c:layout>
                <c:manualLayout>
                  <c:x val="5.442354580285623E-2"/>
                  <c:y val="-2.968630425449960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FFC-45E6-A1FD-4CBE092D10A7}"/>
                </c:ext>
              </c:extLst>
            </c:dLbl>
            <c:dLbl>
              <c:idx val="3"/>
              <c:layout>
                <c:manualLayout>
                  <c:x val="3.0477185649599364E-2"/>
                  <c:y val="-9.44831607924718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FFC-45E6-A1FD-4CBE092D10A7}"/>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'Max and Min no of policies'!$A$4:$A$8</c:f>
              <c:strCache>
                <c:ptCount val="4"/>
                <c:pt idx="0">
                  <c:v>Auto</c:v>
                </c:pt>
                <c:pt idx="1">
                  <c:v>Health</c:v>
                </c:pt>
                <c:pt idx="2">
                  <c:v>Life</c:v>
                </c:pt>
                <c:pt idx="3">
                  <c:v>Property</c:v>
                </c:pt>
              </c:strCache>
            </c:strRef>
          </c:cat>
          <c:val>
            <c:numRef>
              <c:f>'Max and Min no of policies'!$B$4:$B$8</c:f>
              <c:numCache>
                <c:formatCode>General</c:formatCode>
                <c:ptCount val="4"/>
                <c:pt idx="0">
                  <c:v>1214</c:v>
                </c:pt>
                <c:pt idx="1">
                  <c:v>1316</c:v>
                </c:pt>
                <c:pt idx="2">
                  <c:v>1234</c:v>
                </c:pt>
                <c:pt idx="3">
                  <c:v>1236</c:v>
                </c:pt>
              </c:numCache>
            </c:numRef>
          </c:val>
          <c:extLst>
            <c:ext xmlns:c16="http://schemas.microsoft.com/office/drawing/2014/chart" uri="{C3380CC4-5D6E-409C-BE32-E72D297353CC}">
              <c16:uniqueId val="{00000008-CFFC-45E6-A1FD-4CBE092D10A7}"/>
            </c:ext>
          </c:extLst>
        </c:ser>
        <c:dLbls>
          <c:showLegendKey val="0"/>
          <c:showVal val="0"/>
          <c:showCatName val="0"/>
          <c:showSerName val="0"/>
          <c:showPercent val="0"/>
          <c:showBubbleSize val="0"/>
        </c:dLbls>
        <c:gapWidth val="303"/>
        <c:gapDepth val="279"/>
        <c:shape val="box"/>
        <c:axId val="1430151295"/>
        <c:axId val="1430021231"/>
        <c:axId val="0"/>
      </c:bar3DChart>
      <c:catAx>
        <c:axId val="143015129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430021231"/>
        <c:crosses val="autoZero"/>
        <c:auto val="1"/>
        <c:lblAlgn val="l"/>
        <c:lblOffset val="100"/>
        <c:noMultiLvlLbl val="0"/>
      </c:catAx>
      <c:valAx>
        <c:axId val="1430021231"/>
        <c:scaling>
          <c:orientation val="minMax"/>
        </c:scaling>
        <c:delete val="1"/>
        <c:axPos val="b"/>
        <c:numFmt formatCode="General" sourceLinked="1"/>
        <c:majorTickMark val="none"/>
        <c:minorTickMark val="none"/>
        <c:tickLblPos val="nextTo"/>
        <c:crossAx val="1430151295"/>
        <c:crosses val="autoZero"/>
        <c:crossBetween val="between"/>
      </c:valAx>
      <c:spPr>
        <a:solidFill>
          <a:schemeClr val="accent1">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12700" cap="flat" cmpd="sng" algn="ctr">
      <a:solidFill>
        <a:schemeClr val="tx2">
          <a:lumMod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[Project.xlsx]Yearly wise Policy Ending Trend!PivotTable22</c:name>
    <c:fmtId val="25"/>
  </c:pivotSource>
  <c:chart>
    <c:title>
      <c:tx>
        <c:rich>
          <a:bodyPr rot="0" spcFirstLastPara="1" vertOverflow="ellipsis" vert="horz" wrap="square" anchor="ctr" anchorCtr="1"/>
          <a:lstStyle/>
          <a:p>
            <a:pPr>
              <a:defRPr sz="2400" b="0" i="0" u="none" strike="noStrike" kern="1200" spc="0" baseline="0">
                <a:solidFill>
                  <a:schemeClr val="tx2"/>
                </a:solidFill>
                <a:latin typeface="Times New Roman" panose="02020603050405020304" pitchFamily="18" charset="0"/>
                <a:ea typeface="+mn-ea"/>
                <a:cs typeface="Times New Roman" panose="02020603050405020304" pitchFamily="18" charset="0"/>
              </a:defRPr>
            </a:pPr>
            <a:r>
              <a:rPr lang="en-US" sz="1600" b="1">
                <a:solidFill>
                  <a:schemeClr val="tx2"/>
                </a:solidFill>
                <a:latin typeface="Times New Roman" panose="02020603050405020304" pitchFamily="18" charset="0"/>
                <a:cs typeface="Times New Roman" panose="02020603050405020304" pitchFamily="18" charset="0"/>
              </a:rPr>
              <a:t>YEARLY</a:t>
            </a:r>
            <a:r>
              <a:rPr lang="en-US" sz="1600" b="1" baseline="0">
                <a:solidFill>
                  <a:schemeClr val="tx2"/>
                </a:solidFill>
                <a:latin typeface="Times New Roman" panose="02020603050405020304" pitchFamily="18" charset="0"/>
                <a:cs typeface="Times New Roman" panose="02020603050405020304" pitchFamily="18" charset="0"/>
              </a:rPr>
              <a:t> POLICY ENDING TREND</a:t>
            </a:r>
            <a:endParaRPr lang="en-US" sz="1600" b="1">
              <a:solidFill>
                <a:schemeClr val="tx2"/>
              </a:solidFill>
              <a:latin typeface="Times New Roman" panose="02020603050405020304" pitchFamily="18" charset="0"/>
              <a:cs typeface="Times New Roman" panose="02020603050405020304" pitchFamily="18" charset="0"/>
            </a:endParaRPr>
          </a:p>
        </c:rich>
      </c:tx>
      <c:layout>
        <c:manualLayout>
          <c:xMode val="edge"/>
          <c:yMode val="edge"/>
          <c:x val="0.23782366244447986"/>
          <c:y val="1.1201314108658786E-3"/>
        </c:manualLayout>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4">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tx2">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2">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tx2">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2">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tx2">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tx2">
              <a:lumMod val="75000"/>
            </a:schemeClr>
          </a:solidFill>
          <a:ln>
            <a:noFill/>
          </a:ln>
          <a:effectLst/>
          <a:sp3d/>
        </c:spPr>
        <c:dLbl>
          <c:idx val="0"/>
          <c:layout>
            <c:manualLayout>
              <c:x val="-1.6912474980848462E-17"/>
              <c:y val="-4.4338437358119778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tx2">
              <a:lumMod val="75000"/>
            </a:schemeClr>
          </a:solidFill>
          <a:ln>
            <a:noFill/>
          </a:ln>
          <a:effectLst/>
          <a:sp3d/>
        </c:spPr>
        <c:dLbl>
          <c:idx val="0"/>
          <c:layout>
            <c:manualLayout>
              <c:x val="9.2250929210196215E-4"/>
              <c:y val="-5.0070778695973213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tx2">
              <a:lumMod val="75000"/>
            </a:schemeClr>
          </a:solidFill>
          <a:ln>
            <a:noFill/>
          </a:ln>
          <a:effectLst/>
          <a:sp3d/>
        </c:spPr>
        <c:dLbl>
          <c:idx val="0"/>
          <c:layout>
            <c:manualLayout>
              <c:x val="-3.3824949961696923E-17"/>
              <c:y val="-5.90608249982488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tx2">
              <a:lumMod val="75000"/>
            </a:schemeClr>
          </a:solidFill>
          <a:ln>
            <a:noFill/>
          </a:ln>
          <a:effectLst/>
          <a:sp3d/>
        </c:spPr>
        <c:dLbl>
          <c:idx val="0"/>
          <c:layout>
            <c:manualLayout>
              <c:x val="-7.3800743368156972E-3"/>
              <c:y val="-6.49744472966913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tx2">
              <a:lumMod val="75000"/>
            </a:schemeClr>
          </a:solidFill>
          <a:ln>
            <a:noFill/>
          </a:ln>
          <a:effectLst/>
          <a:sp3d/>
        </c:spPr>
        <c:dLbl>
          <c:idx val="0"/>
          <c:layout>
            <c:manualLayout>
              <c:x val="0"/>
              <c:y val="-5.609447274583874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tx2">
              <a:lumMod val="75000"/>
            </a:schemeClr>
          </a:solidFill>
          <a:ln>
            <a:noFill/>
          </a:ln>
          <a:effectLst/>
          <a:sp3d/>
        </c:spPr>
        <c:dLbl>
          <c:idx val="0"/>
          <c:layout>
            <c:manualLayout>
              <c:x val="-6.7649899923393846E-17"/>
              <c:y val="-4.718983095259539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tx2">
              <a:lumMod val="75000"/>
            </a:schemeClr>
          </a:solidFill>
          <a:ln>
            <a:noFill/>
          </a:ln>
          <a:effectLst/>
          <a:sp3d/>
        </c:spPr>
        <c:dLbl>
          <c:idx val="0"/>
          <c:layout>
            <c:manualLayout>
              <c:x val="-9.2250929210209746E-4"/>
              <c:y val="-5.310345325103782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tx2">
              <a:lumMod val="75000"/>
            </a:schemeClr>
          </a:solidFill>
          <a:ln>
            <a:noFill/>
          </a:ln>
          <a:effectLst/>
          <a:sp3d/>
        </c:spPr>
        <c:dLbl>
          <c:idx val="0"/>
          <c:layout>
            <c:manualLayout>
              <c:x val="0"/>
              <c:y val="-6.48860175598186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tx2">
              <a:lumMod val="75000"/>
            </a:schemeClr>
          </a:solidFill>
          <a:ln>
            <a:noFill/>
          </a:ln>
          <a:effectLst/>
          <a:sp3d/>
        </c:spPr>
        <c:dLbl>
          <c:idx val="0"/>
          <c:layout>
            <c:manualLayout>
              <c:x val="-3.6900371684078486E-3"/>
              <c:y val="-4.42400010983904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tx2">
              <a:lumMod val="75000"/>
            </a:schemeClr>
          </a:solidFill>
          <a:ln>
            <a:noFill/>
          </a:ln>
          <a:effectLst/>
          <a:sp3d/>
        </c:spPr>
        <c:dLbl>
          <c:idx val="0"/>
          <c:layout>
            <c:manualLayout>
              <c:x val="-3.6900371684078486E-3"/>
              <c:y val="-6.79789639618570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tx2">
              <a:lumMod val="7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tx2">
              <a:lumMod val="75000"/>
            </a:schemeClr>
          </a:solidFill>
          <a:ln>
            <a:noFill/>
          </a:ln>
          <a:effectLst/>
          <a:sp3d/>
        </c:spPr>
        <c:dLbl>
          <c:idx val="0"/>
          <c:layout>
            <c:manualLayout>
              <c:x val="-1.6912474980848462E-17"/>
              <c:y val="-4.4338437358119778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tx2">
              <a:lumMod val="75000"/>
            </a:schemeClr>
          </a:solidFill>
          <a:ln>
            <a:noFill/>
          </a:ln>
          <a:effectLst/>
          <a:sp3d/>
        </c:spPr>
        <c:dLbl>
          <c:idx val="0"/>
          <c:layout>
            <c:manualLayout>
              <c:x val="9.2250929210196215E-4"/>
              <c:y val="-5.0070778695973213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tx2">
              <a:lumMod val="75000"/>
            </a:schemeClr>
          </a:solidFill>
          <a:ln>
            <a:noFill/>
          </a:ln>
          <a:effectLst/>
          <a:sp3d/>
        </c:spPr>
        <c:dLbl>
          <c:idx val="0"/>
          <c:layout>
            <c:manualLayout>
              <c:x val="-3.3824949961696923E-17"/>
              <c:y val="-5.90608249982488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tx2">
              <a:lumMod val="75000"/>
            </a:schemeClr>
          </a:solidFill>
          <a:ln>
            <a:noFill/>
          </a:ln>
          <a:effectLst/>
          <a:sp3d/>
        </c:spPr>
        <c:dLbl>
          <c:idx val="0"/>
          <c:layout>
            <c:manualLayout>
              <c:x val="-7.3800743368156972E-3"/>
              <c:y val="-6.49744472966913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tx2">
              <a:lumMod val="75000"/>
            </a:schemeClr>
          </a:solidFill>
          <a:ln>
            <a:noFill/>
          </a:ln>
          <a:effectLst/>
          <a:sp3d/>
        </c:spPr>
        <c:dLbl>
          <c:idx val="0"/>
          <c:layout>
            <c:manualLayout>
              <c:x val="0"/>
              <c:y val="-5.609447274583874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tx2">
              <a:lumMod val="75000"/>
            </a:schemeClr>
          </a:solidFill>
          <a:ln>
            <a:noFill/>
          </a:ln>
          <a:effectLst/>
          <a:sp3d/>
        </c:spPr>
        <c:dLbl>
          <c:idx val="0"/>
          <c:layout>
            <c:manualLayout>
              <c:x val="-6.7649899923393846E-17"/>
              <c:y val="-4.718983095259539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tx2">
              <a:lumMod val="75000"/>
            </a:schemeClr>
          </a:solidFill>
          <a:ln>
            <a:noFill/>
          </a:ln>
          <a:effectLst/>
          <a:sp3d/>
        </c:spPr>
        <c:dLbl>
          <c:idx val="0"/>
          <c:layout>
            <c:manualLayout>
              <c:x val="-9.2250929210209746E-4"/>
              <c:y val="-5.310345325103782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tx2">
              <a:lumMod val="75000"/>
            </a:schemeClr>
          </a:solidFill>
          <a:ln>
            <a:noFill/>
          </a:ln>
          <a:effectLst/>
          <a:sp3d/>
        </c:spPr>
        <c:dLbl>
          <c:idx val="0"/>
          <c:layout>
            <c:manualLayout>
              <c:x val="0"/>
              <c:y val="-6.48860175598186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tx2">
              <a:lumMod val="75000"/>
            </a:schemeClr>
          </a:solidFill>
          <a:ln>
            <a:noFill/>
          </a:ln>
          <a:effectLst/>
          <a:sp3d/>
        </c:spPr>
        <c:dLbl>
          <c:idx val="0"/>
          <c:layout>
            <c:manualLayout>
              <c:x val="-3.6900371684078486E-3"/>
              <c:y val="-4.42400010983904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tx2">
              <a:lumMod val="75000"/>
            </a:schemeClr>
          </a:solidFill>
          <a:ln>
            <a:noFill/>
          </a:ln>
          <a:effectLst/>
          <a:sp3d/>
        </c:spPr>
        <c:dLbl>
          <c:idx val="0"/>
          <c:layout>
            <c:manualLayout>
              <c:x val="-3.6900371684078486E-3"/>
              <c:y val="-6.79789639618570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7"/>
        <c:dLbl>
          <c:idx val="0"/>
          <c:layout>
            <c:manualLayout>
              <c:x val="-1.6912474980848462E-17"/>
              <c:y val="-4.4338437358119778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8"/>
        <c:dLbl>
          <c:idx val="0"/>
          <c:layout>
            <c:manualLayout>
              <c:x val="9.2250929210196215E-4"/>
              <c:y val="-5.0070778695973213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dLbl>
          <c:idx val="0"/>
          <c:layout>
            <c:manualLayout>
              <c:x val="-3.3824949961696923E-17"/>
              <c:y val="-5.90608249982488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0"/>
        <c:dLbl>
          <c:idx val="0"/>
          <c:layout>
            <c:manualLayout>
              <c:x val="-7.3800743368156972E-3"/>
              <c:y val="-6.49744472966913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1"/>
        <c:dLbl>
          <c:idx val="0"/>
          <c:layout>
            <c:manualLayout>
              <c:x val="0"/>
              <c:y val="-5.609447274583874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2"/>
        <c:dLbl>
          <c:idx val="0"/>
          <c:layout>
            <c:manualLayout>
              <c:x val="-6.7649899923393846E-17"/>
              <c:y val="-4.718983095259539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3"/>
        <c:dLbl>
          <c:idx val="0"/>
          <c:layout>
            <c:manualLayout>
              <c:x val="-9.2250929210209746E-4"/>
              <c:y val="-5.310345325103782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4"/>
        <c:dLbl>
          <c:idx val="0"/>
          <c:layout>
            <c:manualLayout>
              <c:x val="0"/>
              <c:y val="-6.48860175598186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5"/>
        <c:dLbl>
          <c:idx val="0"/>
          <c:layout>
            <c:manualLayout>
              <c:x val="-3.6900371684078486E-3"/>
              <c:y val="-4.42400010983904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6"/>
        <c:dLbl>
          <c:idx val="0"/>
          <c:layout>
            <c:manualLayout>
              <c:x val="-3.6900371684078486E-3"/>
              <c:y val="-6.79789639618570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a:sp3d/>
        </c:spPr>
      </c:pivotFmt>
      <c:pivotFmt>
        <c:idx val="39"/>
        <c:spPr>
          <a:solidFill>
            <a:schemeClr val="accent1"/>
          </a:solidFill>
          <a:ln>
            <a:noFill/>
          </a:ln>
          <a:effectLst/>
          <a:sp3d/>
        </c:spPr>
      </c:pivotFmt>
      <c:pivotFmt>
        <c:idx val="40"/>
        <c:spPr>
          <a:solidFill>
            <a:schemeClr val="accent1"/>
          </a:solidFill>
          <a:ln>
            <a:noFill/>
          </a:ln>
          <a:effectLst/>
          <a:sp3d/>
        </c:spPr>
      </c:pivotFmt>
      <c:pivotFmt>
        <c:idx val="41"/>
        <c:spPr>
          <a:solidFill>
            <a:schemeClr val="accent1"/>
          </a:solidFill>
          <a:ln>
            <a:noFill/>
          </a:ln>
          <a:effectLst/>
          <a:sp3d/>
        </c:spPr>
      </c:pivotFmt>
      <c:pivotFmt>
        <c:idx val="42"/>
        <c:spPr>
          <a:solidFill>
            <a:schemeClr val="accent1"/>
          </a:solidFill>
          <a:ln>
            <a:noFill/>
          </a:ln>
          <a:effectLst/>
          <a:sp3d/>
        </c:spPr>
      </c:pivotFmt>
      <c:pivotFmt>
        <c:idx val="43"/>
        <c:spPr>
          <a:solidFill>
            <a:schemeClr val="accent1"/>
          </a:solidFill>
          <a:ln>
            <a:noFill/>
          </a:ln>
          <a:effectLst/>
          <a:sp3d/>
        </c:spPr>
      </c:pivotFmt>
      <c:pivotFmt>
        <c:idx val="44"/>
        <c:spPr>
          <a:solidFill>
            <a:schemeClr val="accent1"/>
          </a:solidFill>
          <a:ln>
            <a:noFill/>
          </a:ln>
          <a:effectLst/>
          <a:sp3d/>
        </c:spPr>
        <c:dLbl>
          <c:idx val="0"/>
          <c:layout>
            <c:manualLayout>
              <c:x val="-1.6912474980848462E-17"/>
              <c:y val="-4.4338437358119778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a:sp3d/>
        </c:spPr>
        <c:dLbl>
          <c:idx val="0"/>
          <c:layout>
            <c:manualLayout>
              <c:x val="9.2250929210196215E-4"/>
              <c:y val="-5.0070778695973213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a:sp3d/>
        </c:spPr>
        <c:dLbl>
          <c:idx val="0"/>
          <c:layout>
            <c:manualLayout>
              <c:x val="-3.3824949961696923E-17"/>
              <c:y val="-5.90608249982488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a:sp3d/>
        </c:spPr>
        <c:dLbl>
          <c:idx val="0"/>
          <c:layout>
            <c:manualLayout>
              <c:x val="-7.3800743368156972E-3"/>
              <c:y val="-6.49744472966913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a:sp3d/>
        </c:spPr>
        <c:dLbl>
          <c:idx val="0"/>
          <c:layout>
            <c:manualLayout>
              <c:x val="0"/>
              <c:y val="-5.609447274583874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a:sp3d/>
        </c:spPr>
        <c:dLbl>
          <c:idx val="0"/>
          <c:layout>
            <c:manualLayout>
              <c:x val="-6.7649899923393846E-17"/>
              <c:y val="-4.718983095259539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a:sp3d/>
        </c:spPr>
        <c:dLbl>
          <c:idx val="0"/>
          <c:layout>
            <c:manualLayout>
              <c:x val="-9.2250929210209746E-4"/>
              <c:y val="-5.310345325103782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a:sp3d/>
        </c:spPr>
        <c:dLbl>
          <c:idx val="0"/>
          <c:layout>
            <c:manualLayout>
              <c:x val="0"/>
              <c:y val="-6.48860175598186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a:sp3d/>
        </c:spPr>
        <c:dLbl>
          <c:idx val="0"/>
          <c:layout>
            <c:manualLayout>
              <c:x val="-3.6900371684078486E-3"/>
              <c:y val="-4.42400010983904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a:sp3d/>
        </c:spPr>
        <c:dLbl>
          <c:idx val="0"/>
          <c:layout>
            <c:manualLayout>
              <c:x val="-3.6900371684078486E-3"/>
              <c:y val="-6.79789639618570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a:sp3d/>
        </c:spPr>
      </c:pivotFmt>
      <c:pivotFmt>
        <c:idx val="55"/>
        <c:spPr>
          <a:solidFill>
            <a:schemeClr val="accent1"/>
          </a:solidFill>
          <a:ln>
            <a:noFill/>
          </a:ln>
          <a:effectLst/>
          <a:sp3d/>
        </c:spPr>
      </c:pivotFmt>
      <c:pivotFmt>
        <c:idx val="56"/>
        <c:spPr>
          <a:solidFill>
            <a:schemeClr val="accent1"/>
          </a:solidFill>
          <a:ln>
            <a:noFill/>
          </a:ln>
          <a:effectLst/>
          <a:sp3d/>
        </c:spPr>
      </c:pivotFmt>
      <c:pivotFmt>
        <c:idx val="5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8"/>
        <c:spPr>
          <a:solidFill>
            <a:schemeClr val="accent1"/>
          </a:solidFill>
          <a:ln>
            <a:noFill/>
          </a:ln>
          <a:effectLst/>
          <a:sp3d/>
        </c:spPr>
      </c:pivotFmt>
      <c:pivotFmt>
        <c:idx val="59"/>
        <c:spPr>
          <a:solidFill>
            <a:schemeClr val="accent1"/>
          </a:solidFill>
          <a:ln>
            <a:noFill/>
          </a:ln>
          <a:effectLst/>
          <a:sp3d/>
        </c:spPr>
      </c:pivotFmt>
      <c:pivotFmt>
        <c:idx val="60"/>
        <c:spPr>
          <a:solidFill>
            <a:schemeClr val="accent1"/>
          </a:solidFill>
          <a:ln>
            <a:noFill/>
          </a:ln>
          <a:effectLst/>
          <a:sp3d/>
        </c:spPr>
      </c:pivotFmt>
      <c:pivotFmt>
        <c:idx val="61"/>
        <c:spPr>
          <a:solidFill>
            <a:schemeClr val="accent1"/>
          </a:solidFill>
          <a:ln>
            <a:noFill/>
          </a:ln>
          <a:effectLst/>
          <a:sp3d/>
        </c:spPr>
      </c:pivotFmt>
      <c:pivotFmt>
        <c:idx val="62"/>
        <c:spPr>
          <a:solidFill>
            <a:schemeClr val="accent1"/>
          </a:solidFill>
          <a:ln>
            <a:noFill/>
          </a:ln>
          <a:effectLst/>
          <a:sp3d/>
        </c:spPr>
      </c:pivotFmt>
      <c:pivotFmt>
        <c:idx val="63"/>
        <c:spPr>
          <a:solidFill>
            <a:schemeClr val="accent1"/>
          </a:solidFill>
          <a:ln>
            <a:noFill/>
          </a:ln>
          <a:effectLst/>
          <a:sp3d/>
        </c:spPr>
      </c:pivotFmt>
      <c:pivotFmt>
        <c:idx val="64"/>
        <c:spPr>
          <a:solidFill>
            <a:schemeClr val="accent1"/>
          </a:solidFill>
          <a:ln>
            <a:noFill/>
          </a:ln>
          <a:effectLst/>
          <a:sp3d/>
        </c:spPr>
        <c:dLbl>
          <c:idx val="0"/>
          <c:layout>
            <c:manualLayout>
              <c:x val="-1.6912474980848462E-17"/>
              <c:y val="-4.4338437358119778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5"/>
        <c:spPr>
          <a:solidFill>
            <a:schemeClr val="accent1"/>
          </a:solidFill>
          <a:ln>
            <a:noFill/>
          </a:ln>
          <a:effectLst/>
          <a:sp3d/>
        </c:spPr>
        <c:dLbl>
          <c:idx val="0"/>
          <c:layout>
            <c:manualLayout>
              <c:x val="9.2250929210196215E-4"/>
              <c:y val="-5.0070778695973213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6"/>
        <c:spPr>
          <a:solidFill>
            <a:schemeClr val="accent1"/>
          </a:solidFill>
          <a:ln>
            <a:noFill/>
          </a:ln>
          <a:effectLst/>
          <a:sp3d/>
        </c:spPr>
        <c:dLbl>
          <c:idx val="0"/>
          <c:layout>
            <c:manualLayout>
              <c:x val="-3.3824949961696923E-17"/>
              <c:y val="-5.90608249982488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7"/>
        <c:spPr>
          <a:solidFill>
            <a:schemeClr val="accent1"/>
          </a:solidFill>
          <a:ln>
            <a:noFill/>
          </a:ln>
          <a:effectLst/>
          <a:sp3d/>
        </c:spPr>
        <c:dLbl>
          <c:idx val="0"/>
          <c:layout>
            <c:manualLayout>
              <c:x val="-7.3800743368156972E-3"/>
              <c:y val="-6.49744472966913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8"/>
        <c:spPr>
          <a:solidFill>
            <a:schemeClr val="accent1"/>
          </a:solidFill>
          <a:ln>
            <a:noFill/>
          </a:ln>
          <a:effectLst/>
          <a:sp3d/>
        </c:spPr>
        <c:dLbl>
          <c:idx val="0"/>
          <c:layout>
            <c:manualLayout>
              <c:x val="0"/>
              <c:y val="-5.609447274583874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9"/>
        <c:spPr>
          <a:solidFill>
            <a:schemeClr val="accent1"/>
          </a:solidFill>
          <a:ln>
            <a:noFill/>
          </a:ln>
          <a:effectLst/>
          <a:sp3d/>
        </c:spPr>
        <c:dLbl>
          <c:idx val="0"/>
          <c:layout>
            <c:manualLayout>
              <c:x val="-6.7649899923393846E-17"/>
              <c:y val="-4.718983095259539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0"/>
        <c:spPr>
          <a:solidFill>
            <a:schemeClr val="accent1"/>
          </a:solidFill>
          <a:ln>
            <a:noFill/>
          </a:ln>
          <a:effectLst/>
          <a:sp3d/>
        </c:spPr>
        <c:dLbl>
          <c:idx val="0"/>
          <c:layout>
            <c:manualLayout>
              <c:x val="-9.2250929210209746E-4"/>
              <c:y val="-5.310345325103782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1"/>
        <c:spPr>
          <a:solidFill>
            <a:schemeClr val="accent1"/>
          </a:solidFill>
          <a:ln>
            <a:noFill/>
          </a:ln>
          <a:effectLst/>
          <a:sp3d/>
        </c:spPr>
        <c:dLbl>
          <c:idx val="0"/>
          <c:layout>
            <c:manualLayout>
              <c:x val="0"/>
              <c:y val="-6.488601755981864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2"/>
        <c:spPr>
          <a:solidFill>
            <a:schemeClr val="accent1"/>
          </a:solidFill>
          <a:ln>
            <a:noFill/>
          </a:ln>
          <a:effectLst/>
          <a:sp3d/>
        </c:spPr>
        <c:dLbl>
          <c:idx val="0"/>
          <c:layout>
            <c:manualLayout>
              <c:x val="-3.6900371684078486E-3"/>
              <c:y val="-4.4240001098390415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3"/>
        <c:spPr>
          <a:solidFill>
            <a:schemeClr val="accent1"/>
          </a:solidFill>
          <a:ln>
            <a:noFill/>
          </a:ln>
          <a:effectLst/>
          <a:sp3d/>
        </c:spPr>
        <c:dLbl>
          <c:idx val="0"/>
          <c:layout>
            <c:manualLayout>
              <c:x val="-3.6900371684078486E-3"/>
              <c:y val="-6.7978963961857056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4"/>
        <c:spPr>
          <a:solidFill>
            <a:schemeClr val="accent1"/>
          </a:solidFill>
          <a:ln>
            <a:noFill/>
          </a:ln>
          <a:effectLst/>
          <a:sp3d/>
        </c:spPr>
      </c:pivotFmt>
      <c:pivotFmt>
        <c:idx val="75"/>
        <c:spPr>
          <a:solidFill>
            <a:schemeClr val="accent1"/>
          </a:solidFill>
          <a:ln>
            <a:noFill/>
          </a:ln>
          <a:effectLst/>
          <a:sp3d/>
        </c:spPr>
      </c:pivotFmt>
      <c:pivotFmt>
        <c:idx val="76"/>
        <c:spPr>
          <a:solidFill>
            <a:schemeClr val="accent1"/>
          </a:solidFill>
          <a:ln>
            <a:noFill/>
          </a:ln>
          <a:effectLst/>
          <a:sp3d/>
        </c:spPr>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1"/>
        <c:ser>
          <c:idx val="0"/>
          <c:order val="0"/>
          <c:tx>
            <c:strRef>
              <c:f>'Yearly wise Policy Ending Trend'!$B$3</c:f>
              <c:strCache>
                <c:ptCount val="1"/>
                <c:pt idx="0">
                  <c:v>Total</c:v>
                </c:pt>
              </c:strCache>
            </c:strRef>
          </c:tx>
          <c:invertIfNegative val="0"/>
          <c:dPt>
            <c:idx val="0"/>
            <c:invertIfNegative val="0"/>
            <c:bubble3D val="0"/>
            <c:spPr>
              <a:solidFill>
                <a:schemeClr val="accent1"/>
              </a:solidFill>
              <a:ln>
                <a:noFill/>
              </a:ln>
              <a:effectLst/>
              <a:sp3d/>
            </c:spPr>
            <c:extLst>
              <c:ext xmlns:c16="http://schemas.microsoft.com/office/drawing/2014/chart" uri="{C3380CC4-5D6E-409C-BE32-E72D297353CC}">
                <c16:uniqueId val="{00000001-35F5-4940-A8D8-45A3AE78FD7B}"/>
              </c:ext>
            </c:extLst>
          </c:dPt>
          <c:dPt>
            <c:idx val="1"/>
            <c:invertIfNegative val="0"/>
            <c:bubble3D val="0"/>
            <c:spPr>
              <a:solidFill>
                <a:schemeClr val="accent2"/>
              </a:solidFill>
              <a:ln>
                <a:noFill/>
              </a:ln>
              <a:effectLst/>
              <a:sp3d/>
            </c:spPr>
            <c:extLst>
              <c:ext xmlns:c16="http://schemas.microsoft.com/office/drawing/2014/chart" uri="{C3380CC4-5D6E-409C-BE32-E72D297353CC}">
                <c16:uniqueId val="{00000003-35F5-4940-A8D8-45A3AE78FD7B}"/>
              </c:ext>
            </c:extLst>
          </c:dPt>
          <c:dPt>
            <c:idx val="2"/>
            <c:invertIfNegative val="0"/>
            <c:bubble3D val="0"/>
            <c:spPr>
              <a:solidFill>
                <a:schemeClr val="accent3"/>
              </a:solidFill>
              <a:ln>
                <a:noFill/>
              </a:ln>
              <a:effectLst/>
              <a:sp3d/>
            </c:spPr>
            <c:extLst>
              <c:ext xmlns:c16="http://schemas.microsoft.com/office/drawing/2014/chart" uri="{C3380CC4-5D6E-409C-BE32-E72D297353CC}">
                <c16:uniqueId val="{00000005-35F5-4940-A8D8-45A3AE78FD7B}"/>
              </c:ext>
            </c:extLst>
          </c:dPt>
          <c:dPt>
            <c:idx val="3"/>
            <c:invertIfNegative val="0"/>
            <c:bubble3D val="0"/>
            <c:spPr>
              <a:solidFill>
                <a:schemeClr val="accent4"/>
              </a:solidFill>
              <a:ln>
                <a:noFill/>
              </a:ln>
              <a:effectLst/>
              <a:sp3d/>
            </c:spPr>
            <c:extLst>
              <c:ext xmlns:c16="http://schemas.microsoft.com/office/drawing/2014/chart" uri="{C3380CC4-5D6E-409C-BE32-E72D297353CC}">
                <c16:uniqueId val="{00000007-35F5-4940-A8D8-45A3AE78FD7B}"/>
              </c:ext>
            </c:extLst>
          </c:dPt>
          <c:dPt>
            <c:idx val="4"/>
            <c:invertIfNegative val="0"/>
            <c:bubble3D val="0"/>
            <c:spPr>
              <a:solidFill>
                <a:schemeClr val="accent5"/>
              </a:solidFill>
              <a:ln>
                <a:noFill/>
              </a:ln>
              <a:effectLst/>
              <a:sp3d/>
            </c:spPr>
            <c:extLst>
              <c:ext xmlns:c16="http://schemas.microsoft.com/office/drawing/2014/chart" uri="{C3380CC4-5D6E-409C-BE32-E72D297353CC}">
                <c16:uniqueId val="{00000009-35F5-4940-A8D8-45A3AE78FD7B}"/>
              </c:ext>
            </c:extLst>
          </c:dPt>
          <c:dPt>
            <c:idx val="5"/>
            <c:invertIfNegative val="0"/>
            <c:bubble3D val="0"/>
            <c:spPr>
              <a:solidFill>
                <a:schemeClr val="accent6"/>
              </a:solidFill>
              <a:ln>
                <a:noFill/>
              </a:ln>
              <a:effectLst/>
              <a:sp3d/>
            </c:spPr>
            <c:extLst>
              <c:ext xmlns:c16="http://schemas.microsoft.com/office/drawing/2014/chart" uri="{C3380CC4-5D6E-409C-BE32-E72D297353CC}">
                <c16:uniqueId val="{0000000B-35F5-4940-A8D8-45A3AE78FD7B}"/>
              </c:ext>
            </c:extLst>
          </c:dPt>
          <c:dPt>
            <c:idx val="6"/>
            <c:invertIfNegative val="0"/>
            <c:bubble3D val="0"/>
            <c:spPr>
              <a:solidFill>
                <a:schemeClr val="accent1">
                  <a:lumMod val="60000"/>
                </a:schemeClr>
              </a:solidFill>
              <a:ln>
                <a:noFill/>
              </a:ln>
              <a:effectLst/>
              <a:sp3d/>
            </c:spPr>
            <c:extLst>
              <c:ext xmlns:c16="http://schemas.microsoft.com/office/drawing/2014/chart" uri="{C3380CC4-5D6E-409C-BE32-E72D297353CC}">
                <c16:uniqueId val="{0000000D-35F5-4940-A8D8-45A3AE78FD7B}"/>
              </c:ext>
            </c:extLst>
          </c:dPt>
          <c:dPt>
            <c:idx val="7"/>
            <c:invertIfNegative val="0"/>
            <c:bubble3D val="0"/>
            <c:spPr>
              <a:solidFill>
                <a:schemeClr val="accent2">
                  <a:lumMod val="60000"/>
                </a:schemeClr>
              </a:solidFill>
              <a:ln>
                <a:noFill/>
              </a:ln>
              <a:effectLst/>
              <a:sp3d/>
            </c:spPr>
            <c:extLst>
              <c:ext xmlns:c16="http://schemas.microsoft.com/office/drawing/2014/chart" uri="{C3380CC4-5D6E-409C-BE32-E72D297353CC}">
                <c16:uniqueId val="{0000000F-35F5-4940-A8D8-45A3AE78FD7B}"/>
              </c:ext>
            </c:extLst>
          </c:dPt>
          <c:dPt>
            <c:idx val="8"/>
            <c:invertIfNegative val="0"/>
            <c:bubble3D val="0"/>
            <c:spPr>
              <a:solidFill>
                <a:schemeClr val="accent3">
                  <a:lumMod val="60000"/>
                </a:schemeClr>
              </a:solidFill>
              <a:ln>
                <a:noFill/>
              </a:ln>
              <a:effectLst/>
              <a:sp3d/>
            </c:spPr>
            <c:extLst>
              <c:ext xmlns:c16="http://schemas.microsoft.com/office/drawing/2014/chart" uri="{C3380CC4-5D6E-409C-BE32-E72D297353CC}">
                <c16:uniqueId val="{00000011-35F5-4940-A8D8-45A3AE78FD7B}"/>
              </c:ext>
            </c:extLst>
          </c:dPt>
          <c:dPt>
            <c:idx val="9"/>
            <c:invertIfNegative val="0"/>
            <c:bubble3D val="0"/>
            <c:spPr>
              <a:solidFill>
                <a:schemeClr val="accent4">
                  <a:lumMod val="60000"/>
                </a:schemeClr>
              </a:solidFill>
              <a:ln>
                <a:noFill/>
              </a:ln>
              <a:effectLst/>
              <a:sp3d/>
            </c:spPr>
            <c:extLst>
              <c:ext xmlns:c16="http://schemas.microsoft.com/office/drawing/2014/chart" uri="{C3380CC4-5D6E-409C-BE32-E72D297353CC}">
                <c16:uniqueId val="{00000013-35F5-4940-A8D8-45A3AE78FD7B}"/>
              </c:ext>
            </c:extLst>
          </c:dPt>
          <c:dPt>
            <c:idx val="10"/>
            <c:invertIfNegative val="0"/>
            <c:bubble3D val="0"/>
            <c:spPr>
              <a:solidFill>
                <a:schemeClr val="accent5">
                  <a:lumMod val="60000"/>
                </a:schemeClr>
              </a:solidFill>
              <a:ln>
                <a:noFill/>
              </a:ln>
              <a:effectLst/>
              <a:sp3d/>
            </c:spPr>
            <c:extLst>
              <c:ext xmlns:c16="http://schemas.microsoft.com/office/drawing/2014/chart" uri="{C3380CC4-5D6E-409C-BE32-E72D297353CC}">
                <c16:uniqueId val="{00000015-35F5-4940-A8D8-45A3AE78FD7B}"/>
              </c:ext>
            </c:extLst>
          </c:dPt>
          <c:dPt>
            <c:idx val="11"/>
            <c:invertIfNegative val="0"/>
            <c:bubble3D val="0"/>
            <c:spPr>
              <a:solidFill>
                <a:schemeClr val="accent6">
                  <a:lumMod val="60000"/>
                </a:schemeClr>
              </a:solidFill>
              <a:ln>
                <a:noFill/>
              </a:ln>
              <a:effectLst/>
              <a:sp3d/>
            </c:spPr>
            <c:extLst>
              <c:ext xmlns:c16="http://schemas.microsoft.com/office/drawing/2014/chart" uri="{C3380CC4-5D6E-409C-BE32-E72D297353CC}">
                <c16:uniqueId val="{00000017-35F5-4940-A8D8-45A3AE78FD7B}"/>
              </c:ext>
            </c:extLst>
          </c:dPt>
          <c:dPt>
            <c:idx val="12"/>
            <c:invertIfNegative val="0"/>
            <c:bubble3D val="0"/>
            <c:spPr>
              <a:solidFill>
                <a:schemeClr val="accent1">
                  <a:lumMod val="80000"/>
                  <a:lumOff val="20000"/>
                </a:schemeClr>
              </a:solidFill>
              <a:ln>
                <a:noFill/>
              </a:ln>
              <a:effectLst/>
              <a:sp3d/>
            </c:spPr>
            <c:extLst>
              <c:ext xmlns:c16="http://schemas.microsoft.com/office/drawing/2014/chart" uri="{C3380CC4-5D6E-409C-BE32-E72D297353CC}">
                <c16:uniqueId val="{00000019-35F5-4940-A8D8-45A3AE78FD7B}"/>
              </c:ext>
            </c:extLst>
          </c:dPt>
          <c:dPt>
            <c:idx val="13"/>
            <c:invertIfNegative val="0"/>
            <c:bubble3D val="0"/>
            <c:spPr>
              <a:solidFill>
                <a:schemeClr val="accent2">
                  <a:lumMod val="80000"/>
                  <a:lumOff val="20000"/>
                </a:schemeClr>
              </a:solidFill>
              <a:ln>
                <a:noFill/>
              </a:ln>
              <a:effectLst/>
              <a:sp3d/>
            </c:spPr>
            <c:extLst>
              <c:ext xmlns:c16="http://schemas.microsoft.com/office/drawing/2014/chart" uri="{C3380CC4-5D6E-409C-BE32-E72D297353CC}">
                <c16:uniqueId val="{0000001B-35F5-4940-A8D8-45A3AE78FD7B}"/>
              </c:ext>
            </c:extLst>
          </c:dPt>
          <c:dPt>
            <c:idx val="14"/>
            <c:invertIfNegative val="0"/>
            <c:bubble3D val="0"/>
            <c:spPr>
              <a:solidFill>
                <a:schemeClr val="accent3">
                  <a:lumMod val="80000"/>
                  <a:lumOff val="20000"/>
                </a:schemeClr>
              </a:solidFill>
              <a:ln>
                <a:noFill/>
              </a:ln>
              <a:effectLst/>
              <a:sp3d/>
            </c:spPr>
            <c:extLst>
              <c:ext xmlns:c16="http://schemas.microsoft.com/office/drawing/2014/chart" uri="{C3380CC4-5D6E-409C-BE32-E72D297353CC}">
                <c16:uniqueId val="{0000001D-35F5-4940-A8D8-45A3AE78FD7B}"/>
              </c:ext>
            </c:extLst>
          </c:dPt>
          <c:dPt>
            <c:idx val="15"/>
            <c:invertIfNegative val="0"/>
            <c:bubble3D val="0"/>
            <c:spPr>
              <a:solidFill>
                <a:schemeClr val="accent4">
                  <a:lumMod val="80000"/>
                  <a:lumOff val="20000"/>
                </a:schemeClr>
              </a:solidFill>
              <a:ln>
                <a:noFill/>
              </a:ln>
              <a:effectLst/>
              <a:sp3d/>
            </c:spPr>
            <c:extLst>
              <c:ext xmlns:c16="http://schemas.microsoft.com/office/drawing/2014/chart" uri="{C3380CC4-5D6E-409C-BE32-E72D297353CC}">
                <c16:uniqueId val="{0000001F-35F5-4940-A8D8-45A3AE78FD7B}"/>
              </c:ext>
            </c:extLst>
          </c:dPt>
          <c:dPt>
            <c:idx val="16"/>
            <c:invertIfNegative val="0"/>
            <c:bubble3D val="0"/>
            <c:spPr>
              <a:solidFill>
                <a:schemeClr val="accent5">
                  <a:lumMod val="80000"/>
                  <a:lumOff val="20000"/>
                </a:schemeClr>
              </a:solidFill>
              <a:ln>
                <a:noFill/>
              </a:ln>
              <a:effectLst/>
              <a:sp3d/>
            </c:spPr>
            <c:extLst>
              <c:ext xmlns:c16="http://schemas.microsoft.com/office/drawing/2014/chart" uri="{C3380CC4-5D6E-409C-BE32-E72D297353CC}">
                <c16:uniqueId val="{00000021-35F5-4940-A8D8-45A3AE78FD7B}"/>
              </c:ext>
            </c:extLst>
          </c:dPt>
          <c:dPt>
            <c:idx val="17"/>
            <c:invertIfNegative val="0"/>
            <c:bubble3D val="0"/>
            <c:spPr>
              <a:solidFill>
                <a:schemeClr val="accent6">
                  <a:lumMod val="80000"/>
                  <a:lumOff val="20000"/>
                </a:schemeClr>
              </a:solidFill>
              <a:ln>
                <a:noFill/>
              </a:ln>
              <a:effectLst/>
              <a:sp3d/>
            </c:spPr>
            <c:extLst>
              <c:ext xmlns:c16="http://schemas.microsoft.com/office/drawing/2014/chart" uri="{C3380CC4-5D6E-409C-BE32-E72D297353CC}">
                <c16:uniqueId val="{00000023-35F5-4940-A8D8-45A3AE78FD7B}"/>
              </c:ext>
            </c:extLst>
          </c:dPt>
          <c:dPt>
            <c:idx val="18"/>
            <c:invertIfNegative val="0"/>
            <c:bubble3D val="0"/>
            <c:spPr>
              <a:solidFill>
                <a:schemeClr val="accent1">
                  <a:lumMod val="80000"/>
                </a:schemeClr>
              </a:solidFill>
              <a:ln>
                <a:noFill/>
              </a:ln>
              <a:effectLst/>
              <a:sp3d/>
            </c:spPr>
            <c:extLst>
              <c:ext xmlns:c16="http://schemas.microsoft.com/office/drawing/2014/chart" uri="{C3380CC4-5D6E-409C-BE32-E72D297353CC}">
                <c16:uniqueId val="{00000025-35F5-4940-A8D8-45A3AE78FD7B}"/>
              </c:ext>
            </c:extLst>
          </c:dPt>
          <c:dLbls>
            <c:dLbl>
              <c:idx val="6"/>
              <c:layout>
                <c:manualLayout>
                  <c:x val="-1.6912474980848462E-17"/>
                  <c:y val="-4.43384373581197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5F5-4940-A8D8-45A3AE78FD7B}"/>
                </c:ext>
              </c:extLst>
            </c:dLbl>
            <c:dLbl>
              <c:idx val="7"/>
              <c:layout>
                <c:manualLayout>
                  <c:x val="9.2250929210196215E-4"/>
                  <c:y val="-5.00707786959732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5F5-4940-A8D8-45A3AE78FD7B}"/>
                </c:ext>
              </c:extLst>
            </c:dLbl>
            <c:dLbl>
              <c:idx val="8"/>
              <c:layout>
                <c:manualLayout>
                  <c:x val="-3.3824949961696923E-17"/>
                  <c:y val="-5.90608249982488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5F5-4940-A8D8-45A3AE78FD7B}"/>
                </c:ext>
              </c:extLst>
            </c:dLbl>
            <c:dLbl>
              <c:idx val="9"/>
              <c:layout>
                <c:manualLayout>
                  <c:x val="-7.3800743368156972E-3"/>
                  <c:y val="-6.49744472966913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5F5-4940-A8D8-45A3AE78FD7B}"/>
                </c:ext>
              </c:extLst>
            </c:dLbl>
            <c:dLbl>
              <c:idx val="10"/>
              <c:layout>
                <c:manualLayout>
                  <c:x val="0"/>
                  <c:y val="-5.60944727458387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5F5-4940-A8D8-45A3AE78FD7B}"/>
                </c:ext>
              </c:extLst>
            </c:dLbl>
            <c:dLbl>
              <c:idx val="11"/>
              <c:layout>
                <c:manualLayout>
                  <c:x val="-6.7649899923393846E-17"/>
                  <c:y val="-4.71898309525953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35F5-4940-A8D8-45A3AE78FD7B}"/>
                </c:ext>
              </c:extLst>
            </c:dLbl>
            <c:dLbl>
              <c:idx val="12"/>
              <c:layout>
                <c:manualLayout>
                  <c:x val="-9.2250929210209746E-4"/>
                  <c:y val="-5.31034532510378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5F5-4940-A8D8-45A3AE78FD7B}"/>
                </c:ext>
              </c:extLst>
            </c:dLbl>
            <c:dLbl>
              <c:idx val="13"/>
              <c:layout>
                <c:manualLayout>
                  <c:x val="0"/>
                  <c:y val="-6.4886017559818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35F5-4940-A8D8-45A3AE78FD7B}"/>
                </c:ext>
              </c:extLst>
            </c:dLbl>
            <c:dLbl>
              <c:idx val="14"/>
              <c:layout>
                <c:manualLayout>
                  <c:x val="-3.6900371684078486E-3"/>
                  <c:y val="-4.42400010983904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35F5-4940-A8D8-45A3AE78FD7B}"/>
                </c:ext>
              </c:extLst>
            </c:dLbl>
            <c:dLbl>
              <c:idx val="15"/>
              <c:layout>
                <c:manualLayout>
                  <c:x val="-3.6900371684078486E-3"/>
                  <c:y val="-6.79789639618570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35F5-4940-A8D8-45A3AE78FD7B}"/>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wise Policy Ending Trend'!$A$4:$A$23</c:f>
              <c:strCache>
                <c:ptCount val="19"/>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strCache>
            </c:strRef>
          </c:cat>
          <c:val>
            <c:numRef>
              <c:f>'Yearly wise Policy Ending Trend'!$B$4:$B$23</c:f>
              <c:numCache>
                <c:formatCode>General</c:formatCode>
                <c:ptCount val="19"/>
                <c:pt idx="0">
                  <c:v>25</c:v>
                </c:pt>
                <c:pt idx="1">
                  <c:v>77</c:v>
                </c:pt>
                <c:pt idx="2">
                  <c:v>142</c:v>
                </c:pt>
                <c:pt idx="3">
                  <c:v>178</c:v>
                </c:pt>
                <c:pt idx="4">
                  <c:v>262</c:v>
                </c:pt>
                <c:pt idx="5">
                  <c:v>309</c:v>
                </c:pt>
                <c:pt idx="6">
                  <c:v>371</c:v>
                </c:pt>
                <c:pt idx="7">
                  <c:v>418</c:v>
                </c:pt>
                <c:pt idx="8">
                  <c:v>454</c:v>
                </c:pt>
                <c:pt idx="9">
                  <c:v>526</c:v>
                </c:pt>
                <c:pt idx="10">
                  <c:v>453</c:v>
                </c:pt>
                <c:pt idx="11">
                  <c:v>422</c:v>
                </c:pt>
                <c:pt idx="12">
                  <c:v>346</c:v>
                </c:pt>
                <c:pt idx="13">
                  <c:v>330</c:v>
                </c:pt>
                <c:pt idx="14">
                  <c:v>254</c:v>
                </c:pt>
                <c:pt idx="15">
                  <c:v>184</c:v>
                </c:pt>
                <c:pt idx="16">
                  <c:v>134</c:v>
                </c:pt>
                <c:pt idx="17">
                  <c:v>82</c:v>
                </c:pt>
                <c:pt idx="18">
                  <c:v>33</c:v>
                </c:pt>
              </c:numCache>
            </c:numRef>
          </c:val>
          <c:extLst>
            <c:ext xmlns:c16="http://schemas.microsoft.com/office/drawing/2014/chart" uri="{C3380CC4-5D6E-409C-BE32-E72D297353CC}">
              <c16:uniqueId val="{00000026-35F5-4940-A8D8-45A3AE78FD7B}"/>
            </c:ext>
          </c:extLst>
        </c:ser>
        <c:dLbls>
          <c:showLegendKey val="0"/>
          <c:showVal val="1"/>
          <c:showCatName val="0"/>
          <c:showSerName val="0"/>
          <c:showPercent val="0"/>
          <c:showBubbleSize val="0"/>
        </c:dLbls>
        <c:gapWidth val="150"/>
        <c:shape val="box"/>
        <c:axId val="1430136447"/>
        <c:axId val="1234664335"/>
        <c:axId val="0"/>
      </c:bar3DChart>
      <c:catAx>
        <c:axId val="143013644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234664335"/>
        <c:crosses val="autoZero"/>
        <c:auto val="1"/>
        <c:lblAlgn val="ctr"/>
        <c:lblOffset val="100"/>
        <c:noMultiLvlLbl val="0"/>
      </c:catAx>
      <c:valAx>
        <c:axId val="123466433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430136447"/>
        <c:crosses val="autoZero"/>
        <c:crossBetween val="between"/>
      </c:valAx>
      <c:spPr>
        <a:solidFill>
          <a:schemeClr val="accent1">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[Project.xlsx]Year wise growth rate!PivotTable21</c:name>
    <c:fmtId val="16"/>
  </c:pivotSource>
  <c:chart>
    <c:title>
      <c:tx>
        <c:rich>
          <a:bodyPr rot="0" spcFirstLastPara="1" vertOverflow="ellipsis" vert="horz" wrap="square" anchor="ctr" anchorCtr="1"/>
          <a:lstStyle/>
          <a:p>
            <a:pPr algn="ctr">
              <a:defRPr sz="1400" b="1" i="0" u="none" strike="noStrike" kern="1200" spc="0" baseline="0">
                <a:solidFill>
                  <a:schemeClr val="tx2"/>
                </a:solidFill>
                <a:latin typeface="Times New Roman" panose="02020603050405020304" pitchFamily="18" charset="0"/>
                <a:ea typeface="+mn-ea"/>
                <a:cs typeface="Times New Roman" panose="02020603050405020304" pitchFamily="18" charset="0"/>
              </a:defRPr>
            </a:pPr>
            <a:r>
              <a:rPr lang="en-US">
                <a:solidFill>
                  <a:schemeClr val="tx2"/>
                </a:solidFill>
              </a:rPr>
              <a:t>YEAR WISE PREMIUM GROWTH RATE</a:t>
            </a:r>
          </a:p>
        </c:rich>
      </c:tx>
      <c:layout>
        <c:manualLayout>
          <c:xMode val="edge"/>
          <c:yMode val="edge"/>
          <c:x val="0.22662684956591128"/>
          <c:y val="1.5408801216064671E-2"/>
        </c:manualLayout>
      </c:layout>
      <c:overlay val="0"/>
      <c:spPr>
        <a:noFill/>
        <a:ln>
          <a:noFill/>
        </a:ln>
        <a:effectLst/>
      </c:spPr>
      <c:txPr>
        <a:bodyPr rot="0" spcFirstLastPara="1" vertOverflow="ellipsis" vert="horz" wrap="square" anchor="ctr" anchorCtr="1"/>
        <a:lstStyle/>
        <a:p>
          <a:pPr algn="ctr">
            <a:defRPr sz="1400" b="1" i="0" u="none" strike="noStrike" kern="1200" spc="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2">
              <a:lumMod val="75000"/>
            </a:schemeClr>
          </a:solidFill>
          <a:ln>
            <a:noFill/>
          </a:ln>
          <a:effectLst/>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lumMod val="75000"/>
            </a:schemeClr>
          </a:solidFill>
          <a:ln>
            <a:noFill/>
          </a:ln>
          <a:effectLst/>
          <a:sp3d/>
        </c:spPr>
        <c:dLbl>
          <c:idx val="0"/>
          <c:layout>
            <c:manualLayout>
              <c:x val="-1.9475655758911976E-2"/>
              <c:y val="-6.7527927142115071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lumMod val="75000"/>
            </a:schemeClr>
          </a:solidFill>
          <a:ln>
            <a:noFill/>
          </a:ln>
          <a:effectLst/>
          <a:sp3d/>
        </c:spPr>
        <c:dLbl>
          <c:idx val="0"/>
          <c:layout>
            <c:manualLayout>
              <c:x val="-1.11289461479497E-2"/>
              <c:y val="-4.9519108884385883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2">
              <a:lumMod val="75000"/>
            </a:schemeClr>
          </a:solidFill>
          <a:ln>
            <a:noFill/>
          </a:ln>
          <a:effectLst/>
          <a:sp3d/>
        </c:spPr>
        <c:dLbl>
          <c:idx val="0"/>
          <c:layout>
            <c:manualLayout>
              <c:x val="0"/>
              <c:y val="-4.0183172977199109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lumMod val="75000"/>
            </a:schemeClr>
          </a:solidFill>
          <a:ln>
            <a:noFill/>
          </a:ln>
          <a:effectLst/>
          <a:sp3d/>
        </c:spPr>
        <c:dLbl>
          <c:idx val="0"/>
          <c:layout>
            <c:manualLayout>
              <c:x val="-2.22578922958994E-2"/>
              <c:y val="0.17561239378289784"/>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lumMod val="75000"/>
            </a:schemeClr>
          </a:solidFill>
          <a:ln>
            <a:noFill/>
          </a:ln>
          <a:effectLst/>
          <a:sp3d/>
        </c:spPr>
        <c:dLbl>
          <c:idx val="0"/>
          <c:layout>
            <c:manualLayout>
              <c:x val="-1.11289461479497E-2"/>
              <c:y val="-3.6015509070891773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2">
              <a:lumMod val="75000"/>
            </a:schemeClr>
          </a:solidFill>
          <a:ln>
            <a:noFill/>
          </a:ln>
          <a:effectLst/>
          <a:sp3d/>
        </c:spPr>
        <c:dLbl>
          <c:idx val="0"/>
          <c:layout>
            <c:manualLayout>
              <c:x val="-5.56447307397485E-3"/>
              <c:y val="0.17560317485644181"/>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lumMod val="75000"/>
            </a:schemeClr>
          </a:solidFill>
          <a:ln>
            <a:noFill/>
          </a:ln>
          <a:effectLst/>
          <a:sp3d/>
        </c:spPr>
        <c:dLbl>
          <c:idx val="0"/>
          <c:layout>
            <c:manualLayout>
              <c:x val="0"/>
              <c:y val="-4.0523209533788337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2">
              <a:lumMod val="75000"/>
            </a:schemeClr>
          </a:solidFill>
          <a:ln>
            <a:noFill/>
          </a:ln>
          <a:effectLst/>
          <a:sp3d/>
        </c:spPr>
        <c:dLbl>
          <c:idx val="0"/>
          <c:layout>
            <c:manualLayout>
              <c:x val="1.3911182684937125E-2"/>
              <c:y val="-3.1516318386262385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2">
              <a:lumMod val="75000"/>
            </a:schemeClr>
          </a:solidFill>
          <a:ln>
            <a:noFill/>
          </a:ln>
          <a:effectLst/>
          <a:sp3d/>
        </c:spPr>
        <c:dLbl>
          <c:idx val="0"/>
          <c:layout>
            <c:manualLayout>
              <c:x val="1.9475655758911976E-2"/>
              <c:y val="0.17111001193141828"/>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2">
              <a:lumMod val="75000"/>
            </a:schemeClr>
          </a:solidFill>
          <a:ln>
            <a:noFill/>
          </a:ln>
          <a:effectLst/>
          <a:sp3d/>
        </c:spPr>
        <c:dLbl>
          <c:idx val="0"/>
          <c:layout>
            <c:manualLayout>
              <c:x val="4.7298021128786123E-2"/>
              <c:y val="0.10807028367700436"/>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lumMod val="75000"/>
            </a:schemeClr>
          </a:solidFill>
          <a:ln>
            <a:noFill/>
          </a:ln>
          <a:effectLst/>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2">
              <a:lumMod val="75000"/>
            </a:schemeClr>
          </a:solidFill>
          <a:ln>
            <a:noFill/>
          </a:ln>
          <a:effectLst/>
          <a:sp3d/>
        </c:spPr>
        <c:dLbl>
          <c:idx val="0"/>
          <c:layout>
            <c:manualLayout>
              <c:x val="0"/>
              <c:y val="-4.0183172977199109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2">
              <a:lumMod val="75000"/>
            </a:schemeClr>
          </a:solidFill>
          <a:ln>
            <a:noFill/>
          </a:ln>
          <a:effectLst/>
          <a:sp3d/>
        </c:spPr>
        <c:dLbl>
          <c:idx val="0"/>
          <c:layout>
            <c:manualLayout>
              <c:x val="-1.11289461479497E-2"/>
              <c:y val="-4.9519108884385883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2">
              <a:lumMod val="75000"/>
            </a:schemeClr>
          </a:solidFill>
          <a:ln>
            <a:noFill/>
          </a:ln>
          <a:effectLst/>
          <a:sp3d/>
        </c:spPr>
        <c:dLbl>
          <c:idx val="0"/>
          <c:layout>
            <c:manualLayout>
              <c:x val="-2.22578922958994E-2"/>
              <c:y val="0.17561239378289784"/>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2">
              <a:lumMod val="75000"/>
            </a:schemeClr>
          </a:solidFill>
          <a:ln>
            <a:noFill/>
          </a:ln>
          <a:effectLst/>
          <a:sp3d/>
        </c:spPr>
        <c:dLbl>
          <c:idx val="0"/>
          <c:layout>
            <c:manualLayout>
              <c:x val="-1.9475655758911976E-2"/>
              <c:y val="-6.7527927142115071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2">
              <a:lumMod val="75000"/>
            </a:schemeClr>
          </a:solidFill>
          <a:ln>
            <a:noFill/>
          </a:ln>
          <a:effectLst/>
          <a:sp3d/>
        </c:spPr>
        <c:dLbl>
          <c:idx val="0"/>
          <c:layout>
            <c:manualLayout>
              <c:x val="-1.11289461479497E-2"/>
              <c:y val="-3.6015509070891773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2">
              <a:lumMod val="75000"/>
            </a:schemeClr>
          </a:solidFill>
          <a:ln>
            <a:noFill/>
          </a:ln>
          <a:effectLst/>
          <a:sp3d/>
        </c:spPr>
        <c:dLbl>
          <c:idx val="0"/>
          <c:layout>
            <c:manualLayout>
              <c:x val="-5.56447307397485E-3"/>
              <c:y val="0.17560317485644181"/>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2">
              <a:lumMod val="75000"/>
            </a:schemeClr>
          </a:solidFill>
          <a:ln>
            <a:noFill/>
          </a:ln>
          <a:effectLst/>
          <a:sp3d/>
        </c:spPr>
        <c:dLbl>
          <c:idx val="0"/>
          <c:layout>
            <c:manualLayout>
              <c:x val="0"/>
              <c:y val="-4.0523209533788337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2">
              <a:lumMod val="75000"/>
            </a:schemeClr>
          </a:solidFill>
          <a:ln>
            <a:noFill/>
          </a:ln>
          <a:effectLst/>
          <a:sp3d/>
        </c:spPr>
        <c:dLbl>
          <c:idx val="0"/>
          <c:layout>
            <c:manualLayout>
              <c:x val="1.3911182684937125E-2"/>
              <c:y val="-3.1516318386262385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2">
              <a:lumMod val="75000"/>
            </a:schemeClr>
          </a:solidFill>
          <a:ln>
            <a:noFill/>
          </a:ln>
          <a:effectLst/>
          <a:sp3d/>
        </c:spPr>
        <c:dLbl>
          <c:idx val="0"/>
          <c:layout>
            <c:manualLayout>
              <c:x val="1.9475655758911976E-2"/>
              <c:y val="0.17111001193141828"/>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2">
              <a:lumMod val="75000"/>
            </a:schemeClr>
          </a:solidFill>
          <a:ln>
            <a:noFill/>
          </a:ln>
          <a:effectLst/>
          <a:sp3d/>
        </c:spPr>
        <c:dLbl>
          <c:idx val="0"/>
          <c:layout>
            <c:manualLayout>
              <c:x val="4.7298021128786123E-2"/>
              <c:y val="0.10807028367700436"/>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a:sp3d/>
        </c:spPr>
        <c:marker>
          <c:symbol val="none"/>
        </c:marker>
        <c:dLbl>
          <c:idx val="0"/>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dLbl>
          <c:idx val="0"/>
          <c:layout>
            <c:manualLayout>
              <c:x val="0"/>
              <c:y val="-4.0183172977199109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dLbl>
          <c:idx val="0"/>
          <c:layout>
            <c:manualLayout>
              <c:x val="-1.11289461479497E-2"/>
              <c:y val="-4.9519108884385883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dLbl>
          <c:idx val="0"/>
          <c:layout>
            <c:manualLayout>
              <c:x val="-2.22578922958994E-2"/>
              <c:y val="0.17561239378289784"/>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6"/>
        <c:dLbl>
          <c:idx val="0"/>
          <c:layout>
            <c:manualLayout>
              <c:x val="-1.9475655758911976E-2"/>
              <c:y val="-6.7527927142115071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7"/>
        <c:dLbl>
          <c:idx val="0"/>
          <c:layout>
            <c:manualLayout>
              <c:x val="-1.11289461479497E-2"/>
              <c:y val="-3.6015509070891773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8"/>
        <c:dLbl>
          <c:idx val="0"/>
          <c:layout>
            <c:manualLayout>
              <c:x val="-5.56447307397485E-3"/>
              <c:y val="0.17560317485644181"/>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dLbl>
          <c:idx val="0"/>
          <c:layout>
            <c:manualLayout>
              <c:x val="0"/>
              <c:y val="-4.0523209533788337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0"/>
        <c:dLbl>
          <c:idx val="0"/>
          <c:layout>
            <c:manualLayout>
              <c:x val="1.3911182684937125E-2"/>
              <c:y val="-3.1516318386262385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1"/>
        <c:dLbl>
          <c:idx val="0"/>
          <c:layout>
            <c:manualLayout>
              <c:x val="1.9475655758911976E-2"/>
              <c:y val="0.17111001193141828"/>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2"/>
        <c:dLbl>
          <c:idx val="0"/>
          <c:layout>
            <c:manualLayout>
              <c:x val="4.7298021128786123E-2"/>
              <c:y val="0.10807028367700436"/>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a:sp3d/>
        </c:spPr>
        <c:marker>
          <c:symbol val="none"/>
        </c:marker>
        <c:dLbl>
          <c:idx val="0"/>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a:sp3d/>
        </c:spPr>
        <c:dLbl>
          <c:idx val="0"/>
          <c:layout>
            <c:manualLayout>
              <c:x val="0"/>
              <c:y val="-4.0183172977199109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a:sp3d/>
        </c:spPr>
        <c:dLbl>
          <c:idx val="0"/>
          <c:layout>
            <c:manualLayout>
              <c:x val="-1.11289461479497E-2"/>
              <c:y val="-4.9519108884385883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a:sp3d/>
        </c:spPr>
        <c:dLbl>
          <c:idx val="0"/>
          <c:layout>
            <c:manualLayout>
              <c:x val="-2.22578922958994E-2"/>
              <c:y val="0.17561239378289784"/>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a:sp3d/>
        </c:spPr>
        <c:dLbl>
          <c:idx val="0"/>
          <c:layout>
            <c:manualLayout>
              <c:x val="-1.9475655758911976E-2"/>
              <c:y val="-6.7527927142115071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a:sp3d/>
        </c:spPr>
        <c:dLbl>
          <c:idx val="0"/>
          <c:layout>
            <c:manualLayout>
              <c:x val="-1.11289461479497E-2"/>
              <c:y val="-3.6015509070891773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a:sp3d/>
        </c:spPr>
        <c:dLbl>
          <c:idx val="0"/>
          <c:layout>
            <c:manualLayout>
              <c:x val="-5.56447307397485E-3"/>
              <c:y val="0.17560317485644181"/>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a:sp3d/>
        </c:spPr>
        <c:dLbl>
          <c:idx val="0"/>
          <c:layout>
            <c:manualLayout>
              <c:x val="0"/>
              <c:y val="-4.0523209533788337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a:sp3d/>
        </c:spPr>
        <c:dLbl>
          <c:idx val="0"/>
          <c:layout>
            <c:manualLayout>
              <c:x val="1.3911182684937125E-2"/>
              <c:y val="-3.1516318386262385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a:sp3d/>
        </c:spPr>
        <c:dLbl>
          <c:idx val="0"/>
          <c:layout>
            <c:manualLayout>
              <c:x val="1.9475655758911976E-2"/>
              <c:y val="0.17111001193141828"/>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a:sp3d/>
        </c:spPr>
        <c:dLbl>
          <c:idx val="0"/>
          <c:layout>
            <c:manualLayout>
              <c:x val="4.7298021128786123E-2"/>
              <c:y val="0.10807028367700436"/>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a:sp3d/>
        </c:spPr>
      </c:pivotFmt>
      <c:pivotFmt>
        <c:idx val="45"/>
        <c:spPr>
          <a:solidFill>
            <a:schemeClr val="accent1"/>
          </a:solidFill>
          <a:ln>
            <a:noFill/>
          </a:ln>
          <a:effectLst/>
          <a:sp3d/>
        </c:spPr>
        <c:marker>
          <c:symbol val="none"/>
        </c:marker>
        <c:dLbl>
          <c:idx val="0"/>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a:sp3d/>
        </c:spPr>
        <c:dLbl>
          <c:idx val="0"/>
          <c:layout>
            <c:manualLayout>
              <c:x val="0"/>
              <c:y val="-4.0183172977199109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a:sp3d/>
        </c:spPr>
        <c:dLbl>
          <c:idx val="0"/>
          <c:layout>
            <c:manualLayout>
              <c:x val="-1.11289461479497E-2"/>
              <c:y val="-4.9519108884385883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a:sp3d/>
        </c:spPr>
        <c:dLbl>
          <c:idx val="0"/>
          <c:layout>
            <c:manualLayout>
              <c:x val="-2.22578922958994E-2"/>
              <c:y val="0.17561239378289784"/>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a:sp3d/>
        </c:spPr>
        <c:dLbl>
          <c:idx val="0"/>
          <c:layout>
            <c:manualLayout>
              <c:x val="-1.9475655758911976E-2"/>
              <c:y val="-6.7527927142115071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a:sp3d/>
        </c:spPr>
        <c:dLbl>
          <c:idx val="0"/>
          <c:layout>
            <c:manualLayout>
              <c:x val="-1.11289461479497E-2"/>
              <c:y val="-3.6015509070891773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a:sp3d/>
        </c:spPr>
        <c:dLbl>
          <c:idx val="0"/>
          <c:layout>
            <c:manualLayout>
              <c:x val="-5.56447307397485E-3"/>
              <c:y val="0.17560317485644181"/>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a:sp3d/>
        </c:spPr>
        <c:dLbl>
          <c:idx val="0"/>
          <c:layout>
            <c:manualLayout>
              <c:x val="0"/>
              <c:y val="-4.0523209533788337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a:sp3d/>
        </c:spPr>
        <c:dLbl>
          <c:idx val="0"/>
          <c:layout>
            <c:manualLayout>
              <c:x val="1.3911182684937125E-2"/>
              <c:y val="-3.1516318386262385E-2"/>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a:sp3d/>
        </c:spPr>
        <c:dLbl>
          <c:idx val="0"/>
          <c:layout>
            <c:manualLayout>
              <c:x val="1.9475655758911976E-2"/>
              <c:y val="0.17111001193141828"/>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a:sp3d/>
        </c:spPr>
        <c:dLbl>
          <c:idx val="0"/>
          <c:layout>
            <c:manualLayout>
              <c:x val="4.7298021128786123E-2"/>
              <c:y val="0.10807028367700436"/>
            </c:manualLayout>
          </c:layout>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6"/>
        <c:spPr>
          <a:solidFill>
            <a:schemeClr val="accent1"/>
          </a:solidFill>
          <a:ln>
            <a:noFill/>
          </a:ln>
          <a:effectLst/>
          <a:sp3d/>
        </c:spPr>
      </c:pivotFmt>
    </c:pivotFmts>
    <c:view3D>
      <c:rotX val="15"/>
      <c:rotY val="20"/>
      <c:depthPercent val="100"/>
      <c:rAngAx val="1"/>
    </c:view3D>
    <c:floor>
      <c:thickness val="0"/>
      <c:spPr>
        <a:noFill/>
        <a:ln>
          <a:noFill/>
        </a:ln>
        <a:effectLst/>
        <a:sp3d/>
      </c:spPr>
    </c:floor>
    <c:sideWall>
      <c:thickness val="0"/>
      <c:spPr>
        <a:solidFill>
          <a:schemeClr val="accent1">
            <a:lumMod val="20000"/>
            <a:lumOff val="80000"/>
          </a:schemeClr>
        </a:solidFill>
        <a:ln>
          <a:noFill/>
        </a:ln>
        <a:effectLst/>
        <a:sp3d/>
      </c:spPr>
    </c:sideWall>
    <c:backWall>
      <c:thickness val="0"/>
      <c:spPr>
        <a:solidFill>
          <a:schemeClr val="accent1">
            <a:lumMod val="20000"/>
            <a:lumOff val="80000"/>
          </a:schemeClr>
        </a:solidFill>
        <a:ln>
          <a:noFill/>
        </a:ln>
        <a:effectLst/>
        <a:sp3d/>
      </c:spPr>
    </c:backWall>
    <c:plotArea>
      <c:layout/>
      <c:bar3DChart>
        <c:barDir val="col"/>
        <c:grouping val="standard"/>
        <c:varyColors val="1"/>
        <c:ser>
          <c:idx val="0"/>
          <c:order val="0"/>
          <c:tx>
            <c:strRef>
              <c:f>'Year wise growth rate'!$B$3</c:f>
              <c:strCache>
                <c:ptCount val="1"/>
                <c:pt idx="0">
                  <c:v>Total</c:v>
                </c:pt>
              </c:strCache>
            </c:strRef>
          </c:tx>
          <c:invertIfNegative val="0"/>
          <c:dPt>
            <c:idx val="0"/>
            <c:invertIfNegative val="0"/>
            <c:bubble3D val="0"/>
            <c:spPr>
              <a:solidFill>
                <a:schemeClr val="accent1"/>
              </a:solidFill>
              <a:ln>
                <a:noFill/>
              </a:ln>
              <a:effectLst/>
              <a:sp3d/>
            </c:spPr>
            <c:extLst>
              <c:ext xmlns:c16="http://schemas.microsoft.com/office/drawing/2014/chart" uri="{C3380CC4-5D6E-409C-BE32-E72D297353CC}">
                <c16:uniqueId val="{00000001-C183-43BA-B078-C02CC8471E72}"/>
              </c:ext>
            </c:extLst>
          </c:dPt>
          <c:dPt>
            <c:idx val="1"/>
            <c:invertIfNegative val="0"/>
            <c:bubble3D val="0"/>
            <c:spPr>
              <a:solidFill>
                <a:schemeClr val="accent2"/>
              </a:solidFill>
              <a:ln>
                <a:noFill/>
              </a:ln>
              <a:effectLst/>
              <a:sp3d/>
            </c:spPr>
            <c:extLst>
              <c:ext xmlns:c16="http://schemas.microsoft.com/office/drawing/2014/chart" uri="{C3380CC4-5D6E-409C-BE32-E72D297353CC}">
                <c16:uniqueId val="{00000003-C183-43BA-B078-C02CC8471E72}"/>
              </c:ext>
            </c:extLst>
          </c:dPt>
          <c:dPt>
            <c:idx val="2"/>
            <c:invertIfNegative val="0"/>
            <c:bubble3D val="0"/>
            <c:spPr>
              <a:solidFill>
                <a:schemeClr val="accent3"/>
              </a:solidFill>
              <a:ln>
                <a:noFill/>
              </a:ln>
              <a:effectLst/>
              <a:sp3d/>
            </c:spPr>
            <c:extLst>
              <c:ext xmlns:c16="http://schemas.microsoft.com/office/drawing/2014/chart" uri="{C3380CC4-5D6E-409C-BE32-E72D297353CC}">
                <c16:uniqueId val="{00000005-C183-43BA-B078-C02CC8471E72}"/>
              </c:ext>
            </c:extLst>
          </c:dPt>
          <c:dPt>
            <c:idx val="3"/>
            <c:invertIfNegative val="0"/>
            <c:bubble3D val="0"/>
            <c:spPr>
              <a:solidFill>
                <a:schemeClr val="accent4"/>
              </a:solidFill>
              <a:ln>
                <a:noFill/>
              </a:ln>
              <a:effectLst/>
              <a:sp3d/>
            </c:spPr>
            <c:extLst>
              <c:ext xmlns:c16="http://schemas.microsoft.com/office/drawing/2014/chart" uri="{C3380CC4-5D6E-409C-BE32-E72D297353CC}">
                <c16:uniqueId val="{00000007-C183-43BA-B078-C02CC8471E72}"/>
              </c:ext>
            </c:extLst>
          </c:dPt>
          <c:dPt>
            <c:idx val="4"/>
            <c:invertIfNegative val="0"/>
            <c:bubble3D val="0"/>
            <c:spPr>
              <a:solidFill>
                <a:schemeClr val="accent5"/>
              </a:solidFill>
              <a:ln>
                <a:noFill/>
              </a:ln>
              <a:effectLst/>
              <a:sp3d/>
            </c:spPr>
            <c:extLst>
              <c:ext xmlns:c16="http://schemas.microsoft.com/office/drawing/2014/chart" uri="{C3380CC4-5D6E-409C-BE32-E72D297353CC}">
                <c16:uniqueId val="{00000009-C183-43BA-B078-C02CC8471E72}"/>
              </c:ext>
            </c:extLst>
          </c:dPt>
          <c:dPt>
            <c:idx val="5"/>
            <c:invertIfNegative val="0"/>
            <c:bubble3D val="0"/>
            <c:spPr>
              <a:solidFill>
                <a:schemeClr val="accent6"/>
              </a:solidFill>
              <a:ln>
                <a:noFill/>
              </a:ln>
              <a:effectLst/>
              <a:sp3d/>
            </c:spPr>
            <c:extLst>
              <c:ext xmlns:c16="http://schemas.microsoft.com/office/drawing/2014/chart" uri="{C3380CC4-5D6E-409C-BE32-E72D297353CC}">
                <c16:uniqueId val="{0000000B-C183-43BA-B078-C02CC8471E72}"/>
              </c:ext>
            </c:extLst>
          </c:dPt>
          <c:dPt>
            <c:idx val="6"/>
            <c:invertIfNegative val="0"/>
            <c:bubble3D val="0"/>
            <c:spPr>
              <a:solidFill>
                <a:schemeClr val="accent1">
                  <a:lumMod val="60000"/>
                </a:schemeClr>
              </a:solidFill>
              <a:ln>
                <a:noFill/>
              </a:ln>
              <a:effectLst/>
              <a:sp3d/>
            </c:spPr>
            <c:extLst>
              <c:ext xmlns:c16="http://schemas.microsoft.com/office/drawing/2014/chart" uri="{C3380CC4-5D6E-409C-BE32-E72D297353CC}">
                <c16:uniqueId val="{0000000D-C183-43BA-B078-C02CC8471E72}"/>
              </c:ext>
            </c:extLst>
          </c:dPt>
          <c:dPt>
            <c:idx val="7"/>
            <c:invertIfNegative val="0"/>
            <c:bubble3D val="0"/>
            <c:spPr>
              <a:solidFill>
                <a:schemeClr val="accent2">
                  <a:lumMod val="60000"/>
                </a:schemeClr>
              </a:solidFill>
              <a:ln>
                <a:noFill/>
              </a:ln>
              <a:effectLst/>
              <a:sp3d/>
            </c:spPr>
            <c:extLst>
              <c:ext xmlns:c16="http://schemas.microsoft.com/office/drawing/2014/chart" uri="{C3380CC4-5D6E-409C-BE32-E72D297353CC}">
                <c16:uniqueId val="{0000000F-C183-43BA-B078-C02CC8471E72}"/>
              </c:ext>
            </c:extLst>
          </c:dPt>
          <c:dPt>
            <c:idx val="8"/>
            <c:invertIfNegative val="0"/>
            <c:bubble3D val="0"/>
            <c:spPr>
              <a:solidFill>
                <a:schemeClr val="accent3">
                  <a:lumMod val="60000"/>
                </a:schemeClr>
              </a:solidFill>
              <a:ln>
                <a:noFill/>
              </a:ln>
              <a:effectLst/>
              <a:sp3d/>
            </c:spPr>
            <c:extLst>
              <c:ext xmlns:c16="http://schemas.microsoft.com/office/drawing/2014/chart" uri="{C3380CC4-5D6E-409C-BE32-E72D297353CC}">
                <c16:uniqueId val="{00000011-C183-43BA-B078-C02CC8471E72}"/>
              </c:ext>
            </c:extLst>
          </c:dPt>
          <c:dPt>
            <c:idx val="9"/>
            <c:invertIfNegative val="0"/>
            <c:bubble3D val="0"/>
            <c:spPr>
              <a:solidFill>
                <a:schemeClr val="accent4">
                  <a:lumMod val="60000"/>
                </a:schemeClr>
              </a:solidFill>
              <a:ln>
                <a:noFill/>
              </a:ln>
              <a:effectLst/>
              <a:sp3d/>
            </c:spPr>
            <c:extLst>
              <c:ext xmlns:c16="http://schemas.microsoft.com/office/drawing/2014/chart" uri="{C3380CC4-5D6E-409C-BE32-E72D297353CC}">
                <c16:uniqueId val="{00000013-C183-43BA-B078-C02CC8471E72}"/>
              </c:ext>
            </c:extLst>
          </c:dPt>
          <c:dPt>
            <c:idx val="10"/>
            <c:invertIfNegative val="0"/>
            <c:bubble3D val="0"/>
            <c:spPr>
              <a:solidFill>
                <a:schemeClr val="accent5">
                  <a:lumMod val="60000"/>
                </a:schemeClr>
              </a:solidFill>
              <a:ln>
                <a:noFill/>
              </a:ln>
              <a:effectLst/>
              <a:sp3d/>
            </c:spPr>
            <c:extLst>
              <c:ext xmlns:c16="http://schemas.microsoft.com/office/drawing/2014/chart" uri="{C3380CC4-5D6E-409C-BE32-E72D297353CC}">
                <c16:uniqueId val="{00000015-C183-43BA-B078-C02CC8471E72}"/>
              </c:ext>
            </c:extLst>
          </c:dPt>
          <c:dLbls>
            <c:dLbl>
              <c:idx val="0"/>
              <c:layout>
                <c:manualLayout>
                  <c:x val="0"/>
                  <c:y val="-4.01831729771991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183-43BA-B078-C02CC8471E72}"/>
                </c:ext>
              </c:extLst>
            </c:dLbl>
            <c:dLbl>
              <c:idx val="1"/>
              <c:layout>
                <c:manualLayout>
                  <c:x val="-1.11289461479497E-2"/>
                  <c:y val="-4.95191088843858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183-43BA-B078-C02CC8471E72}"/>
                </c:ext>
              </c:extLst>
            </c:dLbl>
            <c:dLbl>
              <c:idx val="2"/>
              <c:layout>
                <c:manualLayout>
                  <c:x val="-2.22578922958994E-2"/>
                  <c:y val="0.1756123937828978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183-43BA-B078-C02CC8471E72}"/>
                </c:ext>
              </c:extLst>
            </c:dLbl>
            <c:dLbl>
              <c:idx val="3"/>
              <c:layout>
                <c:manualLayout>
                  <c:x val="-1.9475655758911976E-2"/>
                  <c:y val="-6.75279271421150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83-43BA-B078-C02CC8471E72}"/>
                </c:ext>
              </c:extLst>
            </c:dLbl>
            <c:dLbl>
              <c:idx val="4"/>
              <c:layout>
                <c:manualLayout>
                  <c:x val="-1.11289461479497E-2"/>
                  <c:y val="-3.60155090708917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183-43BA-B078-C02CC8471E72}"/>
                </c:ext>
              </c:extLst>
            </c:dLbl>
            <c:dLbl>
              <c:idx val="5"/>
              <c:layout>
                <c:manualLayout>
                  <c:x val="-5.56447307397485E-3"/>
                  <c:y val="0.175603174856441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183-43BA-B078-C02CC8471E72}"/>
                </c:ext>
              </c:extLst>
            </c:dLbl>
            <c:dLbl>
              <c:idx val="6"/>
              <c:layout>
                <c:manualLayout>
                  <c:x val="0"/>
                  <c:y val="-4.05232095337883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183-43BA-B078-C02CC8471E72}"/>
                </c:ext>
              </c:extLst>
            </c:dLbl>
            <c:dLbl>
              <c:idx val="7"/>
              <c:layout>
                <c:manualLayout>
                  <c:x val="1.3911182684937125E-2"/>
                  <c:y val="-3.15163183862623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183-43BA-B078-C02CC8471E72}"/>
                </c:ext>
              </c:extLst>
            </c:dLbl>
            <c:dLbl>
              <c:idx val="8"/>
              <c:layout>
                <c:manualLayout>
                  <c:x val="1.9475655758911976E-2"/>
                  <c:y val="0.171110011931418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183-43BA-B078-C02CC8471E72}"/>
                </c:ext>
              </c:extLst>
            </c:dLbl>
            <c:dLbl>
              <c:idx val="9"/>
              <c:layout>
                <c:manualLayout>
                  <c:x val="4.7298021128786123E-2"/>
                  <c:y val="0.108070283677004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183-43BA-B078-C02CC8471E72}"/>
                </c:ext>
              </c:extLst>
            </c:dLbl>
            <c:numFmt formatCode="0.00%" sourceLinked="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 wise growth rate'!$A$4:$A$15</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'Year wise growth rate'!$B$4:$B$15</c:f>
              <c:numCache>
                <c:formatCode>General</c:formatCode>
                <c:ptCount val="11"/>
                <c:pt idx="0">
                  <c:v>0.38549688776822599</c:v>
                </c:pt>
                <c:pt idx="1">
                  <c:v>5.9111657058069189E-4</c:v>
                </c:pt>
                <c:pt idx="2">
                  <c:v>-6.897690800028582E-4</c:v>
                </c:pt>
                <c:pt idx="3">
                  <c:v>1.0391249637069601E-5</c:v>
                </c:pt>
                <c:pt idx="4">
                  <c:v>1.0145225154604615E-4</c:v>
                </c:pt>
                <c:pt idx="5">
                  <c:v>-1.9600493594780998E-4</c:v>
                </c:pt>
                <c:pt idx="6">
                  <c:v>1.1622309906846506E-4</c:v>
                </c:pt>
                <c:pt idx="7">
                  <c:v>7.5316045990085764E-4</c:v>
                </c:pt>
                <c:pt idx="8">
                  <c:v>-9.3854224222056164E-4</c:v>
                </c:pt>
                <c:pt idx="9">
                  <c:v>-6.703256601956187E-4</c:v>
                </c:pt>
              </c:numCache>
            </c:numRef>
          </c:val>
          <c:extLst>
            <c:ext xmlns:c16="http://schemas.microsoft.com/office/drawing/2014/chart" uri="{C3380CC4-5D6E-409C-BE32-E72D297353CC}">
              <c16:uniqueId val="{00000016-C183-43BA-B078-C02CC8471E72}"/>
            </c:ext>
          </c:extLst>
        </c:ser>
        <c:dLbls>
          <c:showLegendKey val="0"/>
          <c:showVal val="1"/>
          <c:showCatName val="0"/>
          <c:showSerName val="0"/>
          <c:showPercent val="0"/>
          <c:showBubbleSize val="0"/>
        </c:dLbls>
        <c:gapWidth val="150"/>
        <c:shape val="box"/>
        <c:axId val="1389951007"/>
        <c:axId val="1430020751"/>
        <c:axId val="1329031087"/>
      </c:bar3DChart>
      <c:catAx>
        <c:axId val="138995100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430020751"/>
        <c:crosses val="autoZero"/>
        <c:auto val="1"/>
        <c:lblAlgn val="ctr"/>
        <c:lblOffset val="100"/>
        <c:noMultiLvlLbl val="0"/>
      </c:catAx>
      <c:valAx>
        <c:axId val="1430020751"/>
        <c:scaling>
          <c:orientation val="minMax"/>
        </c:scaling>
        <c:delete val="1"/>
        <c:axPos val="l"/>
        <c:majorGridlines>
          <c:spPr>
            <a:ln w="9525" cap="flat" cmpd="sng" algn="ctr">
              <a:solidFill>
                <a:schemeClr val="accent2">
                  <a:lumMod val="20000"/>
                  <a:lumOff val="80000"/>
                </a:schemeClr>
              </a:solidFill>
              <a:round/>
            </a:ln>
            <a:effectLst/>
          </c:spPr>
        </c:majorGridlines>
        <c:numFmt formatCode="General" sourceLinked="1"/>
        <c:majorTickMark val="none"/>
        <c:minorTickMark val="none"/>
        <c:tickLblPos val="nextTo"/>
        <c:crossAx val="1389951007"/>
        <c:crosses val="autoZero"/>
        <c:crossBetween val="between"/>
      </c:valAx>
      <c:serAx>
        <c:axId val="1329031087"/>
        <c:scaling>
          <c:orientation val="minMax"/>
        </c:scaling>
        <c:delete val="1"/>
        <c:axPos val="b"/>
        <c:majorTickMark val="none"/>
        <c:minorTickMark val="none"/>
        <c:tickLblPos val="nextTo"/>
        <c:crossAx val="1430020751"/>
        <c:crosses val="autoZero"/>
      </c:serAx>
      <c:spPr>
        <a:solidFill>
          <a:schemeClr val="accent5">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w="9525" cap="flat" cmpd="sng" algn="ctr">
      <a:solidFill>
        <a:schemeClr val="tx2">
          <a:lumMod val="75000"/>
        </a:schemeClr>
      </a:solidFill>
      <a:round/>
    </a:ln>
    <a:effectLst/>
  </c:spPr>
  <c:txPr>
    <a:bodyPr/>
    <a:lstStyle/>
    <a:p>
      <a:pPr>
        <a:defRPr b="1">
          <a:solidFill>
            <a:sysClr val="windowText" lastClr="000000"/>
          </a:solidFill>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0.42413</cdr:x>
      <cdr:y>0.24902</cdr:y>
    </cdr:from>
    <cdr:to>
      <cdr:x>0.57587</cdr:x>
      <cdr:y>0.41793</cdr:y>
    </cdr:to>
    <cdr:sp macro="" textlink="">
      <cdr:nvSpPr>
        <cdr:cNvPr id="3" name="Rectangle: Rounded Corners 2">
          <a:extLst xmlns:a="http://schemas.openxmlformats.org/drawingml/2006/main">
            <a:ext uri="{FF2B5EF4-FFF2-40B4-BE49-F238E27FC236}">
              <a16:creationId xmlns:a16="http://schemas.microsoft.com/office/drawing/2014/main" id="{1300F44D-E837-5F07-EF42-FDE1FAAE1B0F}"/>
            </a:ext>
          </a:extLst>
        </cdr:cNvPr>
        <cdr:cNvSpPr/>
      </cdr:nvSpPr>
      <cdr:spPr>
        <a:xfrm xmlns:a="http://schemas.openxmlformats.org/drawingml/2006/main">
          <a:off x="1652758" y="372912"/>
          <a:ext cx="591303" cy="252944"/>
        </a:xfrm>
        <a:prstGeom xmlns:a="http://schemas.openxmlformats.org/drawingml/2006/main" prst="roundRect">
          <a:avLst/>
        </a:prstGeom>
        <a:solidFill xmlns:a="http://schemas.openxmlformats.org/drawingml/2006/main">
          <a:schemeClr val="accent1">
            <a:lumMod val="20000"/>
            <a:lumOff val="80000"/>
          </a:schemeClr>
        </a:solidFill>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fld id="{DFA00AA3-5B2A-4FCA-A4AC-11C31A56E66F}" type="TxLink">
            <a:rPr lang="en-US" sz="1800" b="1" i="0" u="none" strike="noStrike">
              <a:solidFill>
                <a:schemeClr val="tx2">
                  <a:lumMod val="75000"/>
                </a:schemeClr>
              </a:solidFill>
              <a:latin typeface="Times New Roman" panose="02020603050405020304" pitchFamily="18" charset="0"/>
              <a:ea typeface="Calibri"/>
              <a:cs typeface="Times New Roman" panose="02020603050405020304" pitchFamily="18" charset="0"/>
            </a:rPr>
            <a:pPr algn="ctr"/>
            <a:t>65</a:t>
          </a:fld>
          <a:endParaRPr lang="en-IN" sz="1800" b="1">
            <a:solidFill>
              <a:schemeClr val="tx2">
                <a:lumMod val="75000"/>
              </a:schemeClr>
            </a:solidFill>
            <a:latin typeface="Times New Roman" panose="02020603050405020304" pitchFamily="18" charset="0"/>
            <a:cs typeface="Times New Roman" panose="020206030504050203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001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1236834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3255538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976426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533665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063589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035536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546925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1538147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558448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08745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981868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0857987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1052787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1005688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9360270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9434245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3782158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1250599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3124449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924518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18370270"/>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5933478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3213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3157677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5590301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3488429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1405191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7353211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37721623"/>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166863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6526514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17627089"/>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9322929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46977221"/>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5814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93027978"/>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97121378"/>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6520299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35695939"/>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1942590"/>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76695441"/>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20198686"/>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85221165"/>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87004054"/>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1488182"/>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0491736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3542461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73705530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582364272"/>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554270638"/>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3.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3.xml"/><Relationship Id="rId5" Type="http://schemas.openxmlformats.org/officeDocument/2006/relationships/chart" Target="../charts/chart7.xml"/><Relationship Id="rId4" Type="http://schemas.openxmlformats.org/officeDocument/2006/relationships/chart" Target="../charts/chart6.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1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8.xml"/><Relationship Id="rId5" Type="http://schemas.openxmlformats.org/officeDocument/2006/relationships/image" Target="../media/image48.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3" name="Shape 1"/>
          <p:cNvSpPr/>
          <p:nvPr/>
        </p:nvSpPr>
        <p:spPr>
          <a:xfrm>
            <a:off x="-2743200" y="4206240"/>
            <a:ext cx="5486400" cy="5486400"/>
          </a:xfrm>
          <a:prstGeom prst="ellipse">
            <a:avLst/>
          </a:prstGeom>
          <a:solidFill>
            <a:srgbClr val="1E2F5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 name="Text 2"/>
          <p:cNvSpPr/>
          <p:nvPr/>
        </p:nvSpPr>
        <p:spPr>
          <a:xfrm>
            <a:off x="822960" y="2331720"/>
            <a:ext cx="9144000" cy="411480"/>
          </a:xfrm>
          <a:prstGeom prst="rect">
            <a:avLst/>
          </a:prstGeom>
          <a:noFill/>
          <a:ln/>
        </p:spPr>
        <p:txBody>
          <a:bodyPr wrap="square" rtlCol="0" anchor="ctr"/>
          <a:lstStyle/>
          <a:p>
            <a:pPr marL="0" indent="0" algn="ctr">
              <a:buNone/>
            </a:pPr>
            <a:r>
              <a:rPr lang="en-US" sz="3000" b="1" kern="0" spc="200" dirty="0">
                <a:solidFill>
                  <a:srgbClr val="E9B44C"/>
                </a:solidFill>
                <a:latin typeface="Times New Roman" panose="02020603050405020304" pitchFamily="18" charset="0"/>
                <a:ea typeface="Arial" pitchFamily="34" charset="-122"/>
                <a:cs typeface="Times New Roman" panose="02020603050405020304" pitchFamily="18" charset="0"/>
              </a:rPr>
              <a:t>INSURANCE ANALYTICS PROJECT</a:t>
            </a:r>
            <a:endParaRPr lang="en-US" sz="3000" dirty="0">
              <a:latin typeface="Times New Roman" panose="02020603050405020304" pitchFamily="18" charset="0"/>
              <a:cs typeface="Times New Roman" panose="02020603050405020304" pitchFamily="18" charset="0"/>
            </a:endParaRPr>
          </a:p>
        </p:txBody>
      </p:sp>
      <p:sp>
        <p:nvSpPr>
          <p:cNvPr id="5" name="Text 3"/>
          <p:cNvSpPr/>
          <p:nvPr/>
        </p:nvSpPr>
        <p:spPr>
          <a:xfrm>
            <a:off x="822960" y="2788920"/>
            <a:ext cx="10424160" cy="1371600"/>
          </a:xfrm>
          <a:prstGeom prst="rect">
            <a:avLst/>
          </a:prstGeom>
          <a:noFill/>
          <a:ln/>
        </p:spPr>
        <p:txBody>
          <a:bodyPr wrap="square" rtlCol="0" anchor="ctr"/>
          <a:lstStyle/>
          <a:p>
            <a:pPr marL="0" indent="0">
              <a:buNone/>
            </a:pPr>
            <a:r>
              <a:rPr lang="en-US" sz="3000" b="1" dirty="0">
                <a:solidFill>
                  <a:srgbClr val="FFFFFF"/>
                </a:solidFill>
                <a:latin typeface="Times New Roman" panose="02020603050405020304" pitchFamily="18" charset="0"/>
                <a:ea typeface="Georgia" pitchFamily="34" charset="-122"/>
                <a:cs typeface="Times New Roman" panose="02020603050405020304" pitchFamily="18" charset="0"/>
              </a:rPr>
              <a:t>Insurance Policy Analytics Dashboard</a:t>
            </a:r>
            <a:endParaRPr lang="en-US" sz="3000" dirty="0">
              <a:latin typeface="Times New Roman" panose="02020603050405020304" pitchFamily="18" charset="0"/>
              <a:cs typeface="Times New Roman" panose="02020603050405020304" pitchFamily="18" charset="0"/>
            </a:endParaRPr>
          </a:p>
        </p:txBody>
      </p:sp>
      <p:sp>
        <p:nvSpPr>
          <p:cNvPr id="6" name="Text 4"/>
          <p:cNvSpPr/>
          <p:nvPr/>
        </p:nvSpPr>
        <p:spPr>
          <a:xfrm>
            <a:off x="822960" y="3977640"/>
            <a:ext cx="9875520" cy="548640"/>
          </a:xfrm>
          <a:prstGeom prst="rect">
            <a:avLst/>
          </a:prstGeom>
          <a:noFill/>
          <a:ln/>
        </p:spPr>
        <p:txBody>
          <a:bodyPr wrap="square" rtlCol="0" anchor="ctr"/>
          <a:lstStyle/>
          <a:p>
            <a:pPr marL="0" indent="0">
              <a:buNone/>
            </a:pPr>
            <a:r>
              <a:rPr lang="en-US" sz="1600" dirty="0">
                <a:solidFill>
                  <a:srgbClr val="C7CEDB"/>
                </a:solidFill>
                <a:latin typeface="Times New Roman" panose="02020603050405020304" pitchFamily="18" charset="0"/>
                <a:ea typeface="Arial" pitchFamily="34" charset="-122"/>
                <a:cs typeface="Times New Roman" panose="02020603050405020304" pitchFamily="18" charset="0"/>
              </a:rPr>
              <a:t>End-to-End Analysis Across Excel, SQL, Power BI &amp; Tableau</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822960" y="5074920"/>
            <a:ext cx="2148840" cy="566928"/>
          </a:xfrm>
          <a:prstGeom prst="roundRect">
            <a:avLst>
              <a:gd name="adj" fmla="val 16129"/>
            </a:avLst>
          </a:prstGeom>
          <a:solidFill>
            <a:srgbClr val="1E2F52"/>
          </a:solidFill>
          <a:ln w="12700">
            <a:solidFill>
              <a:srgbClr val="2A9D8F"/>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Text 6"/>
          <p:cNvSpPr/>
          <p:nvPr/>
        </p:nvSpPr>
        <p:spPr>
          <a:xfrm>
            <a:off x="822960" y="5074920"/>
            <a:ext cx="2148840" cy="566928"/>
          </a:xfrm>
          <a:prstGeom prst="rect">
            <a:avLst/>
          </a:prstGeom>
          <a:noFill/>
          <a:ln/>
        </p:spPr>
        <p:txBody>
          <a:bodyPr wrap="square" rtlCol="0" anchor="ctr"/>
          <a:lstStyle/>
          <a:p>
            <a:pPr marL="0" indent="0" algn="ctr">
              <a:buNone/>
            </a:pPr>
            <a:r>
              <a:rPr lang="en-US" sz="1350" b="1" dirty="0">
                <a:solidFill>
                  <a:srgbClr val="FFFFFF"/>
                </a:solidFill>
                <a:latin typeface="Times New Roman" panose="02020603050405020304" pitchFamily="18" charset="0"/>
                <a:ea typeface="Arial" pitchFamily="34" charset="-122"/>
                <a:cs typeface="Times New Roman" panose="02020603050405020304" pitchFamily="18" charset="0"/>
              </a:rPr>
              <a:t>Excel</a:t>
            </a:r>
            <a:endParaRPr lang="en-US" sz="1350" dirty="0">
              <a:latin typeface="Times New Roman" panose="02020603050405020304" pitchFamily="18" charset="0"/>
              <a:cs typeface="Times New Roman" panose="02020603050405020304" pitchFamily="18" charset="0"/>
            </a:endParaRPr>
          </a:p>
        </p:txBody>
      </p:sp>
      <p:sp>
        <p:nvSpPr>
          <p:cNvPr id="9" name="Shape 7"/>
          <p:cNvSpPr/>
          <p:nvPr/>
        </p:nvSpPr>
        <p:spPr>
          <a:xfrm>
            <a:off x="3154680" y="5074920"/>
            <a:ext cx="2148840" cy="566928"/>
          </a:xfrm>
          <a:prstGeom prst="roundRect">
            <a:avLst>
              <a:gd name="adj" fmla="val 16129"/>
            </a:avLst>
          </a:prstGeom>
          <a:solidFill>
            <a:srgbClr val="1E2F52"/>
          </a:solidFill>
          <a:ln w="12700">
            <a:solidFill>
              <a:srgbClr val="E9B44C"/>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3154680" y="5074920"/>
            <a:ext cx="2148840" cy="566928"/>
          </a:xfrm>
          <a:prstGeom prst="rect">
            <a:avLst/>
          </a:prstGeom>
          <a:noFill/>
          <a:ln/>
        </p:spPr>
        <p:txBody>
          <a:bodyPr wrap="square" rtlCol="0" anchor="ctr"/>
          <a:lstStyle/>
          <a:p>
            <a:pPr marL="0" indent="0" algn="ctr">
              <a:buNone/>
            </a:pPr>
            <a:r>
              <a:rPr lang="en-US" sz="1350" b="1" dirty="0">
                <a:solidFill>
                  <a:srgbClr val="FFFFFF"/>
                </a:solidFill>
                <a:latin typeface="Times New Roman" panose="02020603050405020304" pitchFamily="18" charset="0"/>
                <a:ea typeface="Arial" pitchFamily="34" charset="-122"/>
                <a:cs typeface="Times New Roman" panose="02020603050405020304" pitchFamily="18" charset="0"/>
              </a:rPr>
              <a:t>SQL</a:t>
            </a:r>
            <a:endParaRPr lang="en-US" sz="1350" dirty="0">
              <a:latin typeface="Times New Roman" panose="02020603050405020304" pitchFamily="18" charset="0"/>
              <a:cs typeface="Times New Roman" panose="02020603050405020304" pitchFamily="18" charset="0"/>
            </a:endParaRPr>
          </a:p>
        </p:txBody>
      </p:sp>
      <p:sp>
        <p:nvSpPr>
          <p:cNvPr id="11" name="Shape 9"/>
          <p:cNvSpPr/>
          <p:nvPr/>
        </p:nvSpPr>
        <p:spPr>
          <a:xfrm>
            <a:off x="5486400" y="5074920"/>
            <a:ext cx="2148840" cy="566928"/>
          </a:xfrm>
          <a:prstGeom prst="roundRect">
            <a:avLst>
              <a:gd name="adj" fmla="val 16129"/>
            </a:avLst>
          </a:prstGeom>
          <a:solidFill>
            <a:srgbClr val="1E2F52"/>
          </a:solidFill>
          <a:ln w="12700">
            <a:solidFill>
              <a:srgbClr val="E76F51"/>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Text 10"/>
          <p:cNvSpPr/>
          <p:nvPr/>
        </p:nvSpPr>
        <p:spPr>
          <a:xfrm>
            <a:off x="5486400" y="5074920"/>
            <a:ext cx="2148840" cy="566928"/>
          </a:xfrm>
          <a:prstGeom prst="rect">
            <a:avLst/>
          </a:prstGeom>
          <a:noFill/>
          <a:ln/>
        </p:spPr>
        <p:txBody>
          <a:bodyPr wrap="square" rtlCol="0" anchor="ctr"/>
          <a:lstStyle/>
          <a:p>
            <a:pPr marL="0" indent="0" algn="ctr">
              <a:buNone/>
            </a:pPr>
            <a:r>
              <a:rPr lang="en-US" sz="1350" b="1" dirty="0">
                <a:solidFill>
                  <a:srgbClr val="FFFFFF"/>
                </a:solidFill>
                <a:latin typeface="Times New Roman" panose="02020603050405020304" pitchFamily="18" charset="0"/>
                <a:ea typeface="Arial" pitchFamily="34" charset="-122"/>
                <a:cs typeface="Times New Roman" panose="02020603050405020304" pitchFamily="18" charset="0"/>
              </a:rPr>
              <a:t>Power BI</a:t>
            </a:r>
            <a:endParaRPr lang="en-US" sz="1350" dirty="0">
              <a:latin typeface="Times New Roman" panose="02020603050405020304" pitchFamily="18" charset="0"/>
              <a:cs typeface="Times New Roman" panose="02020603050405020304" pitchFamily="18" charset="0"/>
            </a:endParaRPr>
          </a:p>
        </p:txBody>
      </p:sp>
      <p:sp>
        <p:nvSpPr>
          <p:cNvPr id="13" name="Shape 11"/>
          <p:cNvSpPr/>
          <p:nvPr/>
        </p:nvSpPr>
        <p:spPr>
          <a:xfrm>
            <a:off x="7818120" y="5074920"/>
            <a:ext cx="2148840" cy="566928"/>
          </a:xfrm>
          <a:prstGeom prst="roundRect">
            <a:avLst>
              <a:gd name="adj" fmla="val 16129"/>
            </a:avLst>
          </a:prstGeom>
          <a:solidFill>
            <a:srgbClr val="1E2F52"/>
          </a:solidFill>
          <a:ln w="12700">
            <a:solidFill>
              <a:srgbClr val="6FA8DC"/>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2"/>
          <p:cNvSpPr/>
          <p:nvPr/>
        </p:nvSpPr>
        <p:spPr>
          <a:xfrm>
            <a:off x="7818120" y="5074920"/>
            <a:ext cx="2148840" cy="566928"/>
          </a:xfrm>
          <a:prstGeom prst="rect">
            <a:avLst/>
          </a:prstGeom>
          <a:noFill/>
          <a:ln/>
        </p:spPr>
        <p:txBody>
          <a:bodyPr wrap="square" rtlCol="0" anchor="ctr"/>
          <a:lstStyle/>
          <a:p>
            <a:pPr marL="0" indent="0" algn="ctr">
              <a:buNone/>
            </a:pPr>
            <a:r>
              <a:rPr lang="en-US" sz="1350" b="1" dirty="0">
                <a:solidFill>
                  <a:srgbClr val="FFFFFF"/>
                </a:solidFill>
                <a:latin typeface="Times New Roman" panose="02020603050405020304" pitchFamily="18" charset="0"/>
                <a:ea typeface="Arial" pitchFamily="34" charset="-122"/>
                <a:cs typeface="Times New Roman" panose="02020603050405020304" pitchFamily="18" charset="0"/>
              </a:rPr>
              <a:t>Tableau</a:t>
            </a:r>
            <a:endParaRPr lang="en-US" sz="1350" dirty="0">
              <a:latin typeface="Times New Roman" panose="02020603050405020304" pitchFamily="18" charset="0"/>
              <a:cs typeface="Times New Roman" panose="02020603050405020304" pitchFamily="18" charset="0"/>
            </a:endParaRPr>
          </a:p>
        </p:txBody>
      </p:sp>
      <p:sp>
        <p:nvSpPr>
          <p:cNvPr id="15" name="Text 13"/>
          <p:cNvSpPr/>
          <p:nvPr/>
        </p:nvSpPr>
        <p:spPr>
          <a:xfrm>
            <a:off x="822960" y="5824728"/>
            <a:ext cx="7315200" cy="365760"/>
          </a:xfrm>
          <a:prstGeom prst="rect">
            <a:avLst/>
          </a:prstGeom>
          <a:noFill/>
          <a:ln/>
        </p:spPr>
        <p:txBody>
          <a:bodyPr wrap="square" rtlCol="0" anchor="ctr"/>
          <a:lstStyle/>
          <a:p>
            <a:pPr marL="0" indent="0">
              <a:buNone/>
            </a:pPr>
            <a:r>
              <a:rPr lang="en-US" sz="1150" dirty="0">
                <a:solidFill>
                  <a:srgbClr val="8A93A8"/>
                </a:solidFill>
                <a:latin typeface="Times New Roman" panose="02020603050405020304" pitchFamily="18" charset="0"/>
                <a:ea typeface="Arial" pitchFamily="34" charset="-122"/>
                <a:cs typeface="Times New Roman" panose="02020603050405020304" pitchFamily="18" charset="0"/>
              </a:rPr>
              <a:t>5,000 Customers  •  5,000 Policies  •  5,000 Claims Records</a:t>
            </a:r>
            <a:endParaRPr lang="en-US" sz="115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822960" y="6322240"/>
            <a:ext cx="10424160" cy="307777"/>
          </a:xfrm>
          <a:prstGeom prst="rect">
            <a:avLst/>
          </a:prstGeom>
          <a:noFill/>
        </p:spPr>
        <p:txBody>
          <a:bodyPr wrap="square">
            <a:spAutoFit/>
          </a:bodyPr>
          <a:lstStyle/>
          <a:p>
            <a:r>
              <a:rPr lang="en-IN" sz="1400" b="1" dirty="0">
                <a:solidFill>
                  <a:srgbClr val="E9B44C"/>
                </a:solidFill>
                <a:latin typeface="Times New Roman" panose="02020603050405020304" pitchFamily="18" charset="0"/>
                <a:cs typeface="Times New Roman" panose="02020603050405020304" pitchFamily="18" charset="0"/>
              </a:rPr>
              <a:t>Team :- </a:t>
            </a:r>
            <a:r>
              <a:rPr lang="en-IN" sz="1400" dirty="0">
                <a:solidFill>
                  <a:srgbClr val="C7CEDB"/>
                </a:solidFill>
                <a:latin typeface="Times New Roman" panose="02020603050405020304" pitchFamily="18" charset="0"/>
                <a:cs typeface="Times New Roman" panose="02020603050405020304" pitchFamily="18" charset="0"/>
              </a:rPr>
              <a:t> • </a:t>
            </a:r>
            <a:r>
              <a:rPr lang="en-IN" sz="1400" b="1" dirty="0">
                <a:solidFill>
                  <a:srgbClr val="E9B44C"/>
                </a:solidFill>
                <a:latin typeface="Times New Roman" panose="02020603050405020304" pitchFamily="18" charset="0"/>
                <a:cs typeface="Times New Roman" panose="02020603050405020304" pitchFamily="18" charset="0"/>
              </a:rPr>
              <a:t> </a:t>
            </a:r>
            <a:r>
              <a:rPr lang="en-IN" sz="1400" dirty="0">
                <a:solidFill>
                  <a:srgbClr val="C7CEDB"/>
                </a:solidFill>
                <a:latin typeface="Times New Roman" panose="02020603050405020304" pitchFamily="18" charset="0"/>
                <a:cs typeface="Times New Roman" panose="02020603050405020304" pitchFamily="18" charset="0"/>
              </a:rPr>
              <a:t>Guvva Mahesh  •  Shaik Asifa Kousar  •   P Shirisha  •   B.Sai Ruthwik  •  Kola Shivani  •  Karan  •  Deva Jeevan Kumar Reddy</a:t>
            </a:r>
            <a:endParaRPr sz="1400" dirty="0">
              <a:solidFill>
                <a:srgbClr val="C7CEDB"/>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1E2F5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Shape 1"/>
          <p:cNvSpPr/>
          <p:nvPr/>
        </p:nvSpPr>
        <p:spPr>
          <a:xfrm>
            <a:off x="-2377440" y="4754880"/>
            <a:ext cx="4572000" cy="4572000"/>
          </a:xfrm>
          <a:prstGeom prst="ellipse">
            <a:avLst/>
          </a:prstGeom>
          <a:solidFill>
            <a:srgbClr val="1E2F5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 name="Text 2"/>
          <p:cNvSpPr/>
          <p:nvPr/>
        </p:nvSpPr>
        <p:spPr>
          <a:xfrm>
            <a:off x="822960" y="2697480"/>
            <a:ext cx="10424160" cy="1554480"/>
          </a:xfrm>
          <a:prstGeom prst="rect">
            <a:avLst/>
          </a:prstGeom>
          <a:noFill/>
          <a:ln/>
        </p:spPr>
        <p:txBody>
          <a:bodyPr wrap="square" rtlCol="0" anchor="ctr"/>
          <a:lstStyle/>
          <a:p>
            <a:pPr marL="0" indent="0">
              <a:buNone/>
            </a:pPr>
            <a:endParaRPr lang="en-US" sz="4000" dirty="0">
              <a:latin typeface="Times New Roman" panose="02020603050405020304" pitchFamily="18" charset="0"/>
              <a:cs typeface="Times New Roman" panose="02020603050405020304" pitchFamily="18" charset="0"/>
            </a:endParaRPr>
          </a:p>
        </p:txBody>
      </p:sp>
      <p:sp>
        <p:nvSpPr>
          <p:cNvPr id="5" name="Text 3"/>
          <p:cNvSpPr/>
          <p:nvPr/>
        </p:nvSpPr>
        <p:spPr>
          <a:xfrm>
            <a:off x="822960" y="2331720"/>
            <a:ext cx="9144000" cy="457200"/>
          </a:xfrm>
          <a:prstGeom prst="rect">
            <a:avLst/>
          </a:prstGeom>
          <a:noFill/>
          <a:ln/>
        </p:spPr>
        <p:txBody>
          <a:bodyPr wrap="square" rtlCol="0" anchor="ctr"/>
          <a:lstStyle/>
          <a:p>
            <a:pPr marL="0" indent="0">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Domain: Insurance Analytics</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822960" y="2971800"/>
            <a:ext cx="2514600" cy="2377440"/>
          </a:xfrm>
          <a:prstGeom prst="roundRect">
            <a:avLst>
              <a:gd name="adj" fmla="val 4615"/>
            </a:avLst>
          </a:prstGeom>
          <a:solidFill>
            <a:srgbClr val="1E2F52"/>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7" name="Shape 5"/>
          <p:cNvSpPr/>
          <p:nvPr/>
        </p:nvSpPr>
        <p:spPr>
          <a:xfrm>
            <a:off x="1097280" y="3291840"/>
            <a:ext cx="502920" cy="502920"/>
          </a:xfrm>
          <a:prstGeom prst="roundRect">
            <a:avLst>
              <a:gd name="adj" fmla="val 18182"/>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8" name="Text 6"/>
          <p:cNvSpPr/>
          <p:nvPr/>
        </p:nvSpPr>
        <p:spPr>
          <a:xfrm>
            <a:off x="1097280" y="3977640"/>
            <a:ext cx="2011680" cy="365760"/>
          </a:xfrm>
          <a:prstGeom prst="rect">
            <a:avLst/>
          </a:prstGeom>
          <a:noFill/>
          <a:ln/>
        </p:spPr>
        <p:txBody>
          <a:bodyPr wrap="square" rtlCol="0" anchor="ctr"/>
          <a:lstStyle/>
          <a:p>
            <a:pPr marL="0" indent="0">
              <a:buNone/>
            </a:pPr>
            <a:r>
              <a:rPr lang="en-US" sz="1700" b="1" dirty="0">
                <a:solidFill>
                  <a:srgbClr val="FFFFFF"/>
                </a:solidFill>
                <a:latin typeface="Times New Roman" panose="02020603050405020304" pitchFamily="18" charset="0"/>
                <a:ea typeface="Georgia" pitchFamily="34" charset="-122"/>
                <a:cs typeface="Times New Roman" panose="02020603050405020304" pitchFamily="18" charset="0"/>
              </a:rPr>
              <a:t>Excel</a:t>
            </a:r>
            <a:endParaRPr lang="en-US" sz="1700" dirty="0">
              <a:latin typeface="Times New Roman" panose="02020603050405020304" pitchFamily="18" charset="0"/>
              <a:cs typeface="Times New Roman" panose="02020603050405020304" pitchFamily="18" charset="0"/>
            </a:endParaRPr>
          </a:p>
        </p:txBody>
      </p:sp>
      <p:sp>
        <p:nvSpPr>
          <p:cNvPr id="9" name="Text 7"/>
          <p:cNvSpPr/>
          <p:nvPr/>
        </p:nvSpPr>
        <p:spPr>
          <a:xfrm>
            <a:off x="1097280" y="4370832"/>
            <a:ext cx="2011680" cy="822960"/>
          </a:xfrm>
          <a:prstGeom prst="rect">
            <a:avLst/>
          </a:prstGeom>
          <a:noFill/>
          <a:ln/>
        </p:spPr>
        <p:txBody>
          <a:bodyPr wrap="square" rtlCol="0" anchor="ctr"/>
          <a:lstStyle/>
          <a:p>
            <a:pPr marL="0" indent="0">
              <a:buNone/>
            </a:pPr>
            <a:r>
              <a:rPr lang="en-US" sz="1400" dirty="0">
                <a:solidFill>
                  <a:srgbClr val="C7CEDB"/>
                </a:solidFill>
                <a:latin typeface="Times New Roman" panose="02020603050405020304" pitchFamily="18" charset="0"/>
                <a:ea typeface="Arial" pitchFamily="34" charset="-122"/>
                <a:cs typeface="Times New Roman" panose="02020603050405020304" pitchFamily="18" charset="0"/>
              </a:rPr>
              <a:t>Data cleaning, pivot analysis &amp; KPI cards</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3520440" y="2971800"/>
            <a:ext cx="2514600" cy="2377440"/>
          </a:xfrm>
          <a:prstGeom prst="roundRect">
            <a:avLst>
              <a:gd name="adj" fmla="val 4615"/>
            </a:avLst>
          </a:prstGeom>
          <a:solidFill>
            <a:srgbClr val="1E2F52"/>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1" name="Shape 9"/>
          <p:cNvSpPr/>
          <p:nvPr/>
        </p:nvSpPr>
        <p:spPr>
          <a:xfrm>
            <a:off x="3794760" y="3291840"/>
            <a:ext cx="502920" cy="502920"/>
          </a:xfrm>
          <a:prstGeom prst="roundRect">
            <a:avLst>
              <a:gd name="adj" fmla="val 18182"/>
            </a:avLst>
          </a:prstGeom>
          <a:solidFill>
            <a:srgbClr val="E9B44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2" name="Text 10"/>
          <p:cNvSpPr/>
          <p:nvPr/>
        </p:nvSpPr>
        <p:spPr>
          <a:xfrm>
            <a:off x="3794760" y="3977640"/>
            <a:ext cx="2011680" cy="365760"/>
          </a:xfrm>
          <a:prstGeom prst="rect">
            <a:avLst/>
          </a:prstGeom>
          <a:noFill/>
          <a:ln/>
        </p:spPr>
        <p:txBody>
          <a:bodyPr wrap="square" rtlCol="0" anchor="ctr"/>
          <a:lstStyle/>
          <a:p>
            <a:pPr marL="0" indent="0">
              <a:buNone/>
            </a:pPr>
            <a:r>
              <a:rPr lang="en-US" sz="1700" b="1" dirty="0">
                <a:solidFill>
                  <a:srgbClr val="FFFFFF"/>
                </a:solidFill>
                <a:latin typeface="Times New Roman" panose="02020603050405020304" pitchFamily="18" charset="0"/>
                <a:ea typeface="Georgia" pitchFamily="34" charset="-122"/>
                <a:cs typeface="Times New Roman" panose="02020603050405020304" pitchFamily="18" charset="0"/>
              </a:rPr>
              <a:t>SQL</a:t>
            </a:r>
            <a:endParaRPr lang="en-US" sz="1700" dirty="0">
              <a:latin typeface="Times New Roman" panose="02020603050405020304" pitchFamily="18" charset="0"/>
              <a:cs typeface="Times New Roman" panose="02020603050405020304" pitchFamily="18" charset="0"/>
            </a:endParaRPr>
          </a:p>
        </p:txBody>
      </p:sp>
      <p:sp>
        <p:nvSpPr>
          <p:cNvPr id="13" name="Text 11"/>
          <p:cNvSpPr/>
          <p:nvPr/>
        </p:nvSpPr>
        <p:spPr>
          <a:xfrm>
            <a:off x="3794760" y="4370832"/>
            <a:ext cx="2011680" cy="822960"/>
          </a:xfrm>
          <a:prstGeom prst="rect">
            <a:avLst/>
          </a:prstGeom>
          <a:noFill/>
          <a:ln/>
        </p:spPr>
        <p:txBody>
          <a:bodyPr wrap="square" rtlCol="0" anchor="ctr"/>
          <a:lstStyle/>
          <a:p>
            <a:pPr marL="0" indent="0">
              <a:buNone/>
            </a:pPr>
            <a:r>
              <a:rPr lang="en-US" sz="1400" dirty="0">
                <a:solidFill>
                  <a:srgbClr val="C7CEDB"/>
                </a:solidFill>
                <a:latin typeface="Times New Roman" panose="02020603050405020304" pitchFamily="18" charset="0"/>
                <a:ea typeface="Arial" pitchFamily="34" charset="-122"/>
                <a:cs typeface="Times New Roman" panose="02020603050405020304" pitchFamily="18" charset="0"/>
              </a:rPr>
              <a:t>Query-based</a:t>
            </a:r>
            <a:r>
              <a:rPr lang="en-US" sz="1100" dirty="0">
                <a:solidFill>
                  <a:srgbClr val="C7CEDB"/>
                </a:solidFill>
                <a:latin typeface="Times New Roman" panose="02020603050405020304" pitchFamily="18" charset="0"/>
                <a:ea typeface="Arial" pitchFamily="34" charset="-122"/>
                <a:cs typeface="Times New Roman" panose="02020603050405020304" pitchFamily="18" charset="0"/>
              </a:rPr>
              <a:t> KPI extraction &amp; validation</a:t>
            </a:r>
            <a:endParaRPr lang="en-US" sz="1100" dirty="0">
              <a:latin typeface="Times New Roman" panose="02020603050405020304" pitchFamily="18" charset="0"/>
              <a:cs typeface="Times New Roman" panose="02020603050405020304" pitchFamily="18" charset="0"/>
            </a:endParaRPr>
          </a:p>
        </p:txBody>
      </p:sp>
      <p:sp>
        <p:nvSpPr>
          <p:cNvPr id="14" name="Shape 12"/>
          <p:cNvSpPr/>
          <p:nvPr/>
        </p:nvSpPr>
        <p:spPr>
          <a:xfrm>
            <a:off x="6217920" y="2971800"/>
            <a:ext cx="2514600" cy="2377440"/>
          </a:xfrm>
          <a:prstGeom prst="roundRect">
            <a:avLst>
              <a:gd name="adj" fmla="val 4615"/>
            </a:avLst>
          </a:prstGeom>
          <a:solidFill>
            <a:srgbClr val="1E2F52"/>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5" name="Shape 13"/>
          <p:cNvSpPr/>
          <p:nvPr/>
        </p:nvSpPr>
        <p:spPr>
          <a:xfrm>
            <a:off x="6492240" y="3291840"/>
            <a:ext cx="502920" cy="502920"/>
          </a:xfrm>
          <a:prstGeom prst="roundRect">
            <a:avLst>
              <a:gd name="adj" fmla="val 18182"/>
            </a:avLst>
          </a:prstGeom>
          <a:solidFill>
            <a:srgbClr val="E76F5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6" name="Text 14"/>
          <p:cNvSpPr/>
          <p:nvPr/>
        </p:nvSpPr>
        <p:spPr>
          <a:xfrm>
            <a:off x="6492240" y="3977640"/>
            <a:ext cx="2011680" cy="365760"/>
          </a:xfrm>
          <a:prstGeom prst="rect">
            <a:avLst/>
          </a:prstGeom>
          <a:noFill/>
          <a:ln/>
        </p:spPr>
        <p:txBody>
          <a:bodyPr wrap="square" rtlCol="0" anchor="ctr"/>
          <a:lstStyle/>
          <a:p>
            <a:pPr marL="0" indent="0">
              <a:buNone/>
            </a:pPr>
            <a:r>
              <a:rPr lang="en-US" sz="1700" b="1" dirty="0">
                <a:solidFill>
                  <a:srgbClr val="FFFFFF"/>
                </a:solidFill>
                <a:latin typeface="Times New Roman" panose="02020603050405020304" pitchFamily="18" charset="0"/>
                <a:ea typeface="Georgia" pitchFamily="34" charset="-122"/>
                <a:cs typeface="Times New Roman" panose="02020603050405020304" pitchFamily="18" charset="0"/>
              </a:rPr>
              <a:t>Power BI</a:t>
            </a:r>
            <a:endParaRPr lang="en-US" sz="1700" dirty="0">
              <a:latin typeface="Times New Roman" panose="02020603050405020304" pitchFamily="18" charset="0"/>
              <a:cs typeface="Times New Roman" panose="02020603050405020304" pitchFamily="18" charset="0"/>
            </a:endParaRPr>
          </a:p>
        </p:txBody>
      </p:sp>
      <p:sp>
        <p:nvSpPr>
          <p:cNvPr id="17" name="Text 15"/>
          <p:cNvSpPr/>
          <p:nvPr/>
        </p:nvSpPr>
        <p:spPr>
          <a:xfrm>
            <a:off x="6492240" y="4370832"/>
            <a:ext cx="2011680" cy="822960"/>
          </a:xfrm>
          <a:prstGeom prst="rect">
            <a:avLst/>
          </a:prstGeom>
          <a:noFill/>
          <a:ln/>
        </p:spPr>
        <p:txBody>
          <a:bodyPr wrap="square" rtlCol="0" anchor="ctr"/>
          <a:lstStyle/>
          <a:p>
            <a:pPr marL="0" indent="0">
              <a:buNone/>
            </a:pPr>
            <a:r>
              <a:rPr lang="en-US" sz="1400" dirty="0">
                <a:solidFill>
                  <a:srgbClr val="C7CEDB"/>
                </a:solidFill>
                <a:latin typeface="Times New Roman" panose="02020603050405020304" pitchFamily="18" charset="0"/>
                <a:ea typeface="Arial" pitchFamily="34" charset="-122"/>
                <a:cs typeface="Times New Roman" panose="02020603050405020304" pitchFamily="18" charset="0"/>
              </a:rPr>
              <a:t>Interactive dashboard &amp; DAX measures</a:t>
            </a:r>
            <a:endParaRPr lang="en-US" sz="1400" dirty="0">
              <a:latin typeface="Times New Roman" panose="02020603050405020304" pitchFamily="18" charset="0"/>
              <a:cs typeface="Times New Roman" panose="02020603050405020304" pitchFamily="18" charset="0"/>
            </a:endParaRPr>
          </a:p>
        </p:txBody>
      </p:sp>
      <p:sp>
        <p:nvSpPr>
          <p:cNvPr id="18" name="Shape 16"/>
          <p:cNvSpPr/>
          <p:nvPr/>
        </p:nvSpPr>
        <p:spPr>
          <a:xfrm>
            <a:off x="8915400" y="2971800"/>
            <a:ext cx="2514600" cy="2377440"/>
          </a:xfrm>
          <a:prstGeom prst="roundRect">
            <a:avLst>
              <a:gd name="adj" fmla="val 4615"/>
            </a:avLst>
          </a:prstGeom>
          <a:solidFill>
            <a:srgbClr val="1E2F52"/>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9" name="Shape 17"/>
          <p:cNvSpPr/>
          <p:nvPr/>
        </p:nvSpPr>
        <p:spPr>
          <a:xfrm>
            <a:off x="9189720" y="3291840"/>
            <a:ext cx="502920" cy="502920"/>
          </a:xfrm>
          <a:prstGeom prst="roundRect">
            <a:avLst>
              <a:gd name="adj" fmla="val 18182"/>
            </a:avLst>
          </a:prstGeom>
          <a:solidFill>
            <a:srgbClr val="6FA8D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0" name="Text 18"/>
          <p:cNvSpPr/>
          <p:nvPr/>
        </p:nvSpPr>
        <p:spPr>
          <a:xfrm>
            <a:off x="9189720" y="3977640"/>
            <a:ext cx="2011680" cy="365760"/>
          </a:xfrm>
          <a:prstGeom prst="rect">
            <a:avLst/>
          </a:prstGeom>
          <a:noFill/>
          <a:ln/>
        </p:spPr>
        <p:txBody>
          <a:bodyPr wrap="square" rtlCol="0" anchor="ctr"/>
          <a:lstStyle/>
          <a:p>
            <a:pPr marL="0" indent="0">
              <a:buNone/>
            </a:pPr>
            <a:r>
              <a:rPr lang="en-US" sz="1700" b="1" dirty="0">
                <a:solidFill>
                  <a:srgbClr val="FFFFFF"/>
                </a:solidFill>
                <a:latin typeface="Times New Roman" panose="02020603050405020304" pitchFamily="18" charset="0"/>
                <a:ea typeface="Georgia" pitchFamily="34" charset="-122"/>
                <a:cs typeface="Times New Roman" panose="02020603050405020304" pitchFamily="18" charset="0"/>
              </a:rPr>
              <a:t>Tableau</a:t>
            </a:r>
            <a:endParaRPr lang="en-US" sz="1700" dirty="0">
              <a:latin typeface="Times New Roman" panose="02020603050405020304" pitchFamily="18" charset="0"/>
              <a:cs typeface="Times New Roman" panose="02020603050405020304" pitchFamily="18" charset="0"/>
            </a:endParaRPr>
          </a:p>
        </p:txBody>
      </p:sp>
      <p:sp>
        <p:nvSpPr>
          <p:cNvPr id="21" name="Text 19"/>
          <p:cNvSpPr/>
          <p:nvPr/>
        </p:nvSpPr>
        <p:spPr>
          <a:xfrm>
            <a:off x="9189720" y="4370832"/>
            <a:ext cx="2011680" cy="822960"/>
          </a:xfrm>
          <a:prstGeom prst="rect">
            <a:avLst/>
          </a:prstGeom>
          <a:noFill/>
          <a:ln/>
        </p:spPr>
        <p:txBody>
          <a:bodyPr wrap="square" rtlCol="0" anchor="ctr"/>
          <a:lstStyle/>
          <a:p>
            <a:pPr marL="0" indent="0">
              <a:buNone/>
            </a:pPr>
            <a:r>
              <a:rPr lang="en-US" sz="1400" dirty="0">
                <a:solidFill>
                  <a:srgbClr val="C7CEDB"/>
                </a:solidFill>
                <a:latin typeface="Times New Roman" panose="02020603050405020304" pitchFamily="18" charset="0"/>
                <a:ea typeface="Arial" pitchFamily="34" charset="-122"/>
                <a:cs typeface="Times New Roman" panose="02020603050405020304" pitchFamily="18" charset="0"/>
              </a:rPr>
              <a:t>Visual analytics &amp; trend storytelling</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1E2F5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Shape 1"/>
          <p:cNvSpPr/>
          <p:nvPr/>
        </p:nvSpPr>
        <p:spPr>
          <a:xfrm>
            <a:off x="-2377440" y="4754880"/>
            <a:ext cx="4572000" cy="4572000"/>
          </a:xfrm>
          <a:prstGeom prst="ellipse">
            <a:avLst/>
          </a:prstGeom>
          <a:solidFill>
            <a:srgbClr val="1E2F5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 name="Text 2"/>
          <p:cNvSpPr/>
          <p:nvPr/>
        </p:nvSpPr>
        <p:spPr>
          <a:xfrm>
            <a:off x="822960" y="-241738"/>
            <a:ext cx="10424160" cy="3983421"/>
          </a:xfrm>
          <a:prstGeom prst="rect">
            <a:avLst/>
          </a:prstGeom>
          <a:noFill/>
          <a:ln/>
        </p:spPr>
        <p:txBody>
          <a:bodyPr wrap="square" rtlCol="0" anchor="ctr"/>
          <a:lstStyle/>
          <a:p>
            <a:pPr marL="0" indent="0">
              <a:buNone/>
            </a:pPr>
            <a:r>
              <a:rPr lang="en-US" sz="4000" b="1" dirty="0">
                <a:solidFill>
                  <a:srgbClr val="FFFFFF"/>
                </a:solidFill>
                <a:latin typeface="Times New Roman" panose="02020603050405020304" pitchFamily="18" charset="0"/>
                <a:ea typeface="Georgia" pitchFamily="34" charset="-122"/>
                <a:cs typeface="Times New Roman" panose="02020603050405020304" pitchFamily="18" charset="0"/>
              </a:rPr>
              <a:t>Agenda</a:t>
            </a:r>
            <a:endParaRPr lang="en-US" sz="4000" dirty="0">
              <a:latin typeface="Times New Roman" panose="02020603050405020304" pitchFamily="18" charset="0"/>
              <a:cs typeface="Times New Roman" panose="02020603050405020304" pitchFamily="18" charset="0"/>
            </a:endParaRPr>
          </a:p>
        </p:txBody>
      </p:sp>
      <p:sp>
        <p:nvSpPr>
          <p:cNvPr id="5" name="Text 3"/>
          <p:cNvSpPr/>
          <p:nvPr/>
        </p:nvSpPr>
        <p:spPr>
          <a:xfrm>
            <a:off x="822960" y="233172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01</a:t>
            </a:r>
            <a:endParaRPr lang="en-US" sz="2600" dirty="0">
              <a:latin typeface="Times New Roman" panose="02020603050405020304" pitchFamily="18" charset="0"/>
              <a:cs typeface="Times New Roman" panose="02020603050405020304" pitchFamily="18" charset="0"/>
            </a:endParaRPr>
          </a:p>
        </p:txBody>
      </p:sp>
      <p:sp>
        <p:nvSpPr>
          <p:cNvPr id="6" name="Text 4"/>
          <p:cNvSpPr/>
          <p:nvPr/>
        </p:nvSpPr>
        <p:spPr>
          <a:xfrm>
            <a:off x="1691640" y="242316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Introduction &amp; Project Goal</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822960" y="329184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02</a:t>
            </a:r>
            <a:endParaRPr lang="en-US" sz="2600" dirty="0">
              <a:latin typeface="Times New Roman" panose="02020603050405020304" pitchFamily="18" charset="0"/>
              <a:cs typeface="Times New Roman" panose="02020603050405020304" pitchFamily="18" charset="0"/>
            </a:endParaRPr>
          </a:p>
        </p:txBody>
      </p:sp>
      <p:sp>
        <p:nvSpPr>
          <p:cNvPr id="8" name="Text 6"/>
          <p:cNvSpPr/>
          <p:nvPr/>
        </p:nvSpPr>
        <p:spPr>
          <a:xfrm>
            <a:off x="1691640" y="338328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Dataset Description &amp; Schema</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822960" y="425196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03</a:t>
            </a:r>
            <a:endParaRPr lang="en-US" sz="2600" dirty="0">
              <a:latin typeface="Times New Roman" panose="02020603050405020304" pitchFamily="18" charset="0"/>
              <a:cs typeface="Times New Roman" panose="02020603050405020304" pitchFamily="18" charset="0"/>
            </a:endParaRPr>
          </a:p>
        </p:txBody>
      </p:sp>
      <p:sp>
        <p:nvSpPr>
          <p:cNvPr id="10" name="Text 8"/>
          <p:cNvSpPr/>
          <p:nvPr/>
        </p:nvSpPr>
        <p:spPr>
          <a:xfrm>
            <a:off x="1691640" y="434340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Key Performance Indicators</a:t>
            </a:r>
            <a:endParaRPr lang="en-US" sz="1500" dirty="0">
              <a:latin typeface="Times New Roman" panose="02020603050405020304" pitchFamily="18" charset="0"/>
              <a:cs typeface="Times New Roman" panose="02020603050405020304" pitchFamily="18" charset="0"/>
            </a:endParaRPr>
          </a:p>
        </p:txBody>
      </p:sp>
      <p:sp>
        <p:nvSpPr>
          <p:cNvPr id="11" name="Text 9"/>
          <p:cNvSpPr/>
          <p:nvPr/>
        </p:nvSpPr>
        <p:spPr>
          <a:xfrm>
            <a:off x="822960" y="521208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04</a:t>
            </a:r>
            <a:endParaRPr lang="en-US" sz="2600" dirty="0">
              <a:latin typeface="Times New Roman" panose="02020603050405020304" pitchFamily="18" charset="0"/>
              <a:cs typeface="Times New Roman" panose="02020603050405020304" pitchFamily="18" charset="0"/>
            </a:endParaRPr>
          </a:p>
        </p:txBody>
      </p:sp>
      <p:sp>
        <p:nvSpPr>
          <p:cNvPr id="12" name="Text 10"/>
          <p:cNvSpPr/>
          <p:nvPr/>
        </p:nvSpPr>
        <p:spPr>
          <a:xfrm>
            <a:off x="1691640" y="530352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Excel Dashboard Overview</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6217920" y="233172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05</a:t>
            </a:r>
            <a:endParaRPr lang="en-US" sz="2600" dirty="0">
              <a:latin typeface="Times New Roman" panose="02020603050405020304" pitchFamily="18" charset="0"/>
              <a:cs typeface="Times New Roman" panose="02020603050405020304" pitchFamily="18" charset="0"/>
            </a:endParaRPr>
          </a:p>
        </p:txBody>
      </p:sp>
      <p:sp>
        <p:nvSpPr>
          <p:cNvPr id="14" name="Text 12"/>
          <p:cNvSpPr/>
          <p:nvPr/>
        </p:nvSpPr>
        <p:spPr>
          <a:xfrm>
            <a:off x="7086600" y="242316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Power BI Dashboard Overview</a:t>
            </a:r>
            <a:endParaRPr lang="en-US" sz="1500" dirty="0">
              <a:latin typeface="Times New Roman" panose="02020603050405020304" pitchFamily="18" charset="0"/>
              <a:cs typeface="Times New Roman" panose="02020603050405020304" pitchFamily="18" charset="0"/>
            </a:endParaRPr>
          </a:p>
        </p:txBody>
      </p:sp>
      <p:sp>
        <p:nvSpPr>
          <p:cNvPr id="15" name="Text 13"/>
          <p:cNvSpPr/>
          <p:nvPr/>
        </p:nvSpPr>
        <p:spPr>
          <a:xfrm>
            <a:off x="6217920" y="329184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06</a:t>
            </a:r>
            <a:endParaRPr lang="en-US" sz="2600" dirty="0">
              <a:latin typeface="Times New Roman" panose="02020603050405020304" pitchFamily="18" charset="0"/>
              <a:cs typeface="Times New Roman" panose="02020603050405020304" pitchFamily="18" charset="0"/>
            </a:endParaRPr>
          </a:p>
        </p:txBody>
      </p:sp>
      <p:sp>
        <p:nvSpPr>
          <p:cNvPr id="16" name="Text 14"/>
          <p:cNvSpPr/>
          <p:nvPr/>
        </p:nvSpPr>
        <p:spPr>
          <a:xfrm>
            <a:off x="7086600" y="338328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Tableau Dashboard Overview</a:t>
            </a:r>
            <a:endParaRPr lang="en-US" sz="1500" dirty="0">
              <a:latin typeface="Times New Roman" panose="02020603050405020304" pitchFamily="18" charset="0"/>
              <a:cs typeface="Times New Roman" panose="02020603050405020304" pitchFamily="18" charset="0"/>
            </a:endParaRPr>
          </a:p>
        </p:txBody>
      </p:sp>
      <p:sp>
        <p:nvSpPr>
          <p:cNvPr id="17" name="Text 15"/>
          <p:cNvSpPr/>
          <p:nvPr/>
        </p:nvSpPr>
        <p:spPr>
          <a:xfrm>
            <a:off x="6217920" y="425196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07</a:t>
            </a:r>
            <a:endParaRPr lang="en-US" sz="2600" dirty="0">
              <a:latin typeface="Times New Roman" panose="02020603050405020304" pitchFamily="18" charset="0"/>
              <a:cs typeface="Times New Roman" panose="02020603050405020304" pitchFamily="18" charset="0"/>
            </a:endParaRPr>
          </a:p>
        </p:txBody>
      </p:sp>
      <p:sp>
        <p:nvSpPr>
          <p:cNvPr id="18" name="Text 16"/>
          <p:cNvSpPr/>
          <p:nvPr/>
        </p:nvSpPr>
        <p:spPr>
          <a:xfrm>
            <a:off x="7086600" y="434340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SQL Queries</a:t>
            </a:r>
            <a:endParaRPr lang="en-US" sz="1500" dirty="0">
              <a:latin typeface="Times New Roman" panose="02020603050405020304" pitchFamily="18" charset="0"/>
              <a:cs typeface="Times New Roman" panose="02020603050405020304" pitchFamily="18" charset="0"/>
            </a:endParaRPr>
          </a:p>
        </p:txBody>
      </p:sp>
      <p:sp>
        <p:nvSpPr>
          <p:cNvPr id="19" name="Text 17"/>
          <p:cNvSpPr/>
          <p:nvPr/>
        </p:nvSpPr>
        <p:spPr>
          <a:xfrm>
            <a:off x="6217920" y="5212080"/>
            <a:ext cx="822960" cy="731520"/>
          </a:xfrm>
          <a:prstGeom prst="rect">
            <a:avLst/>
          </a:prstGeom>
          <a:noFill/>
          <a:ln/>
        </p:spPr>
        <p:txBody>
          <a:bodyPr wrap="square" rtlCol="0" anchor="ctr"/>
          <a:lstStyle/>
          <a:p>
            <a:pPr marL="0" indent="0">
              <a:buNone/>
            </a:pPr>
            <a:r>
              <a:rPr lang="en-US" sz="2600" b="1" dirty="0">
                <a:solidFill>
                  <a:srgbClr val="E9B44C"/>
                </a:solidFill>
                <a:latin typeface="Times New Roman" panose="02020603050405020304" pitchFamily="18" charset="0"/>
                <a:ea typeface="Georgia" pitchFamily="34" charset="-122"/>
                <a:cs typeface="Times New Roman" panose="02020603050405020304" pitchFamily="18" charset="0"/>
              </a:rPr>
              <a:t>08</a:t>
            </a:r>
            <a:endParaRPr lang="en-US" sz="2600" dirty="0">
              <a:latin typeface="Times New Roman" panose="02020603050405020304" pitchFamily="18" charset="0"/>
              <a:cs typeface="Times New Roman" panose="02020603050405020304" pitchFamily="18" charset="0"/>
            </a:endParaRPr>
          </a:p>
        </p:txBody>
      </p:sp>
      <p:sp>
        <p:nvSpPr>
          <p:cNvPr id="20" name="Text 18"/>
          <p:cNvSpPr/>
          <p:nvPr/>
        </p:nvSpPr>
        <p:spPr>
          <a:xfrm>
            <a:off x="7086600" y="5303520"/>
            <a:ext cx="4297680" cy="548640"/>
          </a:xfrm>
          <a:prstGeom prst="rect">
            <a:avLst/>
          </a:prstGeom>
          <a:noFill/>
          <a:ln/>
        </p:spPr>
        <p:txBody>
          <a:bodyPr wrap="square" rtlCol="0" anchor="ctr"/>
          <a:lstStyle/>
          <a:p>
            <a:pPr marL="0" indent="0">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Conclusion &amp; Recommendations</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rtlCol="0" anchor="ctr"/>
          <a:lstStyle/>
          <a:p>
            <a:pPr marL="0" indent="0">
              <a:buNone/>
            </a:pPr>
            <a:r>
              <a:rPr lang="en-US" sz="1150" b="1" kern="0" spc="150" dirty="0">
                <a:solidFill>
                  <a:srgbClr val="2A9D8F"/>
                </a:solidFill>
                <a:latin typeface="Times New Roman" panose="02020603050405020304" pitchFamily="18" charset="0"/>
                <a:ea typeface="Arial" pitchFamily="34" charset="-122"/>
                <a:cs typeface="Times New Roman" panose="02020603050405020304" pitchFamily="18" charset="0"/>
              </a:rPr>
              <a:t>OVERVIEW</a:t>
            </a:r>
            <a:endParaRPr lang="en-US" sz="1150" dirty="0">
              <a:latin typeface="Times New Roman" panose="02020603050405020304" pitchFamily="18" charset="0"/>
              <a:cs typeface="Times New Roman" panose="02020603050405020304" pitchFamily="18" charset="0"/>
            </a:endParaRPr>
          </a:p>
        </p:txBody>
      </p:sp>
      <p:sp>
        <p:nvSpPr>
          <p:cNvPr id="3" name="Text 1"/>
          <p:cNvSpPr/>
          <p:nvPr/>
        </p:nvSpPr>
        <p:spPr>
          <a:xfrm>
            <a:off x="640080" y="658368"/>
            <a:ext cx="10789920" cy="685800"/>
          </a:xfrm>
          <a:prstGeom prst="rect">
            <a:avLst/>
          </a:prstGeom>
          <a:noFill/>
          <a:ln/>
        </p:spPr>
        <p:txBody>
          <a:bodyPr wrap="square" rtlCol="0" anchor="ctr"/>
          <a:lstStyle/>
          <a:p>
            <a:pPr marL="0" indent="0">
              <a:buNone/>
            </a:pPr>
            <a:r>
              <a:rPr lang="en-US" sz="2600" b="1" dirty="0">
                <a:solidFill>
                  <a:srgbClr val="14213D"/>
                </a:solidFill>
                <a:latin typeface="Times New Roman" panose="02020603050405020304" pitchFamily="18" charset="0"/>
                <a:ea typeface="Georgia" pitchFamily="34" charset="-122"/>
                <a:cs typeface="Times New Roman" panose="02020603050405020304" pitchFamily="18" charset="0"/>
              </a:rPr>
              <a:t>Introduction</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640080" y="1554480"/>
            <a:ext cx="7863840" cy="2377440"/>
          </a:xfrm>
          <a:prstGeom prst="rect">
            <a:avLst/>
          </a:prstGeom>
          <a:noFill/>
          <a:ln/>
        </p:spPr>
        <p:txBody>
          <a:bodyPr wrap="square" rtlCol="0" anchor="ctr"/>
          <a:lstStyle/>
          <a:p>
            <a:pPr marL="0" indent="0">
              <a:lnSpc>
                <a:spcPts val="2400"/>
              </a:lnSpc>
              <a:buNone/>
            </a:pPr>
            <a:r>
              <a:rPr lang="en-US" sz="1500" dirty="0">
                <a:solidFill>
                  <a:srgbClr val="334155"/>
                </a:solidFill>
                <a:latin typeface="Times New Roman" panose="02020603050405020304" pitchFamily="18" charset="0"/>
                <a:ea typeface="Arial" pitchFamily="34" charset="-122"/>
                <a:cs typeface="Times New Roman" panose="02020603050405020304" pitchFamily="18" charset="0"/>
              </a:rPr>
              <a:t>This presentation walks through an end-to-end Insurance Policy Analytics project — built on customer, policy, claims, and payment data for 5,000 policyholders. The same set of 21 business questions is answered using four different tools: Excel, SQL, Power BI, and Tableau — showing how the same insight can be reached through different technical paths.</a:t>
            </a:r>
            <a:endParaRPr lang="en-US" sz="1500" dirty="0">
              <a:latin typeface="Times New Roman" panose="02020603050405020304" pitchFamily="18" charset="0"/>
              <a:cs typeface="Times New Roman" panose="02020603050405020304" pitchFamily="18" charset="0"/>
            </a:endParaRPr>
          </a:p>
        </p:txBody>
      </p:sp>
      <p:sp>
        <p:nvSpPr>
          <p:cNvPr id="5" name="Shape 3"/>
          <p:cNvSpPr/>
          <p:nvPr/>
        </p:nvSpPr>
        <p:spPr>
          <a:xfrm>
            <a:off x="640080" y="3977640"/>
            <a:ext cx="4206240" cy="502920"/>
          </a:xfrm>
          <a:prstGeom prst="roundRect">
            <a:avLst>
              <a:gd name="adj" fmla="val 14545"/>
            </a:avLst>
          </a:prstGeom>
          <a:solidFill>
            <a:srgbClr val="F6F7F9"/>
          </a:solidFill>
          <a:ln w="12700">
            <a:solidFill>
              <a:srgbClr val="E2E5E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Shape 4"/>
          <p:cNvSpPr/>
          <p:nvPr/>
        </p:nvSpPr>
        <p:spPr>
          <a:xfrm>
            <a:off x="822960" y="4142232"/>
            <a:ext cx="164592" cy="164592"/>
          </a:xfrm>
          <a:prstGeom prst="ellipse">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1143000" y="3977640"/>
            <a:ext cx="3566160" cy="502920"/>
          </a:xfrm>
          <a:prstGeom prst="rect">
            <a:avLst/>
          </a:prstGeom>
          <a:noFill/>
          <a:ln/>
        </p:spPr>
        <p:txBody>
          <a:bodyPr wrap="square" rtlCol="0" anchor="ctr"/>
          <a:lstStyle/>
          <a:p>
            <a:pPr marL="0" indent="0">
              <a:buNone/>
            </a:pPr>
            <a:r>
              <a:rPr lang="en-US" sz="1400" b="1" dirty="0">
                <a:solidFill>
                  <a:srgbClr val="14213D"/>
                </a:solidFill>
                <a:latin typeface="Times New Roman" panose="02020603050405020304" pitchFamily="18" charset="0"/>
                <a:ea typeface="Arial" pitchFamily="34" charset="-122"/>
                <a:cs typeface="Times New Roman" panose="02020603050405020304" pitchFamily="18" charset="0"/>
              </a:rPr>
              <a:t>Customer Demographics</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640080" y="4599432"/>
            <a:ext cx="4206240" cy="502920"/>
          </a:xfrm>
          <a:prstGeom prst="roundRect">
            <a:avLst>
              <a:gd name="adj" fmla="val 14545"/>
            </a:avLst>
          </a:prstGeom>
          <a:solidFill>
            <a:srgbClr val="F6F7F9"/>
          </a:solidFill>
          <a:ln w="12700">
            <a:solidFill>
              <a:srgbClr val="E2E5E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9" name="Shape 7"/>
          <p:cNvSpPr/>
          <p:nvPr/>
        </p:nvSpPr>
        <p:spPr>
          <a:xfrm>
            <a:off x="822960" y="4764024"/>
            <a:ext cx="164592" cy="164592"/>
          </a:xfrm>
          <a:prstGeom prst="ellipse">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1143000" y="4599432"/>
            <a:ext cx="3566160" cy="502920"/>
          </a:xfrm>
          <a:prstGeom prst="rect">
            <a:avLst/>
          </a:prstGeom>
          <a:noFill/>
          <a:ln/>
        </p:spPr>
        <p:txBody>
          <a:bodyPr wrap="square" rtlCol="0" anchor="ctr"/>
          <a:lstStyle/>
          <a:p>
            <a:pPr marL="0" indent="0">
              <a:buNone/>
            </a:pPr>
            <a:r>
              <a:rPr lang="en-US" sz="1400" b="1" dirty="0">
                <a:solidFill>
                  <a:srgbClr val="14213D"/>
                </a:solidFill>
                <a:latin typeface="Times New Roman" panose="02020603050405020304" pitchFamily="18" charset="0"/>
                <a:ea typeface="Arial" pitchFamily="34" charset="-122"/>
                <a:cs typeface="Times New Roman" panose="02020603050405020304" pitchFamily="18" charset="0"/>
              </a:rPr>
              <a:t>Policy Performance</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640080" y="5221224"/>
            <a:ext cx="4206240" cy="502920"/>
          </a:xfrm>
          <a:prstGeom prst="roundRect">
            <a:avLst>
              <a:gd name="adj" fmla="val 14545"/>
            </a:avLst>
          </a:prstGeom>
          <a:solidFill>
            <a:srgbClr val="F6F7F9"/>
          </a:solidFill>
          <a:ln w="12700">
            <a:solidFill>
              <a:srgbClr val="E2E5E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Shape 10"/>
          <p:cNvSpPr/>
          <p:nvPr/>
        </p:nvSpPr>
        <p:spPr>
          <a:xfrm>
            <a:off x="822960" y="5385816"/>
            <a:ext cx="164592" cy="164592"/>
          </a:xfrm>
          <a:prstGeom prst="ellipse">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1"/>
          <p:cNvSpPr/>
          <p:nvPr/>
        </p:nvSpPr>
        <p:spPr>
          <a:xfrm>
            <a:off x="1143000" y="5221224"/>
            <a:ext cx="3566160" cy="502920"/>
          </a:xfrm>
          <a:prstGeom prst="rect">
            <a:avLst/>
          </a:prstGeom>
          <a:noFill/>
          <a:ln/>
        </p:spPr>
        <p:txBody>
          <a:bodyPr wrap="square" rtlCol="0" anchor="ctr"/>
          <a:lstStyle/>
          <a:p>
            <a:pPr marL="0" indent="0">
              <a:buNone/>
            </a:pPr>
            <a:r>
              <a:rPr lang="en-US" sz="1400" b="1" dirty="0">
                <a:solidFill>
                  <a:srgbClr val="14213D"/>
                </a:solidFill>
                <a:latin typeface="Times New Roman" panose="02020603050405020304" pitchFamily="18" charset="0"/>
                <a:ea typeface="Arial" pitchFamily="34" charset="-122"/>
                <a:cs typeface="Times New Roman" panose="02020603050405020304" pitchFamily="18" charset="0"/>
              </a:rPr>
              <a:t>Claims Behaviour</a:t>
            </a:r>
            <a:endParaRPr lang="en-US" sz="1400" dirty="0">
              <a:latin typeface="Times New Roman" panose="02020603050405020304" pitchFamily="18" charset="0"/>
              <a:cs typeface="Times New Roman" panose="02020603050405020304" pitchFamily="18" charset="0"/>
            </a:endParaRPr>
          </a:p>
        </p:txBody>
      </p:sp>
      <p:sp>
        <p:nvSpPr>
          <p:cNvPr id="14" name="Shape 12"/>
          <p:cNvSpPr/>
          <p:nvPr/>
        </p:nvSpPr>
        <p:spPr>
          <a:xfrm>
            <a:off x="640080" y="5843016"/>
            <a:ext cx="4206240" cy="502920"/>
          </a:xfrm>
          <a:prstGeom prst="roundRect">
            <a:avLst>
              <a:gd name="adj" fmla="val 14545"/>
            </a:avLst>
          </a:prstGeom>
          <a:solidFill>
            <a:srgbClr val="F6F7F9"/>
          </a:solidFill>
          <a:ln w="12700">
            <a:solidFill>
              <a:srgbClr val="E2E5E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5" name="Shape 13"/>
          <p:cNvSpPr/>
          <p:nvPr/>
        </p:nvSpPr>
        <p:spPr>
          <a:xfrm>
            <a:off x="822960" y="6007608"/>
            <a:ext cx="164592" cy="164592"/>
          </a:xfrm>
          <a:prstGeom prst="ellipse">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6" name="Text 14"/>
          <p:cNvSpPr/>
          <p:nvPr/>
        </p:nvSpPr>
        <p:spPr>
          <a:xfrm>
            <a:off x="1143000" y="5843016"/>
            <a:ext cx="3566160" cy="502920"/>
          </a:xfrm>
          <a:prstGeom prst="rect">
            <a:avLst/>
          </a:prstGeom>
          <a:noFill/>
          <a:ln/>
        </p:spPr>
        <p:txBody>
          <a:bodyPr wrap="square" rtlCol="0" anchor="ctr"/>
          <a:lstStyle/>
          <a:p>
            <a:pPr marL="0" indent="0">
              <a:buNone/>
            </a:pPr>
            <a:r>
              <a:rPr lang="en-US" sz="1400" b="1" dirty="0">
                <a:solidFill>
                  <a:srgbClr val="14213D"/>
                </a:solidFill>
                <a:latin typeface="Times New Roman" panose="02020603050405020304" pitchFamily="18" charset="0"/>
                <a:ea typeface="Arial" pitchFamily="34" charset="-122"/>
                <a:cs typeface="Times New Roman" panose="02020603050405020304" pitchFamily="18" charset="0"/>
              </a:rPr>
              <a:t>Premium Trends</a:t>
            </a:r>
            <a:endParaRPr lang="en-US" sz="1400" dirty="0">
              <a:latin typeface="Times New Roman" panose="02020603050405020304" pitchFamily="18" charset="0"/>
              <a:cs typeface="Times New Roman" panose="02020603050405020304" pitchFamily="18" charset="0"/>
            </a:endParaRPr>
          </a:p>
        </p:txBody>
      </p:sp>
      <p:sp>
        <p:nvSpPr>
          <p:cNvPr id="17" name="Shape 15"/>
          <p:cNvSpPr/>
          <p:nvPr/>
        </p:nvSpPr>
        <p:spPr>
          <a:xfrm>
            <a:off x="8869680" y="1554480"/>
            <a:ext cx="2743200" cy="4480560"/>
          </a:xfrm>
          <a:prstGeom prst="roundRect">
            <a:avLst>
              <a:gd name="adj" fmla="val 4667"/>
            </a:avLst>
          </a:prstGeom>
          <a:solidFill>
            <a:srgbClr val="14213D"/>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8" name="Text 16"/>
          <p:cNvSpPr/>
          <p:nvPr/>
        </p:nvSpPr>
        <p:spPr>
          <a:xfrm>
            <a:off x="9098280" y="1828800"/>
            <a:ext cx="2286000" cy="320040"/>
          </a:xfrm>
          <a:prstGeom prst="rect">
            <a:avLst/>
          </a:prstGeom>
          <a:noFill/>
          <a:ln/>
        </p:spPr>
        <p:txBody>
          <a:bodyPr wrap="square" rtlCol="0" anchor="ctr"/>
          <a:lstStyle/>
          <a:p>
            <a:pPr marL="0" indent="0">
              <a:buNone/>
            </a:pPr>
            <a:r>
              <a:rPr lang="en-US" sz="1050" b="1" kern="0" spc="150" dirty="0">
                <a:solidFill>
                  <a:srgbClr val="2A9D8F"/>
                </a:solidFill>
                <a:latin typeface="Times New Roman" panose="02020603050405020304" pitchFamily="18" charset="0"/>
                <a:ea typeface="Arial" pitchFamily="34" charset="-122"/>
                <a:cs typeface="Times New Roman" panose="02020603050405020304" pitchFamily="18" charset="0"/>
              </a:rPr>
              <a:t>AT A GLANCE</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9098280" y="2331720"/>
            <a:ext cx="22860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Georgia" pitchFamily="34" charset="-122"/>
                <a:cs typeface="Times New Roman" panose="02020603050405020304" pitchFamily="18" charset="0"/>
              </a:rPr>
              <a:t>5,000</a:t>
            </a:r>
            <a:endParaRPr lang="en-US" sz="2400" dirty="0">
              <a:latin typeface="Times New Roman" panose="02020603050405020304" pitchFamily="18" charset="0"/>
              <a:cs typeface="Times New Roman" panose="02020603050405020304" pitchFamily="18" charset="0"/>
            </a:endParaRPr>
          </a:p>
        </p:txBody>
      </p:sp>
      <p:sp>
        <p:nvSpPr>
          <p:cNvPr id="20" name="Text 18"/>
          <p:cNvSpPr/>
          <p:nvPr/>
        </p:nvSpPr>
        <p:spPr>
          <a:xfrm>
            <a:off x="9098280" y="2834640"/>
            <a:ext cx="2286000" cy="320040"/>
          </a:xfrm>
          <a:prstGeom prst="rect">
            <a:avLst/>
          </a:prstGeom>
          <a:noFill/>
          <a:ln/>
        </p:spPr>
        <p:txBody>
          <a:bodyPr wrap="square" rtlCol="0" anchor="ctr"/>
          <a:lstStyle/>
          <a:p>
            <a:pPr marL="0" indent="0">
              <a:buNone/>
            </a:pPr>
            <a:r>
              <a:rPr lang="en-US" sz="1400" dirty="0">
                <a:solidFill>
                  <a:schemeClr val="bg1"/>
                </a:solidFill>
                <a:latin typeface="Times New Roman" panose="02020603050405020304" pitchFamily="18" charset="0"/>
                <a:ea typeface="Arial" pitchFamily="34" charset="-122"/>
                <a:cs typeface="Times New Roman" panose="02020603050405020304" pitchFamily="18" charset="0"/>
              </a:rPr>
              <a:t>Customers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1" name="Text 19"/>
          <p:cNvSpPr/>
          <p:nvPr/>
        </p:nvSpPr>
        <p:spPr>
          <a:xfrm>
            <a:off x="9098280" y="3291840"/>
            <a:ext cx="22860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Georgia" pitchFamily="34" charset="-122"/>
                <a:cs typeface="Times New Roman" panose="02020603050405020304" pitchFamily="18" charset="0"/>
              </a:rPr>
              <a:t>5,000</a:t>
            </a:r>
            <a:endParaRPr lang="en-US" sz="2400" dirty="0">
              <a:latin typeface="Times New Roman" panose="02020603050405020304" pitchFamily="18" charset="0"/>
              <a:cs typeface="Times New Roman" panose="02020603050405020304" pitchFamily="18" charset="0"/>
            </a:endParaRPr>
          </a:p>
        </p:txBody>
      </p:sp>
      <p:sp>
        <p:nvSpPr>
          <p:cNvPr id="22" name="Text 20"/>
          <p:cNvSpPr/>
          <p:nvPr/>
        </p:nvSpPr>
        <p:spPr>
          <a:xfrm>
            <a:off x="9098280" y="3794760"/>
            <a:ext cx="2286000" cy="320040"/>
          </a:xfrm>
          <a:prstGeom prst="rect">
            <a:avLst/>
          </a:prstGeom>
          <a:noFill/>
          <a:ln/>
        </p:spPr>
        <p:txBody>
          <a:bodyPr wrap="square" rtlCol="0" anchor="ctr"/>
          <a:lstStyle/>
          <a:p>
            <a:pPr marL="0" indent="0">
              <a:buNone/>
            </a:pPr>
            <a:r>
              <a:rPr lang="en-US" sz="1400" dirty="0">
                <a:solidFill>
                  <a:schemeClr val="bg1"/>
                </a:solidFill>
                <a:latin typeface="Times New Roman" panose="02020603050405020304" pitchFamily="18" charset="0"/>
                <a:ea typeface="Arial" pitchFamily="34" charset="-122"/>
                <a:cs typeface="Times New Roman" panose="02020603050405020304" pitchFamily="18" charset="0"/>
              </a:rPr>
              <a:t>Policies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3" name="Text 21"/>
          <p:cNvSpPr/>
          <p:nvPr/>
        </p:nvSpPr>
        <p:spPr>
          <a:xfrm>
            <a:off x="9098280" y="4251960"/>
            <a:ext cx="22860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Georgia" pitchFamily="34" charset="-122"/>
                <a:cs typeface="Times New Roman" panose="02020603050405020304" pitchFamily="18" charset="0"/>
              </a:rPr>
              <a:t>₹25.1 Cr</a:t>
            </a:r>
            <a:endParaRPr lang="en-US" sz="2400" dirty="0">
              <a:latin typeface="Times New Roman" panose="02020603050405020304" pitchFamily="18" charset="0"/>
              <a:cs typeface="Times New Roman" panose="02020603050405020304" pitchFamily="18" charset="0"/>
            </a:endParaRPr>
          </a:p>
        </p:txBody>
      </p:sp>
      <p:sp>
        <p:nvSpPr>
          <p:cNvPr id="24" name="Text 22"/>
          <p:cNvSpPr/>
          <p:nvPr/>
        </p:nvSpPr>
        <p:spPr>
          <a:xfrm>
            <a:off x="9098280" y="4754880"/>
            <a:ext cx="2286000" cy="320040"/>
          </a:xfrm>
          <a:prstGeom prst="rect">
            <a:avLst/>
          </a:prstGeom>
          <a:noFill/>
          <a:ln/>
        </p:spPr>
        <p:txBody>
          <a:bodyPr wrap="square" rtlCol="0" anchor="ctr"/>
          <a:lstStyle/>
          <a:p>
            <a:pPr marL="0" indent="0">
              <a:buNone/>
            </a:pPr>
            <a:r>
              <a:rPr lang="en-US" sz="1400" dirty="0">
                <a:solidFill>
                  <a:schemeClr val="bg1"/>
                </a:solidFill>
                <a:latin typeface="Times New Roman" panose="02020603050405020304" pitchFamily="18" charset="0"/>
                <a:ea typeface="Arial" pitchFamily="34" charset="-122"/>
                <a:cs typeface="Times New Roman" panose="02020603050405020304" pitchFamily="18" charset="0"/>
              </a:rPr>
              <a:t>Total Claims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5" name="Text 23"/>
          <p:cNvSpPr/>
          <p:nvPr/>
        </p:nvSpPr>
        <p:spPr>
          <a:xfrm>
            <a:off x="9083040" y="5102352"/>
            <a:ext cx="22860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Georgia" pitchFamily="34" charset="-122"/>
                <a:cs typeface="Times New Roman" panose="02020603050405020304" pitchFamily="18" charset="0"/>
              </a:rPr>
              <a:t>4</a:t>
            </a:r>
            <a:endParaRPr lang="en-US" sz="2400" dirty="0">
              <a:latin typeface="Times New Roman" panose="02020603050405020304" pitchFamily="18" charset="0"/>
              <a:cs typeface="Times New Roman" panose="02020603050405020304" pitchFamily="18" charset="0"/>
            </a:endParaRPr>
          </a:p>
        </p:txBody>
      </p:sp>
      <p:sp>
        <p:nvSpPr>
          <p:cNvPr id="26" name="Text 24"/>
          <p:cNvSpPr/>
          <p:nvPr/>
        </p:nvSpPr>
        <p:spPr>
          <a:xfrm>
            <a:off x="9083040" y="5623560"/>
            <a:ext cx="2286000" cy="320040"/>
          </a:xfrm>
          <a:prstGeom prst="rect">
            <a:avLst/>
          </a:prstGeom>
          <a:noFill/>
          <a:ln/>
        </p:spPr>
        <p:txBody>
          <a:bodyPr wrap="square" rtlCol="0" anchor="ctr"/>
          <a:lstStyle/>
          <a:p>
            <a:pPr marL="0" indent="0">
              <a:buNone/>
            </a:pPr>
            <a:r>
              <a:rPr lang="en-US" sz="1400" dirty="0">
                <a:solidFill>
                  <a:schemeClr val="bg1"/>
                </a:solidFill>
                <a:latin typeface="Times New Roman" panose="02020603050405020304" pitchFamily="18" charset="0"/>
                <a:ea typeface="Arial" pitchFamily="34" charset="-122"/>
                <a:cs typeface="Times New Roman" panose="02020603050405020304" pitchFamily="18" charset="0"/>
              </a:rPr>
              <a:t>Analytics Tools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rtlCol="0" anchor="ctr"/>
          <a:lstStyle/>
          <a:p>
            <a:pPr marL="0" indent="0">
              <a:buNone/>
            </a:pPr>
            <a:r>
              <a:rPr lang="en-US" sz="1150" b="1" kern="0" spc="150" dirty="0">
                <a:solidFill>
                  <a:srgbClr val="2A9D8F"/>
                </a:solidFill>
                <a:latin typeface="Times New Roman" panose="02020603050405020304" pitchFamily="18" charset="0"/>
                <a:ea typeface="Arial" pitchFamily="34" charset="-122"/>
                <a:cs typeface="Times New Roman" panose="02020603050405020304" pitchFamily="18" charset="0"/>
              </a:rPr>
              <a:t>PURPOSE</a:t>
            </a:r>
            <a:endParaRPr lang="en-US" sz="1150" dirty="0">
              <a:latin typeface="Times New Roman" panose="02020603050405020304" pitchFamily="18" charset="0"/>
              <a:cs typeface="Times New Roman" panose="02020603050405020304" pitchFamily="18" charset="0"/>
            </a:endParaRPr>
          </a:p>
        </p:txBody>
      </p:sp>
      <p:sp>
        <p:nvSpPr>
          <p:cNvPr id="3" name="Text 1"/>
          <p:cNvSpPr/>
          <p:nvPr/>
        </p:nvSpPr>
        <p:spPr>
          <a:xfrm>
            <a:off x="640080" y="658368"/>
            <a:ext cx="10789920" cy="685800"/>
          </a:xfrm>
          <a:prstGeom prst="rect">
            <a:avLst/>
          </a:prstGeom>
          <a:noFill/>
          <a:ln/>
        </p:spPr>
        <p:txBody>
          <a:bodyPr wrap="square" rtlCol="0" anchor="ctr"/>
          <a:lstStyle/>
          <a:p>
            <a:pPr marL="0" indent="0">
              <a:buNone/>
            </a:pPr>
            <a:r>
              <a:rPr lang="en-US" sz="2600" b="1" dirty="0">
                <a:solidFill>
                  <a:srgbClr val="14213D"/>
                </a:solidFill>
                <a:latin typeface="Times New Roman" panose="02020603050405020304" pitchFamily="18" charset="0"/>
                <a:ea typeface="Georgia" pitchFamily="34" charset="-122"/>
                <a:cs typeface="Times New Roman" panose="02020603050405020304" pitchFamily="18" charset="0"/>
              </a:rPr>
              <a:t>Project Goal</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640080" y="1508760"/>
            <a:ext cx="10424160" cy="1005840"/>
          </a:xfrm>
          <a:prstGeom prst="rect">
            <a:avLst/>
          </a:prstGeom>
          <a:noFill/>
          <a:ln/>
        </p:spPr>
        <p:txBody>
          <a:bodyPr wrap="square" rtlCol="0" anchor="ctr"/>
          <a:lstStyle/>
          <a:p>
            <a:pPr marL="0" indent="0">
              <a:lnSpc>
                <a:spcPts val="2200"/>
              </a:lnSpc>
              <a:buNone/>
            </a:pPr>
            <a:r>
              <a:rPr lang="en-US" sz="15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Build a unified analytics view of the insurance policy book — spanning customer profile, policy issuance, claims activity, and premium trends — so that stakeholders can answer 21 core business questions consistently, regardless of which analytics tool they open.</a:t>
            </a:r>
            <a:endParaRPr lang="en-US" sz="15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hape 3"/>
          <p:cNvSpPr/>
          <p:nvPr/>
        </p:nvSpPr>
        <p:spPr>
          <a:xfrm>
            <a:off x="640080" y="2788920"/>
            <a:ext cx="3474720" cy="2651760"/>
          </a:xfrm>
          <a:prstGeom prst="roundRect">
            <a:avLst>
              <a:gd name="adj" fmla="val 4138"/>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6" name="Shape 4"/>
          <p:cNvSpPr/>
          <p:nvPr/>
        </p:nvSpPr>
        <p:spPr>
          <a:xfrm>
            <a:off x="914400" y="3063240"/>
            <a:ext cx="457200" cy="457200"/>
          </a:xfrm>
          <a:prstGeom prst="roundRect">
            <a:avLst>
              <a:gd name="adj" fmla="val 18000"/>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914400" y="3657600"/>
            <a:ext cx="2926080" cy="45720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Understand Customers</a:t>
            </a:r>
            <a:endParaRPr lang="en-US" sz="1500" dirty="0">
              <a:latin typeface="Times New Roman" panose="02020603050405020304" pitchFamily="18" charset="0"/>
              <a:cs typeface="Times New Roman" panose="02020603050405020304" pitchFamily="18" charset="0"/>
            </a:endParaRPr>
          </a:p>
        </p:txBody>
      </p:sp>
      <p:sp>
        <p:nvSpPr>
          <p:cNvPr id="8" name="Text 6"/>
          <p:cNvSpPr/>
          <p:nvPr/>
        </p:nvSpPr>
        <p:spPr>
          <a:xfrm>
            <a:off x="914400" y="4114800"/>
            <a:ext cx="2926080" cy="1097280"/>
          </a:xfrm>
          <a:prstGeom prst="rect">
            <a:avLst/>
          </a:prstGeom>
          <a:noFill/>
          <a:ln/>
        </p:spPr>
        <p:txBody>
          <a:bodyPr wrap="square" rtlCol="0" anchor="ctr"/>
          <a:lstStyle/>
          <a:p>
            <a:pPr marL="0" indent="0">
              <a:lnSpc>
                <a:spcPts val="1600"/>
              </a:lnSpc>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Age, gender &amp; demographic distribution across the policy book.</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Shape 7"/>
          <p:cNvSpPr/>
          <p:nvPr/>
        </p:nvSpPr>
        <p:spPr>
          <a:xfrm>
            <a:off x="4343400" y="2788920"/>
            <a:ext cx="3474720" cy="2651760"/>
          </a:xfrm>
          <a:prstGeom prst="roundRect">
            <a:avLst>
              <a:gd name="adj" fmla="val 4138"/>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0" name="Shape 8"/>
          <p:cNvSpPr/>
          <p:nvPr/>
        </p:nvSpPr>
        <p:spPr>
          <a:xfrm>
            <a:off x="4617720" y="3063240"/>
            <a:ext cx="457200" cy="457200"/>
          </a:xfrm>
          <a:prstGeom prst="roundRect">
            <a:avLst>
              <a:gd name="adj" fmla="val 18000"/>
            </a:avLst>
          </a:prstGeom>
          <a:solidFill>
            <a:srgbClr val="E9B44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9"/>
          <p:cNvSpPr/>
          <p:nvPr/>
        </p:nvSpPr>
        <p:spPr>
          <a:xfrm>
            <a:off x="4617720" y="3657600"/>
            <a:ext cx="2926080" cy="45720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Track Policy Health</a:t>
            </a:r>
            <a:endParaRPr lang="en-US" sz="1500" dirty="0">
              <a:latin typeface="Times New Roman" panose="02020603050405020304" pitchFamily="18" charset="0"/>
              <a:cs typeface="Times New Roman" panose="02020603050405020304" pitchFamily="18" charset="0"/>
            </a:endParaRPr>
          </a:p>
        </p:txBody>
      </p:sp>
      <p:sp>
        <p:nvSpPr>
          <p:cNvPr id="12" name="Text 10"/>
          <p:cNvSpPr/>
          <p:nvPr/>
        </p:nvSpPr>
        <p:spPr>
          <a:xfrm>
            <a:off x="4617720" y="4114800"/>
            <a:ext cx="2926080" cy="1097280"/>
          </a:xfrm>
          <a:prstGeom prst="rect">
            <a:avLst/>
          </a:prstGeom>
          <a:noFill/>
          <a:ln/>
        </p:spPr>
        <p:txBody>
          <a:bodyPr wrap="square" rtlCol="0" anchor="ctr"/>
          <a:lstStyle/>
          <a:p>
            <a:pPr marL="0" indent="0">
              <a:lnSpc>
                <a:spcPts val="1600"/>
              </a:lnSpc>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Active, lapsed &amp; terminated policy performance by type.</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Shape 11"/>
          <p:cNvSpPr/>
          <p:nvPr/>
        </p:nvSpPr>
        <p:spPr>
          <a:xfrm>
            <a:off x="8046720" y="2788920"/>
            <a:ext cx="3474720" cy="2651760"/>
          </a:xfrm>
          <a:prstGeom prst="roundRect">
            <a:avLst>
              <a:gd name="adj" fmla="val 4138"/>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4" name="Shape 12"/>
          <p:cNvSpPr/>
          <p:nvPr/>
        </p:nvSpPr>
        <p:spPr>
          <a:xfrm>
            <a:off x="8321040" y="3063240"/>
            <a:ext cx="457200" cy="457200"/>
          </a:xfrm>
          <a:prstGeom prst="roundRect">
            <a:avLst>
              <a:gd name="adj" fmla="val 18000"/>
            </a:avLst>
          </a:prstGeom>
          <a:solidFill>
            <a:srgbClr val="E76F5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8321040" y="3657600"/>
            <a:ext cx="2926080" cy="45720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Monitor Premium Trends</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8321040" y="4114800"/>
            <a:ext cx="2926080" cy="1097280"/>
          </a:xfrm>
          <a:prstGeom prst="rect">
            <a:avLst/>
          </a:prstGeom>
          <a:noFill/>
          <a:ln/>
        </p:spPr>
        <p:txBody>
          <a:bodyPr wrap="square" rtlCol="0" anchor="ctr"/>
          <a:lstStyle/>
          <a:p>
            <a:pPr marL="0" indent="0">
              <a:lnSpc>
                <a:spcPts val="1600"/>
              </a:lnSpc>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Year-over-year premium growth and volatility.</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rtlCol="0" anchor="ctr"/>
          <a:lstStyle/>
          <a:p>
            <a:pPr marL="0" indent="0">
              <a:buNone/>
            </a:pPr>
            <a:r>
              <a:rPr lang="en-US" sz="1150" b="1" kern="0" spc="15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DATA FOUNDATION</a:t>
            </a:r>
            <a:endParaRPr lang="en-US" sz="11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640080" y="658368"/>
            <a:ext cx="10789920" cy="685800"/>
          </a:xfrm>
          <a:prstGeom prst="rect">
            <a:avLst/>
          </a:prstGeom>
          <a:noFill/>
          <a:ln/>
        </p:spPr>
        <p:txBody>
          <a:bodyPr wrap="square" rtlCol="0" anchor="ctr"/>
          <a:lstStyle/>
          <a:p>
            <a:pPr marL="0" indent="0">
              <a:buNone/>
            </a:pPr>
            <a:r>
              <a:rPr lang="en-US" sz="2600" b="1" dirty="0">
                <a:solidFill>
                  <a:schemeClr val="tx1">
                    <a:lumMod val="95000"/>
                    <a:lumOff val="5000"/>
                  </a:schemeClr>
                </a:solidFill>
                <a:latin typeface="Times New Roman" panose="02020603050405020304" pitchFamily="18" charset="0"/>
                <a:ea typeface="Georgia" pitchFamily="34" charset="-122"/>
                <a:cs typeface="Times New Roman" panose="02020603050405020304" pitchFamily="18" charset="0"/>
              </a:rPr>
              <a:t>Dataset Description</a:t>
            </a:r>
            <a:endParaRPr lang="en-US" sz="2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Shape 2"/>
          <p:cNvSpPr/>
          <p:nvPr/>
        </p:nvSpPr>
        <p:spPr>
          <a:xfrm>
            <a:off x="640080" y="1554480"/>
            <a:ext cx="10881360" cy="841248"/>
          </a:xfrm>
          <a:prstGeom prst="roundRect">
            <a:avLst>
              <a:gd name="adj" fmla="val 10870"/>
            </a:avLst>
          </a:prstGeom>
          <a:solidFill>
            <a:srgbClr val="F6F7F9"/>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hape 3"/>
          <p:cNvSpPr/>
          <p:nvPr/>
        </p:nvSpPr>
        <p:spPr>
          <a:xfrm>
            <a:off x="640080" y="1554480"/>
            <a:ext cx="82296" cy="841248"/>
          </a:xfrm>
          <a:prstGeom prst="rect">
            <a:avLst/>
          </a:prstGeom>
          <a:solidFill>
            <a:srgbClr val="2A9D8F"/>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4"/>
          <p:cNvSpPr/>
          <p:nvPr/>
        </p:nvSpPr>
        <p:spPr>
          <a:xfrm>
            <a:off x="960120" y="1554480"/>
            <a:ext cx="2834640" cy="841248"/>
          </a:xfrm>
          <a:prstGeom prst="rect">
            <a:avLst/>
          </a:prstGeom>
          <a:noFill/>
          <a:ln/>
        </p:spPr>
        <p:txBody>
          <a:bodyPr wrap="square" rtlCol="0" anchor="ctr"/>
          <a:lstStyle/>
          <a:p>
            <a:pPr marL="0" indent="0">
              <a:buNone/>
            </a:pPr>
            <a:r>
              <a:rPr lang="en-US" b="1" dirty="0">
                <a:solidFill>
                  <a:schemeClr val="tx1">
                    <a:lumMod val="95000"/>
                    <a:lumOff val="5000"/>
                  </a:schemeClr>
                </a:solidFill>
                <a:latin typeface="Times New Roman" panose="02020603050405020304" pitchFamily="18" charset="0"/>
                <a:ea typeface="Georgia" pitchFamily="34" charset="-122"/>
                <a:cs typeface="Times New Roman" panose="02020603050405020304" pitchFamily="18" charset="0"/>
              </a:rPr>
              <a:t>Customer Information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ext 5"/>
          <p:cNvSpPr/>
          <p:nvPr/>
        </p:nvSpPr>
        <p:spPr>
          <a:xfrm>
            <a:off x="3886200" y="1554480"/>
            <a:ext cx="7452360" cy="841248"/>
          </a:xfrm>
          <a:prstGeom prst="rect">
            <a:avLst/>
          </a:prstGeom>
          <a:noFill/>
          <a:ln/>
        </p:spPr>
        <p:txBody>
          <a:bodyPr wrap="square" rtlCol="0" anchor="ctr"/>
          <a:lstStyle/>
          <a:p>
            <a:pPr marL="0" indent="0">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Customer ID, name, gender, age, occupation, marital status, address.</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Shape 6"/>
          <p:cNvSpPr/>
          <p:nvPr/>
        </p:nvSpPr>
        <p:spPr>
          <a:xfrm>
            <a:off x="640080" y="2523744"/>
            <a:ext cx="10881360" cy="841248"/>
          </a:xfrm>
          <a:prstGeom prst="roundRect">
            <a:avLst>
              <a:gd name="adj" fmla="val 10870"/>
            </a:avLst>
          </a:prstGeom>
          <a:solidFill>
            <a:srgbClr val="F6F7F9"/>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Shape 7"/>
          <p:cNvSpPr/>
          <p:nvPr/>
        </p:nvSpPr>
        <p:spPr>
          <a:xfrm>
            <a:off x="640080" y="2523744"/>
            <a:ext cx="82296" cy="841248"/>
          </a:xfrm>
          <a:prstGeom prst="rect">
            <a:avLst/>
          </a:prstGeom>
          <a:solidFill>
            <a:srgbClr val="14213D"/>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960120" y="2523744"/>
            <a:ext cx="2834640" cy="841248"/>
          </a:xfrm>
          <a:prstGeom prst="rect">
            <a:avLst/>
          </a:prstGeom>
          <a:noFill/>
          <a:ln/>
        </p:spPr>
        <p:txBody>
          <a:bodyPr wrap="square" rtlCol="0" anchor="ctr"/>
          <a:lstStyle/>
          <a:p>
            <a:pPr marL="0" indent="0">
              <a:buNone/>
            </a:pPr>
            <a:r>
              <a:rPr lang="en-US" b="1" dirty="0">
                <a:solidFill>
                  <a:schemeClr val="tx1">
                    <a:lumMod val="95000"/>
                    <a:lumOff val="5000"/>
                  </a:schemeClr>
                </a:solidFill>
                <a:latin typeface="Times New Roman" panose="02020603050405020304" pitchFamily="18" charset="0"/>
                <a:ea typeface="Georgia" pitchFamily="34" charset="-122"/>
                <a:cs typeface="Times New Roman" panose="02020603050405020304" pitchFamily="18" charset="0"/>
              </a:rPr>
              <a:t>Policy Details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Text 9"/>
          <p:cNvSpPr/>
          <p:nvPr/>
        </p:nvSpPr>
        <p:spPr>
          <a:xfrm>
            <a:off x="3886200" y="2523744"/>
            <a:ext cx="7452360" cy="841248"/>
          </a:xfrm>
          <a:prstGeom prst="rect">
            <a:avLst/>
          </a:prstGeom>
          <a:noFill/>
          <a:ln/>
        </p:spPr>
        <p:txBody>
          <a:bodyPr wrap="square" rtlCol="0" anchor="ctr"/>
          <a:lstStyle/>
          <a:p>
            <a:pPr marL="0" indent="0">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Policy ID, type, coverage &amp; premium amount, start/end date, status.</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Shape 10"/>
          <p:cNvSpPr/>
          <p:nvPr/>
        </p:nvSpPr>
        <p:spPr>
          <a:xfrm>
            <a:off x="640080" y="3493008"/>
            <a:ext cx="10881360" cy="841248"/>
          </a:xfrm>
          <a:prstGeom prst="roundRect">
            <a:avLst>
              <a:gd name="adj" fmla="val 10870"/>
            </a:avLst>
          </a:prstGeom>
          <a:solidFill>
            <a:srgbClr val="F6F7F9"/>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Shape 11"/>
          <p:cNvSpPr/>
          <p:nvPr/>
        </p:nvSpPr>
        <p:spPr>
          <a:xfrm>
            <a:off x="640080" y="3493008"/>
            <a:ext cx="82296" cy="841248"/>
          </a:xfrm>
          <a:prstGeom prst="rect">
            <a:avLst/>
          </a:prstGeom>
          <a:solidFill>
            <a:srgbClr val="E76F51"/>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Text 12"/>
          <p:cNvSpPr/>
          <p:nvPr/>
        </p:nvSpPr>
        <p:spPr>
          <a:xfrm>
            <a:off x="960120" y="3493008"/>
            <a:ext cx="2834640" cy="841248"/>
          </a:xfrm>
          <a:prstGeom prst="rect">
            <a:avLst/>
          </a:prstGeom>
          <a:noFill/>
          <a:ln/>
        </p:spPr>
        <p:txBody>
          <a:bodyPr wrap="square" rtlCol="0" anchor="ctr"/>
          <a:lstStyle/>
          <a:p>
            <a:pPr marL="0" indent="0">
              <a:buNone/>
            </a:pPr>
            <a:r>
              <a:rPr lang="en-US" b="1" dirty="0">
                <a:solidFill>
                  <a:schemeClr val="tx1">
                    <a:lumMod val="95000"/>
                    <a:lumOff val="5000"/>
                  </a:schemeClr>
                </a:solidFill>
                <a:latin typeface="Times New Roman" panose="02020603050405020304" pitchFamily="18" charset="0"/>
                <a:ea typeface="Georgia" pitchFamily="34" charset="-122"/>
                <a:cs typeface="Times New Roman" panose="02020603050405020304" pitchFamily="18" charset="0"/>
              </a:rPr>
              <a:t>Claims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5" name="Text 13"/>
          <p:cNvSpPr/>
          <p:nvPr/>
        </p:nvSpPr>
        <p:spPr>
          <a:xfrm>
            <a:off x="3886200" y="3493008"/>
            <a:ext cx="7452360" cy="841248"/>
          </a:xfrm>
          <a:prstGeom prst="rect">
            <a:avLst/>
          </a:prstGeom>
          <a:noFill/>
          <a:ln/>
        </p:spPr>
        <p:txBody>
          <a:bodyPr wrap="square" rtlCol="0" anchor="ctr"/>
          <a:lstStyle/>
          <a:p>
            <a:pPr marL="0" indent="0">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Claim ID, date, amount, status, reason, settlement date.</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Shape 14"/>
          <p:cNvSpPr/>
          <p:nvPr/>
        </p:nvSpPr>
        <p:spPr>
          <a:xfrm>
            <a:off x="640080" y="4462272"/>
            <a:ext cx="10881360" cy="841248"/>
          </a:xfrm>
          <a:prstGeom prst="roundRect">
            <a:avLst>
              <a:gd name="adj" fmla="val 10870"/>
            </a:avLst>
          </a:prstGeom>
          <a:solidFill>
            <a:srgbClr val="F6F7F9"/>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 name="Shape 15"/>
          <p:cNvSpPr/>
          <p:nvPr/>
        </p:nvSpPr>
        <p:spPr>
          <a:xfrm>
            <a:off x="640080" y="4462272"/>
            <a:ext cx="82296" cy="841248"/>
          </a:xfrm>
          <a:prstGeom prst="rect">
            <a:avLst/>
          </a:prstGeom>
          <a:solidFill>
            <a:srgbClr val="E9B44C"/>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8" name="Text 16"/>
          <p:cNvSpPr/>
          <p:nvPr/>
        </p:nvSpPr>
        <p:spPr>
          <a:xfrm>
            <a:off x="960120" y="4462272"/>
            <a:ext cx="2834640" cy="841248"/>
          </a:xfrm>
          <a:prstGeom prst="rect">
            <a:avLst/>
          </a:prstGeom>
          <a:noFill/>
          <a:ln/>
        </p:spPr>
        <p:txBody>
          <a:bodyPr wrap="square" rtlCol="0" anchor="ctr"/>
          <a:lstStyle/>
          <a:p>
            <a:pPr marL="0" indent="0">
              <a:buNone/>
            </a:pPr>
            <a:r>
              <a:rPr lang="en-US" b="1" dirty="0">
                <a:solidFill>
                  <a:schemeClr val="tx1">
                    <a:lumMod val="95000"/>
                    <a:lumOff val="5000"/>
                  </a:schemeClr>
                </a:solidFill>
                <a:latin typeface="Times New Roman" panose="02020603050405020304" pitchFamily="18" charset="0"/>
                <a:ea typeface="Georgia" pitchFamily="34" charset="-122"/>
                <a:cs typeface="Times New Roman" panose="02020603050405020304" pitchFamily="18" charset="0"/>
              </a:rPr>
              <a:t>Payment History</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3886200" y="4462272"/>
            <a:ext cx="7452360" cy="841248"/>
          </a:xfrm>
          <a:prstGeom prst="rect">
            <a:avLst/>
          </a:prstGeom>
          <a:noFill/>
          <a:ln/>
        </p:spPr>
        <p:txBody>
          <a:bodyPr wrap="square" rtlCol="0" anchor="ctr"/>
          <a:lstStyle/>
          <a:p>
            <a:pPr marL="0" indent="0">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Payment ID, date, amount paid, method, status.</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Shape 18"/>
          <p:cNvSpPr/>
          <p:nvPr/>
        </p:nvSpPr>
        <p:spPr>
          <a:xfrm>
            <a:off x="640080" y="5431536"/>
            <a:ext cx="10881360" cy="841248"/>
          </a:xfrm>
          <a:prstGeom prst="roundRect">
            <a:avLst>
              <a:gd name="adj" fmla="val 10870"/>
            </a:avLst>
          </a:prstGeom>
          <a:solidFill>
            <a:srgbClr val="F6F7F9"/>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1" name="Shape 19"/>
          <p:cNvSpPr/>
          <p:nvPr/>
        </p:nvSpPr>
        <p:spPr>
          <a:xfrm>
            <a:off x="640080" y="5431536"/>
            <a:ext cx="82296" cy="841248"/>
          </a:xfrm>
          <a:prstGeom prst="rect">
            <a:avLst/>
          </a:prstGeom>
          <a:solidFill>
            <a:srgbClr val="6FA8DC"/>
          </a:solidFill>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960120" y="5431536"/>
            <a:ext cx="2834640" cy="841248"/>
          </a:xfrm>
          <a:prstGeom prst="rect">
            <a:avLst/>
          </a:prstGeom>
          <a:noFill/>
          <a:ln/>
        </p:spPr>
        <p:txBody>
          <a:bodyPr wrap="square" rtlCol="0" anchor="ctr"/>
          <a:lstStyle/>
          <a:p>
            <a:pPr marL="0" indent="0">
              <a:buNone/>
            </a:pPr>
            <a:r>
              <a:rPr lang="en-US" b="1" dirty="0">
                <a:solidFill>
                  <a:schemeClr val="tx1">
                    <a:lumMod val="95000"/>
                    <a:lumOff val="5000"/>
                  </a:schemeClr>
                </a:solidFill>
                <a:latin typeface="Times New Roman" panose="02020603050405020304" pitchFamily="18" charset="0"/>
                <a:ea typeface="Georgia" pitchFamily="34" charset="-122"/>
                <a:cs typeface="Times New Roman" panose="02020603050405020304" pitchFamily="18" charset="0"/>
              </a:rPr>
              <a:t>Additional Fields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3" name="Text 21"/>
          <p:cNvSpPr/>
          <p:nvPr/>
        </p:nvSpPr>
        <p:spPr>
          <a:xfrm>
            <a:off x="3886200" y="5431536"/>
            <a:ext cx="7452360" cy="841248"/>
          </a:xfrm>
          <a:prstGeom prst="rect">
            <a:avLst/>
          </a:prstGeom>
          <a:noFill/>
          <a:ln/>
        </p:spPr>
        <p:txBody>
          <a:bodyPr wrap="square" rtlCol="0" anchor="ctr"/>
          <a:lstStyle/>
          <a:p>
            <a:pPr marL="0" indent="0">
              <a:buNone/>
            </a:pPr>
            <a:r>
              <a:rPr lang="en-US" sz="1400" dirty="0">
                <a:solidFill>
                  <a:schemeClr val="tx1">
                    <a:lumMod val="95000"/>
                    <a:lumOff val="5000"/>
                  </a:schemeClr>
                </a:solidFill>
                <a:latin typeface="Times New Roman" panose="02020603050405020304" pitchFamily="18" charset="0"/>
                <a:ea typeface="Arial" pitchFamily="34" charset="-122"/>
                <a:cs typeface="Times New Roman" panose="02020603050405020304" pitchFamily="18" charset="0"/>
              </a:rPr>
              <a:t>Agent ID, renewal status, discounts, risk score.</a:t>
            </a:r>
            <a:endParaRPr lang="en-US"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5" name="Rectangle 24"/>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rtlCol="0" anchor="ctr"/>
          <a:lstStyle/>
          <a:p>
            <a:pPr marL="0" indent="0">
              <a:buNone/>
            </a:pPr>
            <a:r>
              <a:rPr lang="en-US" sz="1150" b="1" kern="0" spc="150" dirty="0">
                <a:solidFill>
                  <a:srgbClr val="2A9D8F"/>
                </a:solidFill>
                <a:latin typeface="Times New Roman" panose="02020603050405020304" pitchFamily="18" charset="0"/>
                <a:ea typeface="Arial" pitchFamily="34" charset="-122"/>
                <a:cs typeface="Times New Roman" panose="02020603050405020304" pitchFamily="18" charset="0"/>
              </a:rPr>
              <a:t>STRUCTURE</a:t>
            </a:r>
            <a:endParaRPr lang="en-US" sz="1150" dirty="0">
              <a:latin typeface="Times New Roman" panose="02020603050405020304" pitchFamily="18" charset="0"/>
              <a:cs typeface="Times New Roman" panose="02020603050405020304" pitchFamily="18" charset="0"/>
            </a:endParaRPr>
          </a:p>
        </p:txBody>
      </p:sp>
      <p:sp>
        <p:nvSpPr>
          <p:cNvPr id="3" name="Text 1"/>
          <p:cNvSpPr/>
          <p:nvPr/>
        </p:nvSpPr>
        <p:spPr>
          <a:xfrm>
            <a:off x="640080" y="658368"/>
            <a:ext cx="10789920" cy="685800"/>
          </a:xfrm>
          <a:prstGeom prst="rect">
            <a:avLst/>
          </a:prstGeom>
          <a:noFill/>
          <a:ln/>
        </p:spPr>
        <p:txBody>
          <a:bodyPr wrap="square" rtlCol="0" anchor="ctr"/>
          <a:lstStyle/>
          <a:p>
            <a:pPr marL="0" indent="0">
              <a:buNone/>
            </a:pPr>
            <a:r>
              <a:rPr lang="en-US" sz="2600" b="1" dirty="0">
                <a:solidFill>
                  <a:srgbClr val="14213D"/>
                </a:solidFill>
                <a:latin typeface="Times New Roman" panose="02020603050405020304" pitchFamily="18" charset="0"/>
                <a:ea typeface="Georgia" pitchFamily="34" charset="-122"/>
                <a:cs typeface="Times New Roman" panose="02020603050405020304" pitchFamily="18" charset="0"/>
              </a:rPr>
              <a:t>Data Schema</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640080" y="1138429"/>
            <a:ext cx="10058400" cy="457200"/>
          </a:xfrm>
          <a:prstGeom prst="rect">
            <a:avLst/>
          </a:prstGeom>
          <a:noFill/>
          <a:ln/>
        </p:spPr>
        <p:txBody>
          <a:bodyPr wrap="square" rtlCol="0" anchor="ctr"/>
          <a:lstStyle/>
          <a:p>
            <a:pPr marL="0" indent="0">
              <a:buNone/>
            </a:pPr>
            <a:r>
              <a:rPr lang="en-US" sz="1500" dirty="0">
                <a:latin typeface="Times New Roman" panose="02020603050405020304" pitchFamily="18" charset="0"/>
                <a:ea typeface="Arial" pitchFamily="34" charset="-122"/>
                <a:cs typeface="Times New Roman" panose="02020603050405020304" pitchFamily="18" charset="0"/>
              </a:rPr>
              <a:t>Policy Details acts as the central fact table, linked to four supporting tables through Policy ID and Customer ID.</a:t>
            </a:r>
            <a:endParaRPr lang="en-US" sz="1500" dirty="0">
              <a:latin typeface="Times New Roman" panose="02020603050405020304" pitchFamily="18" charset="0"/>
              <a:cs typeface="Times New Roman" panose="02020603050405020304" pitchFamily="18" charset="0"/>
            </a:endParaRPr>
          </a:p>
        </p:txBody>
      </p:sp>
      <p:sp>
        <p:nvSpPr>
          <p:cNvPr id="5" name="Shape 3"/>
          <p:cNvSpPr/>
          <p:nvPr/>
        </p:nvSpPr>
        <p:spPr>
          <a:xfrm>
            <a:off x="4937760" y="3200400"/>
            <a:ext cx="2286000" cy="868680"/>
          </a:xfrm>
          <a:prstGeom prst="roundRect">
            <a:avLst>
              <a:gd name="adj" fmla="val 10526"/>
            </a:avLst>
          </a:prstGeom>
          <a:solidFill>
            <a:srgbClr val="14213D"/>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6" name="Text 4"/>
          <p:cNvSpPr/>
          <p:nvPr/>
        </p:nvSpPr>
        <p:spPr>
          <a:xfrm>
            <a:off x="4937760" y="3291840"/>
            <a:ext cx="2286000" cy="36576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Georgia" pitchFamily="34" charset="-122"/>
                <a:cs typeface="Times New Roman" panose="02020603050405020304" pitchFamily="18" charset="0"/>
              </a:rPr>
              <a:t>Policy Details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4937760" y="3675888"/>
            <a:ext cx="2286000" cy="274320"/>
          </a:xfrm>
          <a:prstGeom prst="rect">
            <a:avLst/>
          </a:prstGeom>
          <a:noFill/>
          <a:ln/>
        </p:spPr>
        <p:txBody>
          <a:bodyPr wrap="square" rtlCol="0" anchor="ctr"/>
          <a:lstStyle/>
          <a:p>
            <a:pPr marL="0" indent="0" algn="ctr">
              <a:buNone/>
            </a:pPr>
            <a:r>
              <a:rPr lang="en-US" sz="1200" dirty="0">
                <a:solidFill>
                  <a:srgbClr val="E4E8EF"/>
                </a:solidFill>
                <a:latin typeface="Times New Roman" panose="02020603050405020304" pitchFamily="18" charset="0"/>
                <a:ea typeface="Arial" pitchFamily="34" charset="-122"/>
                <a:cs typeface="Times New Roman" panose="02020603050405020304" pitchFamily="18" charset="0"/>
              </a:rPr>
              <a:t>Fact table</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4937760" y="1563441"/>
            <a:ext cx="2286000" cy="868680"/>
          </a:xfrm>
          <a:prstGeom prst="roundRect">
            <a:avLst>
              <a:gd name="adj" fmla="val 10526"/>
            </a:avLst>
          </a:prstGeom>
          <a:solidFill>
            <a:srgbClr val="2A9D8F"/>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9" name="Text 7"/>
          <p:cNvSpPr/>
          <p:nvPr/>
        </p:nvSpPr>
        <p:spPr>
          <a:xfrm>
            <a:off x="4937760" y="1645920"/>
            <a:ext cx="2286000" cy="36576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Georgia" pitchFamily="34" charset="-122"/>
                <a:cs typeface="Times New Roman" panose="02020603050405020304" pitchFamily="18" charset="0"/>
              </a:rPr>
              <a:t>Customer Information</a:t>
            </a:r>
            <a:endParaRPr lang="en-US" sz="1500" dirty="0">
              <a:latin typeface="Times New Roman" panose="02020603050405020304" pitchFamily="18" charset="0"/>
              <a:cs typeface="Times New Roman" panose="02020603050405020304" pitchFamily="18" charset="0"/>
            </a:endParaRPr>
          </a:p>
        </p:txBody>
      </p:sp>
      <p:sp>
        <p:nvSpPr>
          <p:cNvPr id="10" name="Text 8"/>
          <p:cNvSpPr/>
          <p:nvPr/>
        </p:nvSpPr>
        <p:spPr>
          <a:xfrm>
            <a:off x="4937760" y="2029968"/>
            <a:ext cx="2286000" cy="274320"/>
          </a:xfrm>
          <a:prstGeom prst="rect">
            <a:avLst/>
          </a:prstGeom>
          <a:noFill/>
          <a:ln/>
        </p:spPr>
        <p:txBody>
          <a:bodyPr wrap="square" rtlCol="0" anchor="ctr"/>
          <a:lstStyle/>
          <a:p>
            <a:pPr marL="0" indent="0" algn="ctr">
              <a:buNone/>
            </a:pPr>
            <a:r>
              <a:rPr lang="en-US" sz="1200" dirty="0">
                <a:solidFill>
                  <a:srgbClr val="E4E8EF"/>
                </a:solidFill>
                <a:latin typeface="Times New Roman" panose="02020603050405020304" pitchFamily="18" charset="0"/>
                <a:ea typeface="Arial" pitchFamily="34" charset="-122"/>
                <a:cs typeface="Times New Roman" panose="02020603050405020304" pitchFamily="18" charset="0"/>
              </a:rPr>
              <a:t>Customer ID</a:t>
            </a:r>
            <a:endParaRPr lang="en-US" sz="1200" dirty="0">
              <a:latin typeface="Times New Roman" panose="02020603050405020304" pitchFamily="18" charset="0"/>
              <a:cs typeface="Times New Roman" panose="02020603050405020304" pitchFamily="18" charset="0"/>
            </a:endParaRPr>
          </a:p>
        </p:txBody>
      </p:sp>
      <p:sp>
        <p:nvSpPr>
          <p:cNvPr id="11" name="Shape 9"/>
          <p:cNvSpPr/>
          <p:nvPr/>
        </p:nvSpPr>
        <p:spPr>
          <a:xfrm>
            <a:off x="914400" y="3200400"/>
            <a:ext cx="2286000" cy="868680"/>
          </a:xfrm>
          <a:prstGeom prst="roundRect">
            <a:avLst>
              <a:gd name="adj" fmla="val 10526"/>
            </a:avLst>
          </a:prstGeom>
          <a:solidFill>
            <a:srgbClr val="E76F51"/>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2" name="Text 10"/>
          <p:cNvSpPr/>
          <p:nvPr/>
        </p:nvSpPr>
        <p:spPr>
          <a:xfrm>
            <a:off x="914400" y="3291840"/>
            <a:ext cx="2286000" cy="36576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Georgia" pitchFamily="34" charset="-122"/>
                <a:cs typeface="Times New Roman" panose="02020603050405020304" pitchFamily="18" charset="0"/>
              </a:rPr>
              <a:t>Claims</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914400" y="3675888"/>
            <a:ext cx="2286000" cy="274320"/>
          </a:xfrm>
          <a:prstGeom prst="rect">
            <a:avLst/>
          </a:prstGeom>
          <a:noFill/>
          <a:ln/>
        </p:spPr>
        <p:txBody>
          <a:bodyPr wrap="square" rtlCol="0" anchor="ctr"/>
          <a:lstStyle/>
          <a:p>
            <a:pPr marL="0" indent="0" algn="ctr">
              <a:buNone/>
            </a:pPr>
            <a:r>
              <a:rPr lang="en-US" sz="1200" dirty="0">
                <a:solidFill>
                  <a:srgbClr val="E4E8EF"/>
                </a:solidFill>
                <a:latin typeface="Times New Roman" panose="02020603050405020304" pitchFamily="18" charset="0"/>
                <a:ea typeface="Arial" pitchFamily="34" charset="-122"/>
                <a:cs typeface="Times New Roman" panose="02020603050405020304" pitchFamily="18" charset="0"/>
              </a:rPr>
              <a:t>Policy ID</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8961120" y="3200400"/>
            <a:ext cx="2286000" cy="868680"/>
          </a:xfrm>
          <a:prstGeom prst="roundRect">
            <a:avLst>
              <a:gd name="adj" fmla="val 10526"/>
            </a:avLst>
          </a:prstGeom>
          <a:solidFill>
            <a:srgbClr val="E9B44C"/>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8961120" y="3291840"/>
            <a:ext cx="2286000" cy="36576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Georgia" pitchFamily="34" charset="-122"/>
                <a:cs typeface="Times New Roman" panose="02020603050405020304" pitchFamily="18" charset="0"/>
              </a:rPr>
              <a:t>Payment History</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8961120" y="3675888"/>
            <a:ext cx="2286000" cy="274320"/>
          </a:xfrm>
          <a:prstGeom prst="rect">
            <a:avLst/>
          </a:prstGeom>
          <a:noFill/>
          <a:ln/>
        </p:spPr>
        <p:txBody>
          <a:bodyPr wrap="square" rtlCol="0" anchor="ctr"/>
          <a:lstStyle/>
          <a:p>
            <a:pPr marL="0" indent="0" algn="ctr">
              <a:buNone/>
            </a:pPr>
            <a:r>
              <a:rPr lang="en-US" sz="1200" dirty="0">
                <a:solidFill>
                  <a:srgbClr val="E4E8EF"/>
                </a:solidFill>
                <a:latin typeface="Times New Roman" panose="02020603050405020304" pitchFamily="18" charset="0"/>
                <a:ea typeface="Arial" pitchFamily="34" charset="-122"/>
                <a:cs typeface="Times New Roman" panose="02020603050405020304" pitchFamily="18" charset="0"/>
              </a:rPr>
              <a:t>Policy ID</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4937760" y="4846320"/>
            <a:ext cx="2286000" cy="868680"/>
          </a:xfrm>
          <a:prstGeom prst="roundRect">
            <a:avLst>
              <a:gd name="adj" fmla="val 10526"/>
            </a:avLst>
          </a:prstGeom>
          <a:solidFill>
            <a:srgbClr val="6FA8DC"/>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8" name="Text 16"/>
          <p:cNvSpPr/>
          <p:nvPr/>
        </p:nvSpPr>
        <p:spPr>
          <a:xfrm>
            <a:off x="4937760" y="4937760"/>
            <a:ext cx="2286000" cy="365760"/>
          </a:xfrm>
          <a:prstGeom prst="rect">
            <a:avLst/>
          </a:prstGeom>
          <a:noFill/>
          <a:ln/>
        </p:spPr>
        <p:txBody>
          <a:bodyPr wrap="square" rtlCol="0" anchor="ctr"/>
          <a:lstStyle/>
          <a:p>
            <a:pPr marL="0" indent="0" algn="ctr">
              <a:buNone/>
            </a:pPr>
            <a:r>
              <a:rPr lang="en-US" sz="1500" b="1" dirty="0">
                <a:solidFill>
                  <a:srgbClr val="FFFFFF"/>
                </a:solidFill>
                <a:latin typeface="Times New Roman" panose="02020603050405020304" pitchFamily="18" charset="0"/>
                <a:ea typeface="Georgia" pitchFamily="34" charset="-122"/>
                <a:cs typeface="Times New Roman" panose="02020603050405020304" pitchFamily="18" charset="0"/>
              </a:rPr>
              <a:t>Additional Fields</a:t>
            </a:r>
            <a:endParaRPr lang="en-US" sz="1500" dirty="0">
              <a:latin typeface="Times New Roman" panose="02020603050405020304" pitchFamily="18" charset="0"/>
              <a:cs typeface="Times New Roman" panose="02020603050405020304" pitchFamily="18" charset="0"/>
            </a:endParaRPr>
          </a:p>
        </p:txBody>
      </p:sp>
      <p:sp>
        <p:nvSpPr>
          <p:cNvPr id="19" name="Text 17"/>
          <p:cNvSpPr/>
          <p:nvPr/>
        </p:nvSpPr>
        <p:spPr>
          <a:xfrm>
            <a:off x="4937760" y="5321808"/>
            <a:ext cx="2286000" cy="274320"/>
          </a:xfrm>
          <a:prstGeom prst="rect">
            <a:avLst/>
          </a:prstGeom>
          <a:noFill/>
          <a:ln/>
        </p:spPr>
        <p:txBody>
          <a:bodyPr wrap="square" rtlCol="0" anchor="ctr"/>
          <a:lstStyle/>
          <a:p>
            <a:pPr marL="0" indent="0" algn="ctr">
              <a:buNone/>
            </a:pPr>
            <a:r>
              <a:rPr lang="en-US" sz="1200" dirty="0">
                <a:solidFill>
                  <a:srgbClr val="E4E8EF"/>
                </a:solidFill>
                <a:latin typeface="Times New Roman" panose="02020603050405020304" pitchFamily="18" charset="0"/>
                <a:ea typeface="Arial" pitchFamily="34" charset="-122"/>
                <a:cs typeface="Times New Roman" panose="02020603050405020304" pitchFamily="18" charset="0"/>
              </a:rPr>
              <a:t>Policy ID</a:t>
            </a:r>
            <a:endParaRPr lang="en-US" sz="1200" dirty="0">
              <a:latin typeface="Times New Roman" panose="02020603050405020304" pitchFamily="18" charset="0"/>
              <a:cs typeface="Times New Roman" panose="02020603050405020304" pitchFamily="18" charset="0"/>
            </a:endParaRPr>
          </a:p>
        </p:txBody>
      </p:sp>
      <p:sp>
        <p:nvSpPr>
          <p:cNvPr id="20" name="Shape 18"/>
          <p:cNvSpPr/>
          <p:nvPr/>
        </p:nvSpPr>
        <p:spPr>
          <a:xfrm>
            <a:off x="6080760" y="2423160"/>
            <a:ext cx="0" cy="777240"/>
          </a:xfrm>
          <a:prstGeom prst="line">
            <a:avLst/>
          </a:prstGeom>
          <a:noFill/>
          <a:ln w="19050">
            <a:solidFill>
              <a:srgbClr val="B9C0CE"/>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1" name="Shape 19"/>
          <p:cNvSpPr/>
          <p:nvPr/>
        </p:nvSpPr>
        <p:spPr>
          <a:xfrm>
            <a:off x="3200400" y="3634740"/>
            <a:ext cx="1737360" cy="22860"/>
          </a:xfrm>
          <a:prstGeom prst="line">
            <a:avLst/>
          </a:prstGeom>
          <a:noFill/>
          <a:ln w="19050">
            <a:solidFill>
              <a:srgbClr val="B9C0CE"/>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2" name="Shape 20"/>
          <p:cNvSpPr/>
          <p:nvPr/>
        </p:nvSpPr>
        <p:spPr>
          <a:xfrm>
            <a:off x="7223760" y="3634740"/>
            <a:ext cx="1737360" cy="0"/>
          </a:xfrm>
          <a:prstGeom prst="line">
            <a:avLst/>
          </a:prstGeom>
          <a:noFill/>
          <a:ln w="19050">
            <a:solidFill>
              <a:srgbClr val="B9C0CE"/>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3" name="Shape 21"/>
          <p:cNvSpPr/>
          <p:nvPr/>
        </p:nvSpPr>
        <p:spPr>
          <a:xfrm>
            <a:off x="6080760" y="4069080"/>
            <a:ext cx="0" cy="777240"/>
          </a:xfrm>
          <a:prstGeom prst="line">
            <a:avLst/>
          </a:prstGeom>
          <a:noFill/>
          <a:ln w="19050">
            <a:solidFill>
              <a:srgbClr val="B9C0CE"/>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5" name="Rectangle 24"/>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rtlCol="0" anchor="ctr"/>
          <a:lstStyle/>
          <a:p>
            <a:pPr marL="0" indent="0">
              <a:buNone/>
            </a:pPr>
            <a:r>
              <a:rPr lang="en-US" sz="1150" b="1" kern="0" spc="150" dirty="0">
                <a:solidFill>
                  <a:srgbClr val="2A9D8F"/>
                </a:solidFill>
                <a:latin typeface="Times New Roman" panose="02020603050405020304" pitchFamily="18" charset="0"/>
                <a:ea typeface="Arial" pitchFamily="34" charset="-122"/>
                <a:cs typeface="Times New Roman" panose="02020603050405020304" pitchFamily="18" charset="0"/>
              </a:rPr>
              <a:t>GROUNDWORK</a:t>
            </a:r>
            <a:endParaRPr lang="en-US" sz="1150" dirty="0">
              <a:latin typeface="Times New Roman" panose="02020603050405020304" pitchFamily="18" charset="0"/>
              <a:cs typeface="Times New Roman" panose="02020603050405020304" pitchFamily="18" charset="0"/>
            </a:endParaRPr>
          </a:p>
        </p:txBody>
      </p:sp>
      <p:sp>
        <p:nvSpPr>
          <p:cNvPr id="3" name="Text 1"/>
          <p:cNvSpPr/>
          <p:nvPr/>
        </p:nvSpPr>
        <p:spPr>
          <a:xfrm>
            <a:off x="640080" y="658368"/>
            <a:ext cx="10789920" cy="685800"/>
          </a:xfrm>
          <a:prstGeom prst="rect">
            <a:avLst/>
          </a:prstGeom>
          <a:noFill/>
          <a:ln/>
        </p:spPr>
        <p:txBody>
          <a:bodyPr wrap="square" rtlCol="0" anchor="ctr"/>
          <a:lstStyle/>
          <a:p>
            <a:pPr marL="0" indent="0">
              <a:buNone/>
            </a:pPr>
            <a:r>
              <a:rPr lang="en-US" sz="2600" b="1" dirty="0">
                <a:solidFill>
                  <a:srgbClr val="14213D"/>
                </a:solidFill>
                <a:latin typeface="Times New Roman" panose="02020603050405020304" pitchFamily="18" charset="0"/>
                <a:ea typeface="Georgia" pitchFamily="34" charset="-122"/>
                <a:cs typeface="Times New Roman" panose="02020603050405020304" pitchFamily="18" charset="0"/>
              </a:rPr>
              <a:t>Data Preparation &amp; Cleaning</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640080" y="1417320"/>
            <a:ext cx="10058400" cy="411480"/>
          </a:xfrm>
          <a:prstGeom prst="rect">
            <a:avLst/>
          </a:prstGeom>
          <a:noFill/>
          <a:ln/>
        </p:spPr>
        <p:txBody>
          <a:bodyPr wrap="square" rtlCol="0" anchor="ctr"/>
          <a:lstStyle/>
          <a:p>
            <a:pPr marL="0" indent="0">
              <a:buNone/>
            </a:pPr>
            <a:r>
              <a:rPr lang="en-US" sz="1500" dirty="0">
                <a:latin typeface="Times New Roman" panose="02020603050405020304" pitchFamily="18" charset="0"/>
                <a:ea typeface="Arial" pitchFamily="34" charset="-122"/>
                <a:cs typeface="Times New Roman" panose="02020603050405020304" pitchFamily="18" charset="0"/>
              </a:rPr>
              <a:t>Before analysis, each tool's source connection was cleaned the same way to keep results comparable.</a:t>
            </a:r>
            <a:endParaRPr lang="en-US" sz="1500" dirty="0">
              <a:latin typeface="Times New Roman" panose="02020603050405020304" pitchFamily="18" charset="0"/>
              <a:cs typeface="Times New Roman" panose="02020603050405020304" pitchFamily="18" charset="0"/>
            </a:endParaRPr>
          </a:p>
        </p:txBody>
      </p:sp>
      <p:sp>
        <p:nvSpPr>
          <p:cNvPr id="5" name="Shape 3"/>
          <p:cNvSpPr/>
          <p:nvPr/>
        </p:nvSpPr>
        <p:spPr>
          <a:xfrm>
            <a:off x="640080" y="2147050"/>
            <a:ext cx="3474720" cy="1234440"/>
          </a:xfrm>
          <a:prstGeom prst="roundRect">
            <a:avLst>
              <a:gd name="adj" fmla="val 740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6" name="Shape 4"/>
          <p:cNvSpPr/>
          <p:nvPr/>
        </p:nvSpPr>
        <p:spPr>
          <a:xfrm>
            <a:off x="841248" y="2240280"/>
            <a:ext cx="365760" cy="365760"/>
          </a:xfrm>
          <a:prstGeom prst="roundRect">
            <a:avLst>
              <a:gd name="adj" fmla="val 20000"/>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841248" y="2679192"/>
            <a:ext cx="3108960" cy="292608"/>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Remove blank columns</a:t>
            </a:r>
            <a:endParaRPr lang="en-US" sz="1500" dirty="0">
              <a:latin typeface="Times New Roman" panose="02020603050405020304" pitchFamily="18" charset="0"/>
              <a:cs typeface="Times New Roman" panose="02020603050405020304" pitchFamily="18" charset="0"/>
            </a:endParaRPr>
          </a:p>
        </p:txBody>
      </p:sp>
      <p:sp>
        <p:nvSpPr>
          <p:cNvPr id="8" name="Text 6"/>
          <p:cNvSpPr/>
          <p:nvPr/>
        </p:nvSpPr>
        <p:spPr>
          <a:xfrm>
            <a:off x="841248" y="2953512"/>
            <a:ext cx="3108960" cy="502920"/>
          </a:xfrm>
          <a:prstGeom prst="rect">
            <a:avLst/>
          </a:prstGeom>
          <a:noFill/>
          <a:ln/>
        </p:spPr>
        <p:txBody>
          <a:bodyPr wrap="square" rtlCol="0" anchor="ctr"/>
          <a:lstStyle/>
          <a:p>
            <a:pPr marL="0" indent="0">
              <a:lnSpc>
                <a:spcPts val="1200"/>
              </a:lnSpc>
              <a:buNone/>
            </a:pPr>
            <a:r>
              <a:rPr lang="en-US" sz="1200" dirty="0">
                <a:latin typeface="Times New Roman" panose="02020603050405020304" pitchFamily="18" charset="0"/>
                <a:ea typeface="Arial" pitchFamily="34" charset="-122"/>
                <a:cs typeface="Times New Roman" panose="02020603050405020304" pitchFamily="18" charset="0"/>
              </a:rPr>
              <a:t>4 unused columns in Policy Details &amp; Claims (auto-generated, &gt;99% null) were hidden.</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4343400" y="2156015"/>
            <a:ext cx="3474720" cy="1234440"/>
          </a:xfrm>
          <a:prstGeom prst="roundRect">
            <a:avLst>
              <a:gd name="adj" fmla="val 740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0" name="Shape 8"/>
          <p:cNvSpPr/>
          <p:nvPr/>
        </p:nvSpPr>
        <p:spPr>
          <a:xfrm>
            <a:off x="4544568" y="2240280"/>
            <a:ext cx="365760" cy="365760"/>
          </a:xfrm>
          <a:prstGeom prst="roundRect">
            <a:avLst>
              <a:gd name="adj" fmla="val 20000"/>
            </a:avLst>
          </a:prstGeom>
          <a:solidFill>
            <a:srgbClr val="E9B44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9"/>
          <p:cNvSpPr/>
          <p:nvPr/>
        </p:nvSpPr>
        <p:spPr>
          <a:xfrm>
            <a:off x="4544568" y="2679192"/>
            <a:ext cx="3108960" cy="292608"/>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Fix data </a:t>
            </a:r>
            <a:r>
              <a:rPr lang="en-US" sz="1500" b="1" dirty="0">
                <a:solidFill>
                  <a:srgbClr val="14213D"/>
                </a:solidFill>
                <a:latin typeface="Times New Roman" panose="02020603050405020304" pitchFamily="18" charset="0"/>
                <a:cs typeface="Times New Roman" panose="02020603050405020304" pitchFamily="18" charset="0"/>
              </a:rPr>
              <a:t>types</a:t>
            </a:r>
          </a:p>
        </p:txBody>
      </p:sp>
      <p:sp>
        <p:nvSpPr>
          <p:cNvPr id="12" name="Text 10"/>
          <p:cNvSpPr/>
          <p:nvPr/>
        </p:nvSpPr>
        <p:spPr>
          <a:xfrm>
            <a:off x="4544568" y="2953512"/>
            <a:ext cx="3108960" cy="502920"/>
          </a:xfrm>
          <a:prstGeom prst="rect">
            <a:avLst/>
          </a:prstGeom>
          <a:noFill/>
          <a:ln/>
        </p:spPr>
        <p:txBody>
          <a:bodyPr wrap="square" rtlCol="0" anchor="ctr"/>
          <a:lstStyle/>
          <a:p>
            <a:pPr marL="0" indent="0">
              <a:lnSpc>
                <a:spcPts val="1200"/>
              </a:lnSpc>
              <a:buNone/>
            </a:pPr>
            <a:r>
              <a:rPr lang="en-US" sz="1200" dirty="0">
                <a:latin typeface="Times New Roman" panose="02020603050405020304" pitchFamily="18" charset="0"/>
                <a:ea typeface="Arial" pitchFamily="34" charset="-122"/>
                <a:cs typeface="Times New Roman" panose="02020603050405020304" pitchFamily="18" charset="0"/>
              </a:rPr>
              <a:t>Date columns (start, end, claim, settlement, payment) cast to proper Date type.</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8046720" y="2138085"/>
            <a:ext cx="3474720" cy="1234440"/>
          </a:xfrm>
          <a:prstGeom prst="roundRect">
            <a:avLst>
              <a:gd name="adj" fmla="val 740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4" name="Shape 12"/>
          <p:cNvSpPr/>
          <p:nvPr/>
        </p:nvSpPr>
        <p:spPr>
          <a:xfrm>
            <a:off x="8247888" y="2240280"/>
            <a:ext cx="365760" cy="365760"/>
          </a:xfrm>
          <a:prstGeom prst="roundRect">
            <a:avLst>
              <a:gd name="adj" fmla="val 20000"/>
            </a:avLst>
          </a:prstGeom>
          <a:solidFill>
            <a:srgbClr val="E76F5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8247888" y="2679192"/>
            <a:ext cx="3108960" cy="292608"/>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Validate relationships</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8247888" y="2953512"/>
            <a:ext cx="3108960" cy="502920"/>
          </a:xfrm>
          <a:prstGeom prst="rect">
            <a:avLst/>
          </a:prstGeom>
          <a:noFill/>
          <a:ln/>
        </p:spPr>
        <p:txBody>
          <a:bodyPr wrap="square" rtlCol="0" anchor="ctr"/>
          <a:lstStyle/>
          <a:p>
            <a:pPr marL="0" indent="0">
              <a:lnSpc>
                <a:spcPts val="1200"/>
              </a:lnSpc>
              <a:buNone/>
            </a:pPr>
            <a:r>
              <a:rPr lang="en-US" sz="1200" dirty="0">
                <a:latin typeface="Times New Roman" panose="02020603050405020304" pitchFamily="18" charset="0"/>
                <a:ea typeface="Arial" pitchFamily="34" charset="-122"/>
                <a:cs typeface="Times New Roman" panose="02020603050405020304" pitchFamily="18" charset="0"/>
              </a:rPr>
              <a:t>Customer ID and Policy ID joins checked across all 5 tables — no orphan rows found.</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640080" y="3573335"/>
            <a:ext cx="3474720" cy="1234440"/>
          </a:xfrm>
          <a:prstGeom prst="roundRect">
            <a:avLst>
              <a:gd name="adj" fmla="val 740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8" name="Shape 16"/>
          <p:cNvSpPr/>
          <p:nvPr/>
        </p:nvSpPr>
        <p:spPr>
          <a:xfrm>
            <a:off x="841248" y="3657600"/>
            <a:ext cx="365760" cy="365760"/>
          </a:xfrm>
          <a:prstGeom prst="roundRect">
            <a:avLst>
              <a:gd name="adj" fmla="val 20000"/>
            </a:avLst>
          </a:prstGeom>
          <a:solidFill>
            <a:srgbClr val="6FA8D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7"/>
          <p:cNvSpPr/>
          <p:nvPr/>
        </p:nvSpPr>
        <p:spPr>
          <a:xfrm>
            <a:off x="841248" y="4096512"/>
            <a:ext cx="3108960" cy="292608"/>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Handle expected nulls</a:t>
            </a:r>
            <a:endParaRPr lang="en-US" sz="1500" dirty="0">
              <a:latin typeface="Times New Roman" panose="02020603050405020304" pitchFamily="18" charset="0"/>
              <a:cs typeface="Times New Roman" panose="02020603050405020304" pitchFamily="18" charset="0"/>
            </a:endParaRPr>
          </a:p>
        </p:txBody>
      </p:sp>
      <p:sp>
        <p:nvSpPr>
          <p:cNvPr id="20" name="Text 18"/>
          <p:cNvSpPr/>
          <p:nvPr/>
        </p:nvSpPr>
        <p:spPr>
          <a:xfrm>
            <a:off x="841248" y="4370832"/>
            <a:ext cx="3108960" cy="502920"/>
          </a:xfrm>
          <a:prstGeom prst="rect">
            <a:avLst/>
          </a:prstGeom>
          <a:noFill/>
          <a:ln/>
        </p:spPr>
        <p:txBody>
          <a:bodyPr wrap="square" rtlCol="0" anchor="ctr"/>
          <a:lstStyle/>
          <a:p>
            <a:pPr marL="0" indent="0">
              <a:lnSpc>
                <a:spcPts val="1200"/>
              </a:lnSpc>
              <a:buNone/>
            </a:pPr>
            <a:r>
              <a:rPr lang="en-US" sz="1200" dirty="0">
                <a:latin typeface="Times New Roman" panose="02020603050405020304" pitchFamily="18" charset="0"/>
                <a:ea typeface="Arial" pitchFamily="34" charset="-122"/>
                <a:cs typeface="Times New Roman" panose="02020603050405020304" pitchFamily="18" charset="0"/>
              </a:rPr>
              <a:t>1,555 blank Settlement Dates kept as-is — claims still Pending/Denied have none.</a:t>
            </a:r>
            <a:endParaRPr lang="en-US" sz="1200" dirty="0">
              <a:latin typeface="Times New Roman" panose="02020603050405020304" pitchFamily="18" charset="0"/>
              <a:cs typeface="Times New Roman" panose="02020603050405020304" pitchFamily="18" charset="0"/>
            </a:endParaRPr>
          </a:p>
        </p:txBody>
      </p:sp>
      <p:sp>
        <p:nvSpPr>
          <p:cNvPr id="21" name="Shape 19"/>
          <p:cNvSpPr/>
          <p:nvPr/>
        </p:nvSpPr>
        <p:spPr>
          <a:xfrm>
            <a:off x="4343400" y="3573335"/>
            <a:ext cx="3474720" cy="1234440"/>
          </a:xfrm>
          <a:prstGeom prst="roundRect">
            <a:avLst>
              <a:gd name="adj" fmla="val 7407"/>
            </a:avLst>
          </a:prstGeom>
          <a:solidFill>
            <a:srgbClr val="F6F7F9"/>
          </a:solidFill>
          <a:ln/>
          <a:effectLst>
            <a:outerShdw blurRad="152400" dist="38100" dir="5400000" algn="bl" rotWithShape="0">
              <a:srgbClr val="1B2A4A">
                <a:alpha val="18000"/>
              </a:srgbClr>
            </a:outerShdw>
          </a:effectLst>
        </p:spPr>
        <p:txBody>
          <a:bodyPr/>
          <a:lstStyle/>
          <a:p>
            <a:endParaRPr lang="en-IN" dirty="0">
              <a:latin typeface="Times New Roman" panose="02020603050405020304" pitchFamily="18" charset="0"/>
              <a:cs typeface="Times New Roman" panose="02020603050405020304" pitchFamily="18" charset="0"/>
            </a:endParaRPr>
          </a:p>
        </p:txBody>
      </p:sp>
      <p:sp>
        <p:nvSpPr>
          <p:cNvPr id="22" name="Shape 20"/>
          <p:cNvSpPr/>
          <p:nvPr/>
        </p:nvSpPr>
        <p:spPr>
          <a:xfrm>
            <a:off x="4544568" y="3657600"/>
            <a:ext cx="365760" cy="365760"/>
          </a:xfrm>
          <a:prstGeom prst="roundRect">
            <a:avLst>
              <a:gd name="adj" fmla="val 20000"/>
            </a:avLst>
          </a:prstGeom>
          <a:solidFill>
            <a:srgbClr val="14213D"/>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3" name="Text 21"/>
          <p:cNvSpPr/>
          <p:nvPr/>
        </p:nvSpPr>
        <p:spPr>
          <a:xfrm>
            <a:off x="4544568" y="4096512"/>
            <a:ext cx="3108960" cy="292608"/>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De-duplicate</a:t>
            </a:r>
            <a:endParaRPr lang="en-US" sz="1500" dirty="0">
              <a:latin typeface="Times New Roman" panose="02020603050405020304" pitchFamily="18" charset="0"/>
              <a:cs typeface="Times New Roman" panose="02020603050405020304" pitchFamily="18" charset="0"/>
            </a:endParaRPr>
          </a:p>
        </p:txBody>
      </p:sp>
      <p:sp>
        <p:nvSpPr>
          <p:cNvPr id="24" name="Text 22"/>
          <p:cNvSpPr/>
          <p:nvPr/>
        </p:nvSpPr>
        <p:spPr>
          <a:xfrm>
            <a:off x="4544568" y="4370832"/>
            <a:ext cx="3108960" cy="502920"/>
          </a:xfrm>
          <a:prstGeom prst="rect">
            <a:avLst/>
          </a:prstGeom>
          <a:noFill/>
          <a:ln/>
        </p:spPr>
        <p:txBody>
          <a:bodyPr wrap="square" rtlCol="0" anchor="ctr"/>
          <a:lstStyle/>
          <a:p>
            <a:pPr marL="0" indent="0">
              <a:lnSpc>
                <a:spcPts val="1200"/>
              </a:lnSpc>
              <a:buNone/>
            </a:pPr>
            <a:r>
              <a:rPr lang="en-US" sz="1200" dirty="0">
                <a:latin typeface="Times New Roman" panose="02020603050405020304" pitchFamily="18" charset="0"/>
                <a:ea typeface="Arial" pitchFamily="34" charset="-122"/>
                <a:cs typeface="Times New Roman" panose="02020603050405020304" pitchFamily="18" charset="0"/>
              </a:rPr>
              <a:t>Row-level duplicate check run on every sheet — 0 duplicates found across 5,000 rows.</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8046720" y="3546440"/>
            <a:ext cx="3474720" cy="1234440"/>
          </a:xfrm>
          <a:prstGeom prst="roundRect">
            <a:avLst>
              <a:gd name="adj" fmla="val 740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26" name="Shape 24"/>
          <p:cNvSpPr/>
          <p:nvPr/>
        </p:nvSpPr>
        <p:spPr>
          <a:xfrm>
            <a:off x="8247888" y="3657600"/>
            <a:ext cx="365760" cy="365760"/>
          </a:xfrm>
          <a:prstGeom prst="roundRect">
            <a:avLst>
              <a:gd name="adj" fmla="val 20000"/>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7" name="Text 25"/>
          <p:cNvSpPr/>
          <p:nvPr/>
        </p:nvSpPr>
        <p:spPr>
          <a:xfrm>
            <a:off x="8247888" y="4096512"/>
            <a:ext cx="3108960" cy="292608"/>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Bin age groups</a:t>
            </a:r>
            <a:endParaRPr lang="en-US" sz="1500" dirty="0">
              <a:latin typeface="Times New Roman" panose="02020603050405020304" pitchFamily="18" charset="0"/>
              <a:cs typeface="Times New Roman" panose="02020603050405020304" pitchFamily="18" charset="0"/>
            </a:endParaRPr>
          </a:p>
        </p:txBody>
      </p:sp>
      <p:sp>
        <p:nvSpPr>
          <p:cNvPr id="28" name="Text 26"/>
          <p:cNvSpPr/>
          <p:nvPr/>
        </p:nvSpPr>
        <p:spPr>
          <a:xfrm>
            <a:off x="8247888" y="4370832"/>
            <a:ext cx="3108960" cy="502920"/>
          </a:xfrm>
          <a:prstGeom prst="rect">
            <a:avLst/>
          </a:prstGeom>
          <a:noFill/>
          <a:ln/>
        </p:spPr>
        <p:txBody>
          <a:bodyPr wrap="square" rtlCol="0" anchor="ctr"/>
          <a:lstStyle/>
          <a:p>
            <a:pPr marL="0" indent="0">
              <a:lnSpc>
                <a:spcPts val="1200"/>
              </a:lnSpc>
              <a:buNone/>
            </a:pPr>
            <a:r>
              <a:rPr lang="en-US" sz="1200" dirty="0">
                <a:latin typeface="Times New Roman" panose="02020603050405020304" pitchFamily="18" charset="0"/>
                <a:ea typeface="Arial" pitchFamily="34" charset="-122"/>
                <a:cs typeface="Times New Roman" panose="02020603050405020304" pitchFamily="18" charset="0"/>
              </a:rPr>
              <a:t>Custom 8-bucket Age Group field (&lt;18 to 75+) built once, reused in every tool.</a:t>
            </a:r>
            <a:endParaRPr lang="en-US" sz="1200" dirty="0">
              <a:latin typeface="Times New Roman" panose="02020603050405020304" pitchFamily="18" charset="0"/>
              <a:cs typeface="Times New Roman" panose="02020603050405020304" pitchFamily="18" charset="0"/>
            </a:endParaRPr>
          </a:p>
        </p:txBody>
      </p:sp>
      <p:sp>
        <p:nvSpPr>
          <p:cNvPr id="30" name="Rectangle 29"/>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rtlCol="0" anchor="ctr"/>
          <a:lstStyle/>
          <a:p>
            <a:pPr marL="0" indent="0">
              <a:buNone/>
            </a:pPr>
            <a:r>
              <a:rPr lang="en-US" sz="1150" b="1" kern="0" spc="150" dirty="0">
                <a:solidFill>
                  <a:srgbClr val="2A9D8F"/>
                </a:solidFill>
                <a:latin typeface="Times New Roman" panose="02020603050405020304" pitchFamily="18" charset="0"/>
                <a:ea typeface="Arial" pitchFamily="34" charset="-122"/>
                <a:cs typeface="Times New Roman" panose="02020603050405020304" pitchFamily="18" charset="0"/>
              </a:rPr>
              <a:t>METRICS</a:t>
            </a:r>
            <a:endParaRPr lang="en-US" sz="1150" dirty="0">
              <a:latin typeface="Times New Roman" panose="02020603050405020304" pitchFamily="18" charset="0"/>
              <a:cs typeface="Times New Roman" panose="02020603050405020304" pitchFamily="18" charset="0"/>
            </a:endParaRPr>
          </a:p>
        </p:txBody>
      </p:sp>
      <p:sp>
        <p:nvSpPr>
          <p:cNvPr id="3" name="Text 1"/>
          <p:cNvSpPr/>
          <p:nvPr/>
        </p:nvSpPr>
        <p:spPr>
          <a:xfrm>
            <a:off x="640080" y="658368"/>
            <a:ext cx="10789920" cy="685800"/>
          </a:xfrm>
          <a:prstGeom prst="rect">
            <a:avLst/>
          </a:prstGeom>
          <a:noFill/>
          <a:ln/>
        </p:spPr>
        <p:txBody>
          <a:bodyPr wrap="square" rtlCol="0" anchor="ctr"/>
          <a:lstStyle/>
          <a:p>
            <a:pPr marL="0" indent="0">
              <a:buNone/>
            </a:pPr>
            <a:r>
              <a:rPr lang="en-US" sz="2600" b="1" dirty="0">
                <a:solidFill>
                  <a:srgbClr val="14213D"/>
                </a:solidFill>
                <a:latin typeface="Times New Roman" panose="02020603050405020304" pitchFamily="18" charset="0"/>
                <a:ea typeface="Georgia" pitchFamily="34" charset="-122"/>
                <a:cs typeface="Times New Roman" panose="02020603050405020304" pitchFamily="18" charset="0"/>
              </a:rPr>
              <a:t>Key Performance Indicators</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640080" y="1463040"/>
            <a:ext cx="10058400" cy="457200"/>
          </a:xfrm>
          <a:prstGeom prst="rect">
            <a:avLst/>
          </a:prstGeom>
          <a:noFill/>
          <a:ln/>
        </p:spPr>
        <p:txBody>
          <a:bodyPr wrap="square" rtlCol="0" anchor="ctr"/>
          <a:lstStyle/>
          <a:p>
            <a:pPr marL="0" indent="0">
              <a:buNone/>
            </a:pPr>
            <a:r>
              <a:rPr lang="en-US" sz="1600" dirty="0">
                <a:latin typeface="Times New Roman" panose="02020603050405020304" pitchFamily="18" charset="0"/>
                <a:ea typeface="Arial" pitchFamily="34" charset="-122"/>
                <a:cs typeface="Times New Roman" panose="02020603050405020304" pitchFamily="18" charset="0"/>
              </a:rPr>
              <a:t>21 core KPIs were defined across five categories, and answered consistently across all four tools.</a:t>
            </a:r>
            <a:endParaRPr lang="en-US" sz="1600" dirty="0">
              <a:latin typeface="Times New Roman" panose="02020603050405020304" pitchFamily="18" charset="0"/>
              <a:cs typeface="Times New Roman" panose="02020603050405020304" pitchFamily="18" charset="0"/>
            </a:endParaRPr>
          </a:p>
        </p:txBody>
      </p:sp>
      <p:sp>
        <p:nvSpPr>
          <p:cNvPr id="5" name="Shape 3"/>
          <p:cNvSpPr/>
          <p:nvPr/>
        </p:nvSpPr>
        <p:spPr>
          <a:xfrm>
            <a:off x="640080" y="2286000"/>
            <a:ext cx="2103120" cy="3291840"/>
          </a:xfrm>
          <a:prstGeom prst="roundRect">
            <a:avLst>
              <a:gd name="adj" fmla="val 521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6" name="Shape 4"/>
          <p:cNvSpPr/>
          <p:nvPr/>
        </p:nvSpPr>
        <p:spPr>
          <a:xfrm>
            <a:off x="868680" y="2560320"/>
            <a:ext cx="548640" cy="320040"/>
          </a:xfrm>
          <a:prstGeom prst="roundRect">
            <a:avLst>
              <a:gd name="adj" fmla="val 17143"/>
            </a:avLst>
          </a:prstGeom>
          <a:solidFill>
            <a:srgbClr val="2A9D8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832819" y="2560320"/>
            <a:ext cx="637391" cy="320040"/>
          </a:xfrm>
          <a:prstGeom prst="rect">
            <a:avLst/>
          </a:prstGeom>
          <a:noFill/>
          <a:ln/>
        </p:spPr>
        <p:txBody>
          <a:bodyPr wrap="square" rtlCol="0" anchor="ctr"/>
          <a:lstStyle/>
          <a:p>
            <a:pPr marL="0" indent="0" algn="ctr">
              <a:buNone/>
            </a:pPr>
            <a:r>
              <a:rPr lang="en-US" sz="950" b="1" dirty="0">
                <a:solidFill>
                  <a:srgbClr val="FFFFFF"/>
                </a:solidFill>
                <a:latin typeface="Times New Roman" panose="02020603050405020304" pitchFamily="18" charset="0"/>
                <a:ea typeface="Arial" pitchFamily="34" charset="-122"/>
                <a:cs typeface="Times New Roman" panose="02020603050405020304" pitchFamily="18" charset="0"/>
              </a:rPr>
              <a:t>Q2–Q6</a:t>
            </a:r>
            <a:endParaRPr lang="en-US" sz="950" dirty="0">
              <a:latin typeface="Times New Roman" panose="02020603050405020304" pitchFamily="18" charset="0"/>
              <a:cs typeface="Times New Roman" panose="02020603050405020304" pitchFamily="18" charset="0"/>
            </a:endParaRPr>
          </a:p>
        </p:txBody>
      </p:sp>
      <p:sp>
        <p:nvSpPr>
          <p:cNvPr id="8" name="Text 6"/>
          <p:cNvSpPr/>
          <p:nvPr/>
        </p:nvSpPr>
        <p:spPr>
          <a:xfrm>
            <a:off x="868680" y="3063240"/>
            <a:ext cx="1645920" cy="64008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Volume &amp; Value</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868680" y="3703320"/>
            <a:ext cx="1645920" cy="1737360"/>
          </a:xfrm>
          <a:prstGeom prst="rect">
            <a:avLst/>
          </a:prstGeom>
          <a:noFill/>
          <a:ln/>
        </p:spPr>
        <p:txBody>
          <a:bodyPr wrap="square" rtlCol="0" anchor="ctr"/>
          <a:lstStyle/>
          <a:p>
            <a:pPr marL="0" indent="0">
              <a:lnSpc>
                <a:spcPts val="1400"/>
              </a:lnSpc>
              <a:buNone/>
            </a:pPr>
            <a:r>
              <a:rPr lang="en-US" sz="1200" dirty="0">
                <a:latin typeface="Times New Roman" panose="02020603050405020304" pitchFamily="18" charset="0"/>
                <a:ea typeface="Arial" pitchFamily="34" charset="-122"/>
                <a:cs typeface="Times New Roman" panose="02020603050405020304" pitchFamily="18" charset="0"/>
              </a:rPr>
              <a:t>Customers, policies, claims, avg. coverage &amp; premium</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2926080" y="2286000"/>
            <a:ext cx="2103120" cy="3291840"/>
          </a:xfrm>
          <a:prstGeom prst="roundRect">
            <a:avLst>
              <a:gd name="adj" fmla="val 521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1" name="Shape 9"/>
          <p:cNvSpPr/>
          <p:nvPr/>
        </p:nvSpPr>
        <p:spPr>
          <a:xfrm>
            <a:off x="3154680" y="2560320"/>
            <a:ext cx="548640" cy="320040"/>
          </a:xfrm>
          <a:prstGeom prst="roundRect">
            <a:avLst>
              <a:gd name="adj" fmla="val 17143"/>
            </a:avLst>
          </a:prstGeom>
          <a:solidFill>
            <a:srgbClr val="E9B44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2" name="Text 10"/>
          <p:cNvSpPr/>
          <p:nvPr/>
        </p:nvSpPr>
        <p:spPr>
          <a:xfrm>
            <a:off x="3109854" y="2560320"/>
            <a:ext cx="637391" cy="320040"/>
          </a:xfrm>
          <a:prstGeom prst="rect">
            <a:avLst/>
          </a:prstGeom>
          <a:noFill/>
          <a:ln/>
        </p:spPr>
        <p:txBody>
          <a:bodyPr wrap="square" rtlCol="0" anchor="ctr"/>
          <a:lstStyle/>
          <a:p>
            <a:pPr marL="0" indent="0" algn="ctr">
              <a:buNone/>
            </a:pPr>
            <a:r>
              <a:rPr lang="en-US" sz="950" b="1" dirty="0">
                <a:solidFill>
                  <a:srgbClr val="FFFFFF"/>
                </a:solidFill>
                <a:latin typeface="Times New Roman" panose="02020603050405020304" pitchFamily="18" charset="0"/>
                <a:ea typeface="Arial" pitchFamily="34" charset="-122"/>
                <a:cs typeface="Times New Roman" panose="02020603050405020304" pitchFamily="18" charset="0"/>
              </a:rPr>
              <a:t>Q7–Q10</a:t>
            </a:r>
            <a:endParaRPr lang="en-US" sz="950" dirty="0">
              <a:latin typeface="Times New Roman" panose="02020603050405020304" pitchFamily="18" charset="0"/>
              <a:cs typeface="Times New Roman" panose="02020603050405020304" pitchFamily="18" charset="0"/>
            </a:endParaRPr>
          </a:p>
        </p:txBody>
      </p:sp>
      <p:sp>
        <p:nvSpPr>
          <p:cNvPr id="13" name="Text 11"/>
          <p:cNvSpPr/>
          <p:nvPr/>
        </p:nvSpPr>
        <p:spPr>
          <a:xfrm>
            <a:off x="3154680" y="3063240"/>
            <a:ext cx="1645920" cy="64008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Policy Health</a:t>
            </a:r>
            <a:endParaRPr lang="en-US" sz="1500" dirty="0">
              <a:latin typeface="Times New Roman" panose="02020603050405020304" pitchFamily="18" charset="0"/>
              <a:cs typeface="Times New Roman" panose="02020603050405020304" pitchFamily="18" charset="0"/>
            </a:endParaRPr>
          </a:p>
        </p:txBody>
      </p:sp>
      <p:sp>
        <p:nvSpPr>
          <p:cNvPr id="14" name="Text 12"/>
          <p:cNvSpPr/>
          <p:nvPr/>
        </p:nvSpPr>
        <p:spPr>
          <a:xfrm>
            <a:off x="3154680" y="3703320"/>
            <a:ext cx="1645920" cy="1737360"/>
          </a:xfrm>
          <a:prstGeom prst="rect">
            <a:avLst/>
          </a:prstGeom>
          <a:noFill/>
          <a:ln/>
        </p:spPr>
        <p:txBody>
          <a:bodyPr wrap="square" rtlCol="0" anchor="ctr"/>
          <a:lstStyle/>
          <a:p>
            <a:pPr marL="0" indent="0">
              <a:lnSpc>
                <a:spcPts val="1400"/>
              </a:lnSpc>
              <a:buNone/>
            </a:pPr>
            <a:r>
              <a:rPr lang="en-US" sz="1200" dirty="0">
                <a:latin typeface="Times New Roman" panose="02020603050405020304" pitchFamily="18" charset="0"/>
                <a:ea typeface="Arial" pitchFamily="34" charset="-122"/>
                <a:cs typeface="Times New Roman" panose="02020603050405020304" pitchFamily="18" charset="0"/>
              </a:rPr>
              <a:t>Active %, status split, active:inactive ratio</a:t>
            </a:r>
            <a:endParaRPr lang="en-US" sz="1200" dirty="0">
              <a:latin typeface="Times New Roman" panose="02020603050405020304" pitchFamily="18" charset="0"/>
              <a:cs typeface="Times New Roman" panose="02020603050405020304" pitchFamily="18" charset="0"/>
            </a:endParaRPr>
          </a:p>
        </p:txBody>
      </p:sp>
      <p:sp>
        <p:nvSpPr>
          <p:cNvPr id="15" name="Shape 13"/>
          <p:cNvSpPr/>
          <p:nvPr/>
        </p:nvSpPr>
        <p:spPr>
          <a:xfrm>
            <a:off x="5212080" y="2286000"/>
            <a:ext cx="2103120" cy="3291840"/>
          </a:xfrm>
          <a:prstGeom prst="roundRect">
            <a:avLst>
              <a:gd name="adj" fmla="val 521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6" name="Shape 14"/>
          <p:cNvSpPr/>
          <p:nvPr/>
        </p:nvSpPr>
        <p:spPr>
          <a:xfrm>
            <a:off x="5440680" y="2560320"/>
            <a:ext cx="655320" cy="320040"/>
          </a:xfrm>
          <a:prstGeom prst="roundRect">
            <a:avLst>
              <a:gd name="adj" fmla="val 17143"/>
            </a:avLst>
          </a:prstGeom>
          <a:solidFill>
            <a:srgbClr val="E76F5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5"/>
          <p:cNvSpPr/>
          <p:nvPr/>
        </p:nvSpPr>
        <p:spPr>
          <a:xfrm>
            <a:off x="5404820" y="2560320"/>
            <a:ext cx="731520" cy="320040"/>
          </a:xfrm>
          <a:prstGeom prst="rect">
            <a:avLst/>
          </a:prstGeom>
          <a:noFill/>
          <a:ln/>
        </p:spPr>
        <p:txBody>
          <a:bodyPr wrap="square" rtlCol="0" anchor="ctr"/>
          <a:lstStyle/>
          <a:p>
            <a:pPr marL="0" indent="0" algn="ctr">
              <a:buNone/>
            </a:pPr>
            <a:r>
              <a:rPr lang="en-US" sz="950" b="1" dirty="0">
                <a:solidFill>
                  <a:srgbClr val="FFFFFF"/>
                </a:solidFill>
                <a:latin typeface="Times New Roman" panose="02020603050405020304" pitchFamily="18" charset="0"/>
                <a:ea typeface="Arial" pitchFamily="34" charset="-122"/>
                <a:cs typeface="Times New Roman" panose="02020603050405020304" pitchFamily="18" charset="0"/>
              </a:rPr>
              <a:t>Q11–Q14</a:t>
            </a:r>
            <a:endParaRPr lang="en-US" sz="950" dirty="0">
              <a:latin typeface="Times New Roman" panose="02020603050405020304" pitchFamily="18" charset="0"/>
              <a:cs typeface="Times New Roman" panose="02020603050405020304" pitchFamily="18" charset="0"/>
            </a:endParaRPr>
          </a:p>
        </p:txBody>
      </p:sp>
      <p:sp>
        <p:nvSpPr>
          <p:cNvPr id="18" name="Text 16"/>
          <p:cNvSpPr/>
          <p:nvPr/>
        </p:nvSpPr>
        <p:spPr>
          <a:xfrm>
            <a:off x="5440680" y="3063240"/>
            <a:ext cx="1645920" cy="64008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Demographics</a:t>
            </a:r>
            <a:endParaRPr lang="en-US" sz="1500" dirty="0">
              <a:latin typeface="Times New Roman" panose="02020603050405020304" pitchFamily="18" charset="0"/>
              <a:cs typeface="Times New Roman" panose="02020603050405020304" pitchFamily="18" charset="0"/>
            </a:endParaRPr>
          </a:p>
        </p:txBody>
      </p:sp>
      <p:sp>
        <p:nvSpPr>
          <p:cNvPr id="19" name="Text 17"/>
          <p:cNvSpPr/>
          <p:nvPr/>
        </p:nvSpPr>
        <p:spPr>
          <a:xfrm>
            <a:off x="5440680" y="3703320"/>
            <a:ext cx="1645920" cy="1737360"/>
          </a:xfrm>
          <a:prstGeom prst="rect">
            <a:avLst/>
          </a:prstGeom>
          <a:noFill/>
          <a:ln/>
        </p:spPr>
        <p:txBody>
          <a:bodyPr wrap="square" rtlCol="0" anchor="ctr"/>
          <a:lstStyle/>
          <a:p>
            <a:pPr marL="0" indent="0">
              <a:lnSpc>
                <a:spcPts val="1400"/>
              </a:lnSpc>
              <a:buNone/>
            </a:pPr>
            <a:r>
              <a:rPr lang="en-US" sz="1200" dirty="0">
                <a:latin typeface="Times New Roman" panose="02020603050405020304" pitchFamily="18" charset="0"/>
                <a:ea typeface="Arial" pitchFamily="34" charset="-122"/>
                <a:cs typeface="Times New Roman" panose="02020603050405020304" pitchFamily="18" charset="0"/>
              </a:rPr>
              <a:t>Age group &amp; gender participation</a:t>
            </a:r>
            <a:endParaRPr lang="en-US" sz="1200" dirty="0">
              <a:latin typeface="Times New Roman" panose="02020603050405020304" pitchFamily="18" charset="0"/>
              <a:cs typeface="Times New Roman" panose="02020603050405020304" pitchFamily="18" charset="0"/>
            </a:endParaRPr>
          </a:p>
        </p:txBody>
      </p:sp>
      <p:sp>
        <p:nvSpPr>
          <p:cNvPr id="20" name="Shape 18"/>
          <p:cNvSpPr/>
          <p:nvPr/>
        </p:nvSpPr>
        <p:spPr>
          <a:xfrm>
            <a:off x="7498080" y="2286000"/>
            <a:ext cx="2103120" cy="3291840"/>
          </a:xfrm>
          <a:prstGeom prst="roundRect">
            <a:avLst>
              <a:gd name="adj" fmla="val 5217"/>
            </a:avLst>
          </a:prstGeom>
          <a:solidFill>
            <a:srgbClr val="F6F7F9"/>
          </a:solidFill>
          <a:ln/>
          <a:effectLst>
            <a:outerShdw blurRad="152400" dist="38100" dir="5400000" algn="bl" rotWithShape="0">
              <a:srgbClr val="1B2A4A">
                <a:alpha val="18000"/>
              </a:srgbClr>
            </a:outerShdw>
          </a:effectLst>
        </p:spPr>
        <p:txBody>
          <a:bodyPr/>
          <a:lstStyle/>
          <a:p>
            <a:endParaRPr lang="en-IN" dirty="0">
              <a:latin typeface="Times New Roman" panose="02020603050405020304" pitchFamily="18" charset="0"/>
              <a:cs typeface="Times New Roman" panose="02020603050405020304" pitchFamily="18" charset="0"/>
            </a:endParaRPr>
          </a:p>
        </p:txBody>
      </p:sp>
      <p:sp>
        <p:nvSpPr>
          <p:cNvPr id="21" name="Shape 19"/>
          <p:cNvSpPr/>
          <p:nvPr/>
        </p:nvSpPr>
        <p:spPr>
          <a:xfrm>
            <a:off x="7726679" y="2560320"/>
            <a:ext cx="664285" cy="320040"/>
          </a:xfrm>
          <a:prstGeom prst="roundRect">
            <a:avLst>
              <a:gd name="adj" fmla="val 17143"/>
            </a:avLst>
          </a:prstGeom>
          <a:solidFill>
            <a:srgbClr val="6FA8DC"/>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2" name="Text 20"/>
          <p:cNvSpPr/>
          <p:nvPr/>
        </p:nvSpPr>
        <p:spPr>
          <a:xfrm>
            <a:off x="7699785" y="2560320"/>
            <a:ext cx="731520" cy="320040"/>
          </a:xfrm>
          <a:prstGeom prst="rect">
            <a:avLst/>
          </a:prstGeom>
          <a:noFill/>
          <a:ln/>
        </p:spPr>
        <p:txBody>
          <a:bodyPr wrap="square" rtlCol="0" anchor="ctr"/>
          <a:lstStyle/>
          <a:p>
            <a:pPr marL="0" indent="0" algn="ctr">
              <a:buNone/>
            </a:pPr>
            <a:r>
              <a:rPr lang="en-US" sz="950" b="1" dirty="0">
                <a:solidFill>
                  <a:srgbClr val="FFFFFF"/>
                </a:solidFill>
                <a:latin typeface="Times New Roman" panose="02020603050405020304" pitchFamily="18" charset="0"/>
                <a:ea typeface="Arial" pitchFamily="34" charset="-122"/>
                <a:cs typeface="Times New Roman" panose="02020603050405020304" pitchFamily="18" charset="0"/>
              </a:rPr>
              <a:t>Q15–Q18</a:t>
            </a:r>
            <a:endParaRPr lang="en-US" sz="950" dirty="0">
              <a:latin typeface="Times New Roman" panose="02020603050405020304" pitchFamily="18" charset="0"/>
              <a:cs typeface="Times New Roman" panose="02020603050405020304" pitchFamily="18" charset="0"/>
            </a:endParaRPr>
          </a:p>
        </p:txBody>
      </p:sp>
      <p:sp>
        <p:nvSpPr>
          <p:cNvPr id="23" name="Text 21"/>
          <p:cNvSpPr/>
          <p:nvPr/>
        </p:nvSpPr>
        <p:spPr>
          <a:xfrm>
            <a:off x="7726680" y="3063240"/>
            <a:ext cx="1645920" cy="64008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Policy Mix</a:t>
            </a:r>
            <a:endParaRPr lang="en-US" sz="1500" dirty="0">
              <a:latin typeface="Times New Roman" panose="02020603050405020304" pitchFamily="18" charset="0"/>
              <a:cs typeface="Times New Roman" panose="02020603050405020304" pitchFamily="18" charset="0"/>
            </a:endParaRPr>
          </a:p>
        </p:txBody>
      </p:sp>
      <p:sp>
        <p:nvSpPr>
          <p:cNvPr id="24" name="Text 22"/>
          <p:cNvSpPr/>
          <p:nvPr/>
        </p:nvSpPr>
        <p:spPr>
          <a:xfrm>
            <a:off x="7726680" y="3703320"/>
            <a:ext cx="1645920" cy="1737360"/>
          </a:xfrm>
          <a:prstGeom prst="rect">
            <a:avLst/>
          </a:prstGeom>
          <a:noFill/>
          <a:ln/>
        </p:spPr>
        <p:txBody>
          <a:bodyPr wrap="square" rtlCol="0" anchor="ctr"/>
          <a:lstStyle/>
          <a:p>
            <a:pPr marL="0" indent="0">
              <a:lnSpc>
                <a:spcPts val="1400"/>
              </a:lnSpc>
              <a:buNone/>
            </a:pPr>
            <a:r>
              <a:rPr lang="en-US" sz="1200" dirty="0">
                <a:latin typeface="Times New Roman" panose="02020603050405020304" pitchFamily="18" charset="0"/>
                <a:ea typeface="Arial" pitchFamily="34" charset="-122"/>
                <a:cs typeface="Times New Roman" panose="02020603050405020304" pitchFamily="18" charset="0"/>
              </a:rPr>
              <a:t>Policy type comparison &amp; totals</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9784080" y="2286000"/>
            <a:ext cx="2103120" cy="3291840"/>
          </a:xfrm>
          <a:prstGeom prst="roundRect">
            <a:avLst>
              <a:gd name="adj" fmla="val 5217"/>
            </a:avLst>
          </a:prstGeom>
          <a:solidFill>
            <a:srgbClr val="F6F7F9"/>
          </a:solidFill>
          <a:ln/>
          <a:effectLst>
            <a:outerShdw blurRad="152400" dist="38100" dir="5400000" algn="bl" rotWithShape="0">
              <a:srgbClr val="1B2A4A">
                <a:alpha val="1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26" name="Shape 24"/>
          <p:cNvSpPr/>
          <p:nvPr/>
        </p:nvSpPr>
        <p:spPr>
          <a:xfrm>
            <a:off x="10012680" y="2560320"/>
            <a:ext cx="685800" cy="320040"/>
          </a:xfrm>
          <a:prstGeom prst="roundRect">
            <a:avLst>
              <a:gd name="adj" fmla="val 17143"/>
            </a:avLst>
          </a:prstGeom>
          <a:solidFill>
            <a:srgbClr val="14213D"/>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7" name="Text 25"/>
          <p:cNvSpPr/>
          <p:nvPr/>
        </p:nvSpPr>
        <p:spPr>
          <a:xfrm>
            <a:off x="9976819" y="2560320"/>
            <a:ext cx="771861" cy="320040"/>
          </a:xfrm>
          <a:prstGeom prst="rect">
            <a:avLst/>
          </a:prstGeom>
          <a:noFill/>
          <a:ln/>
        </p:spPr>
        <p:txBody>
          <a:bodyPr wrap="square" rtlCol="0" anchor="ctr"/>
          <a:lstStyle/>
          <a:p>
            <a:pPr marL="0" indent="0" algn="ctr">
              <a:buNone/>
            </a:pPr>
            <a:r>
              <a:rPr lang="en-US" sz="950" b="1" dirty="0">
                <a:solidFill>
                  <a:srgbClr val="FFFFFF"/>
                </a:solidFill>
                <a:latin typeface="Times New Roman" panose="02020603050405020304" pitchFamily="18" charset="0"/>
                <a:ea typeface="Arial" pitchFamily="34" charset="-122"/>
                <a:cs typeface="Times New Roman" panose="02020603050405020304" pitchFamily="18" charset="0"/>
              </a:rPr>
              <a:t>Q19–Q22</a:t>
            </a:r>
            <a:endParaRPr lang="en-US" sz="950" dirty="0">
              <a:latin typeface="Times New Roman" panose="02020603050405020304" pitchFamily="18" charset="0"/>
              <a:cs typeface="Times New Roman" panose="02020603050405020304" pitchFamily="18" charset="0"/>
            </a:endParaRPr>
          </a:p>
        </p:txBody>
      </p:sp>
      <p:sp>
        <p:nvSpPr>
          <p:cNvPr id="28" name="Text 26"/>
          <p:cNvSpPr/>
          <p:nvPr/>
        </p:nvSpPr>
        <p:spPr>
          <a:xfrm>
            <a:off x="10012680" y="3063240"/>
            <a:ext cx="1645920" cy="640080"/>
          </a:xfrm>
          <a:prstGeom prst="rect">
            <a:avLst/>
          </a:prstGeom>
          <a:noFill/>
          <a:ln/>
        </p:spPr>
        <p:txBody>
          <a:bodyPr wrap="square" rtlCol="0" anchor="ctr"/>
          <a:lstStyle/>
          <a:p>
            <a:pPr marL="0" indent="0">
              <a:buNone/>
            </a:pPr>
            <a:r>
              <a:rPr lang="en-US" sz="1500" b="1" dirty="0">
                <a:solidFill>
                  <a:srgbClr val="14213D"/>
                </a:solidFill>
                <a:latin typeface="Times New Roman" panose="02020603050405020304" pitchFamily="18" charset="0"/>
                <a:ea typeface="Georgia" pitchFamily="34" charset="-122"/>
                <a:cs typeface="Times New Roman" panose="02020603050405020304" pitchFamily="18" charset="0"/>
              </a:rPr>
              <a:t>Premium Trend</a:t>
            </a:r>
            <a:endParaRPr lang="en-US" sz="1500" dirty="0">
              <a:latin typeface="Times New Roman" panose="02020603050405020304" pitchFamily="18" charset="0"/>
              <a:cs typeface="Times New Roman" panose="02020603050405020304" pitchFamily="18" charset="0"/>
            </a:endParaRPr>
          </a:p>
        </p:txBody>
      </p:sp>
      <p:sp>
        <p:nvSpPr>
          <p:cNvPr id="29" name="Text 27"/>
          <p:cNvSpPr/>
          <p:nvPr/>
        </p:nvSpPr>
        <p:spPr>
          <a:xfrm>
            <a:off x="10012680" y="3703320"/>
            <a:ext cx="1645920" cy="1737360"/>
          </a:xfrm>
          <a:prstGeom prst="rect">
            <a:avLst/>
          </a:prstGeom>
          <a:noFill/>
          <a:ln/>
        </p:spPr>
        <p:txBody>
          <a:bodyPr wrap="square" rtlCol="0" anchor="ctr"/>
          <a:lstStyle/>
          <a:p>
            <a:pPr marL="0" indent="0">
              <a:lnSpc>
                <a:spcPts val="1400"/>
              </a:lnSpc>
              <a:buNone/>
            </a:pPr>
            <a:r>
              <a:rPr lang="en-US" sz="1200" dirty="0">
                <a:latin typeface="Times New Roman" panose="02020603050405020304" pitchFamily="18" charset="0"/>
                <a:ea typeface="Arial" pitchFamily="34" charset="-122"/>
                <a:cs typeface="Times New Roman" panose="02020603050405020304" pitchFamily="18" charset="0"/>
              </a:rPr>
              <a:t>YoY growth rate &amp; policy-end trend</a:t>
            </a:r>
            <a:endParaRPr lang="en-US" sz="1200" dirty="0">
              <a:latin typeface="Times New Roman" panose="02020603050405020304" pitchFamily="18" charset="0"/>
              <a:cs typeface="Times New Roman" panose="02020603050405020304" pitchFamily="18" charset="0"/>
            </a:endParaRPr>
          </a:p>
        </p:txBody>
      </p:sp>
      <p:sp>
        <p:nvSpPr>
          <p:cNvPr id="31" name="Rectangle 30"/>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E514C76-A352-4EE3-9E1C-258B68135320}"/>
              </a:ext>
            </a:extLst>
          </p:cNvPr>
          <p:cNvSpPr/>
          <p:nvPr/>
        </p:nvSpPr>
        <p:spPr>
          <a:xfrm>
            <a:off x="9507265" y="-2308004"/>
            <a:ext cx="6875885" cy="6810429"/>
          </a:xfrm>
          <a:prstGeom prst="ellipse">
            <a:avLst/>
          </a:prstGeom>
          <a:solidFill>
            <a:srgbClr val="1E2F52"/>
          </a:solidFill>
          <a:ln/>
        </p:spPr>
        <p:txBody>
          <a:bodyPr/>
          <a:lstStyle/>
          <a:p>
            <a:endParaRPr lang="en-IN">
              <a:solidFill>
                <a:prstClr val="black"/>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089CA84-D0DE-AF02-690C-BC00B48CC34E}"/>
              </a:ext>
            </a:extLst>
          </p:cNvPr>
          <p:cNvPicPr>
            <a:picLocks noChangeAspect="1"/>
          </p:cNvPicPr>
          <p:nvPr/>
        </p:nvPicPr>
        <p:blipFill>
          <a:blip r:embed="rId2"/>
          <a:stretch>
            <a:fillRect/>
          </a:stretch>
        </p:blipFill>
        <p:spPr>
          <a:xfrm>
            <a:off x="-3173385" y="3686954"/>
            <a:ext cx="6040169" cy="4405746"/>
          </a:xfrm>
          <a:prstGeom prst="rect">
            <a:avLst/>
          </a:prstGeom>
        </p:spPr>
      </p:pic>
      <p:sp>
        <p:nvSpPr>
          <p:cNvPr id="5" name="TextBox 4">
            <a:extLst>
              <a:ext uri="{FF2B5EF4-FFF2-40B4-BE49-F238E27FC236}">
                <a16:creationId xmlns:a16="http://schemas.microsoft.com/office/drawing/2014/main" id="{27302BAB-2C0A-B073-B7B5-7E4E26F51FE3}"/>
              </a:ext>
            </a:extLst>
          </p:cNvPr>
          <p:cNvSpPr txBox="1"/>
          <p:nvPr/>
        </p:nvSpPr>
        <p:spPr>
          <a:xfrm>
            <a:off x="2667817" y="2887290"/>
            <a:ext cx="5268685" cy="646331"/>
          </a:xfrm>
          <a:prstGeom prst="rect">
            <a:avLst/>
          </a:prstGeom>
          <a:noFill/>
        </p:spPr>
        <p:txBody>
          <a:bodyPr wrap="square" rtlCol="0">
            <a:spAutoFit/>
          </a:bodyPr>
          <a:lstStyle/>
          <a:p>
            <a:r>
              <a:rPr lang="en-IN" sz="3600" dirty="0"/>
              <a:t>Excel Dashboard Overview</a:t>
            </a:r>
          </a:p>
        </p:txBody>
      </p:sp>
    </p:spTree>
    <p:extLst>
      <p:ext uri="{BB962C8B-B14F-4D97-AF65-F5344CB8AC3E}">
        <p14:creationId xmlns:p14="http://schemas.microsoft.com/office/powerpoint/2010/main" val="1212005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84E879-7E76-4978-9872-6971B4DF5DFB}"/>
              </a:ext>
            </a:extLst>
          </p:cNvPr>
          <p:cNvSpPr txBox="1"/>
          <p:nvPr/>
        </p:nvSpPr>
        <p:spPr>
          <a:xfrm>
            <a:off x="184826" y="534530"/>
            <a:ext cx="11807173" cy="584775"/>
          </a:xfrm>
          <a:prstGeom prst="rect">
            <a:avLst/>
          </a:prstGeom>
          <a:noFill/>
        </p:spPr>
        <p:txBody>
          <a:bodyPr wrap="square" rtlCol="0">
            <a:spAutoFit/>
          </a:bodyPr>
          <a:lstStyle/>
          <a:p>
            <a:pPr algn="ctr"/>
            <a:r>
              <a:rPr lang="en-US" sz="3200" b="1" dirty="0">
                <a:solidFill>
                  <a:srgbClr val="E9B44C"/>
                </a:solidFill>
                <a:latin typeface="Times New Roman" panose="02020603050405020304" pitchFamily="18" charset="0"/>
                <a:cs typeface="Times New Roman" panose="02020603050405020304" pitchFamily="18" charset="0"/>
              </a:rPr>
              <a:t>INSURANCE POLICY ANALYTICS DASHBOARD</a:t>
            </a:r>
          </a:p>
        </p:txBody>
      </p:sp>
      <p:sp>
        <p:nvSpPr>
          <p:cNvPr id="4" name="TextBox 3">
            <a:extLst>
              <a:ext uri="{FF2B5EF4-FFF2-40B4-BE49-F238E27FC236}">
                <a16:creationId xmlns:a16="http://schemas.microsoft.com/office/drawing/2014/main" id="{8338D920-12C1-4B02-BB84-8FBA2ECEB681}"/>
              </a:ext>
            </a:extLst>
          </p:cNvPr>
          <p:cNvSpPr txBox="1"/>
          <p:nvPr/>
        </p:nvSpPr>
        <p:spPr>
          <a:xfrm>
            <a:off x="184826" y="1371600"/>
            <a:ext cx="11896927" cy="5262979"/>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solidFill>
                  <a:srgbClr val="C7CEDB"/>
                </a:solidFill>
                <a:latin typeface="Times New Roman" panose="02020603050405020304" pitchFamily="18" charset="0"/>
                <a:cs typeface="Times New Roman" panose="02020603050405020304" pitchFamily="18" charset="0"/>
              </a:rPr>
              <a:t>Insurance companies generate large volumes of data related to customers, policies, claims, and premium payments. Analyzing this data helps organizations understand customer behavior, evaluate policy performance, monitor claims, and support better business decisions.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C7CEDB"/>
                </a:solidFill>
                <a:latin typeface="Times New Roman" panose="02020603050405020304" pitchFamily="18" charset="0"/>
                <a:cs typeface="Times New Roman" panose="02020603050405020304" pitchFamily="18" charset="0"/>
              </a:rPr>
              <a:t>In this project, an Insurance Policy Analytics Dashboard was developed using Microsoft Excel, SQL, Power BI, and Tableau. A dataset containing 5,000 customer records, 5,000 policy records, 5,000 claim records, and payment history was analyzed to answer key business questions through data cleaning, KPI calculations, visualizations, and dashboards.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C7CEDB"/>
                </a:solidFill>
                <a:latin typeface="Times New Roman" panose="02020603050405020304" pitchFamily="18" charset="0"/>
                <a:cs typeface="Times New Roman" panose="02020603050405020304" pitchFamily="18" charset="0"/>
              </a:rPr>
              <a:t>The objective of this project is to transform raw insurance data into meaningful insights that enable stakeholders to monitor policy performance, identify trends, compare customer demographics, and improve decision-making using different analytics tools.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317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3FBA2D98-EA07-49E8-8131-67739A04967D}"/>
              </a:ext>
            </a:extLst>
          </p:cNvPr>
          <p:cNvSpPr txBox="1"/>
          <p:nvPr/>
        </p:nvSpPr>
        <p:spPr>
          <a:xfrm>
            <a:off x="200000" y="450537"/>
            <a:ext cx="11791999"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1" dirty="0">
                <a:latin typeface="Times New Roman" panose="02020603050405020304" pitchFamily="18" charset="0"/>
                <a:cs typeface="Times New Roman" panose="02020603050405020304" pitchFamily="18" charset="0"/>
              </a:rPr>
              <a:t>Excel Dashboard 1 – Policy Overview</a:t>
            </a:r>
          </a:p>
        </p:txBody>
      </p:sp>
      <p:sp>
        <p:nvSpPr>
          <p:cNvPr id="4" name="Rectangle 3">
            <a:extLst>
              <a:ext uri="{FF2B5EF4-FFF2-40B4-BE49-F238E27FC236}">
                <a16:creationId xmlns:a16="http://schemas.microsoft.com/office/drawing/2014/main" id="{5CD95C2E-8852-094A-9524-D9638B1CA087}"/>
              </a:ext>
            </a:extLst>
          </p:cNvPr>
          <p:cNvSpPr/>
          <p:nvPr/>
        </p:nvSpPr>
        <p:spPr>
          <a:xfrm>
            <a:off x="0" y="53109"/>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Times New Roman" panose="02020603050405020304" pitchFamily="18" charset="0"/>
              <a:cs typeface="Times New Roman" panose="02020603050405020304" pitchFamily="18" charset="0"/>
            </a:endParaRPr>
          </a:p>
        </p:txBody>
      </p:sp>
      <p:pic>
        <p:nvPicPr>
          <p:cNvPr id="5" name="Graphic 3">
            <a:extLst>
              <a:ext uri="{FF2B5EF4-FFF2-40B4-BE49-F238E27FC236}">
                <a16:creationId xmlns:a16="http://schemas.microsoft.com/office/drawing/2014/main" id="{3AE27067-DC7A-043D-0DA9-45EDE2F1F3C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9999" y="819869"/>
            <a:ext cx="11791999" cy="5985022"/>
          </a:xfrm>
          <a:prstGeom prst="rect">
            <a:avLst/>
          </a:prstGeom>
        </p:spPr>
      </p:pic>
    </p:spTree>
    <p:extLst>
      <p:ext uri="{BB962C8B-B14F-4D97-AF65-F5344CB8AC3E}">
        <p14:creationId xmlns:p14="http://schemas.microsoft.com/office/powerpoint/2010/main" val="166217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97EC03-1ACF-4AF2-BBA2-A58D074B30D4}"/>
              </a:ext>
            </a:extLst>
          </p:cNvPr>
          <p:cNvSpPr txBox="1"/>
          <p:nvPr/>
        </p:nvSpPr>
        <p:spPr>
          <a:xfrm>
            <a:off x="200001" y="448215"/>
            <a:ext cx="11791999"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Excel Dashboard  2 – Premium &amp; Policy Trend Analysis</a:t>
            </a:r>
          </a:p>
        </p:txBody>
      </p:sp>
      <p:sp>
        <p:nvSpPr>
          <p:cNvPr id="4" name="Rectangle 3"/>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563AAD76-7A59-45F1-6309-8FB6A1C30B43}"/>
              </a:ext>
            </a:extLst>
          </p:cNvPr>
          <p:cNvPicPr>
            <a:picLocks noChangeAspect="1"/>
          </p:cNvPicPr>
          <p:nvPr/>
        </p:nvPicPr>
        <p:blipFill>
          <a:blip r:embed="rId2"/>
          <a:stretch>
            <a:fillRect/>
          </a:stretch>
        </p:blipFill>
        <p:spPr>
          <a:xfrm>
            <a:off x="200001" y="865762"/>
            <a:ext cx="11792000" cy="5801255"/>
          </a:xfrm>
          <a:prstGeom prst="rect">
            <a:avLst/>
          </a:prstGeom>
        </p:spPr>
      </p:pic>
    </p:spTree>
    <p:extLst>
      <p:ext uri="{BB962C8B-B14F-4D97-AF65-F5344CB8AC3E}">
        <p14:creationId xmlns:p14="http://schemas.microsoft.com/office/powerpoint/2010/main" val="2057612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3FC0E3-0D29-3580-C96E-865100B48AED}"/>
              </a:ext>
            </a:extLst>
          </p:cNvPr>
          <p:cNvSpPr txBox="1"/>
          <p:nvPr/>
        </p:nvSpPr>
        <p:spPr>
          <a:xfrm>
            <a:off x="200001" y="448215"/>
            <a:ext cx="11791999"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Excel Dashboard 2 – Premium &amp; Policy Trend Analysis</a:t>
            </a:r>
          </a:p>
        </p:txBody>
      </p:sp>
      <p:sp>
        <p:nvSpPr>
          <p:cNvPr id="5" name="Rectangle 4">
            <a:extLst>
              <a:ext uri="{FF2B5EF4-FFF2-40B4-BE49-F238E27FC236}">
                <a16:creationId xmlns:a16="http://schemas.microsoft.com/office/drawing/2014/main" id="{86A2E0F0-2462-1AAA-627E-F5A0B58E0675}"/>
              </a:ext>
            </a:extLst>
          </p:cNvPr>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355B980A-E9F1-C5ED-B2E5-6422C135D3A2}"/>
              </a:ext>
            </a:extLst>
          </p:cNvPr>
          <p:cNvPicPr>
            <a:picLocks noChangeAspect="1"/>
          </p:cNvPicPr>
          <p:nvPr/>
        </p:nvPicPr>
        <p:blipFill>
          <a:blip r:embed="rId2"/>
          <a:stretch>
            <a:fillRect/>
          </a:stretch>
        </p:blipFill>
        <p:spPr>
          <a:xfrm>
            <a:off x="81023" y="817546"/>
            <a:ext cx="12002947" cy="5895770"/>
          </a:xfrm>
          <a:prstGeom prst="rect">
            <a:avLst/>
          </a:prstGeom>
        </p:spPr>
      </p:pic>
    </p:spTree>
    <p:extLst>
      <p:ext uri="{BB962C8B-B14F-4D97-AF65-F5344CB8AC3E}">
        <p14:creationId xmlns:p14="http://schemas.microsoft.com/office/powerpoint/2010/main" val="1753236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188DD7-6648-175A-D678-52B5C9521272}"/>
              </a:ext>
            </a:extLst>
          </p:cNvPr>
          <p:cNvPicPr>
            <a:picLocks noChangeAspect="1"/>
          </p:cNvPicPr>
          <p:nvPr/>
        </p:nvPicPr>
        <p:blipFill>
          <a:blip r:embed="rId2"/>
          <a:stretch>
            <a:fillRect/>
          </a:stretch>
        </p:blipFill>
        <p:spPr>
          <a:xfrm>
            <a:off x="3" y="1001077"/>
            <a:ext cx="2115123" cy="1085699"/>
          </a:xfrm>
          <a:prstGeom prst="rect">
            <a:avLst/>
          </a:prstGeom>
        </p:spPr>
      </p:pic>
      <p:pic>
        <p:nvPicPr>
          <p:cNvPr id="13" name="Picture 12">
            <a:extLst>
              <a:ext uri="{FF2B5EF4-FFF2-40B4-BE49-F238E27FC236}">
                <a16:creationId xmlns:a16="http://schemas.microsoft.com/office/drawing/2014/main" id="{B757E5AC-76F1-EDB9-59AB-FF2BCEADB982}"/>
              </a:ext>
            </a:extLst>
          </p:cNvPr>
          <p:cNvPicPr>
            <a:picLocks noChangeAspect="1"/>
          </p:cNvPicPr>
          <p:nvPr/>
        </p:nvPicPr>
        <p:blipFill>
          <a:blip r:embed="rId3"/>
          <a:stretch>
            <a:fillRect/>
          </a:stretch>
        </p:blipFill>
        <p:spPr>
          <a:xfrm>
            <a:off x="2" y="2148426"/>
            <a:ext cx="2115123" cy="1218923"/>
          </a:xfrm>
          <a:prstGeom prst="rect">
            <a:avLst/>
          </a:prstGeom>
        </p:spPr>
      </p:pic>
      <p:pic>
        <p:nvPicPr>
          <p:cNvPr id="15" name="Picture 14">
            <a:extLst>
              <a:ext uri="{FF2B5EF4-FFF2-40B4-BE49-F238E27FC236}">
                <a16:creationId xmlns:a16="http://schemas.microsoft.com/office/drawing/2014/main" id="{A36C8149-C806-74E0-2C96-A6E411EF0195}"/>
              </a:ext>
            </a:extLst>
          </p:cNvPr>
          <p:cNvPicPr>
            <a:picLocks noChangeAspect="1"/>
          </p:cNvPicPr>
          <p:nvPr/>
        </p:nvPicPr>
        <p:blipFill>
          <a:blip r:embed="rId4"/>
          <a:stretch>
            <a:fillRect/>
          </a:stretch>
        </p:blipFill>
        <p:spPr>
          <a:xfrm>
            <a:off x="-2" y="3429000"/>
            <a:ext cx="2115123" cy="1164051"/>
          </a:xfrm>
          <a:prstGeom prst="rect">
            <a:avLst/>
          </a:prstGeom>
        </p:spPr>
      </p:pic>
      <p:pic>
        <p:nvPicPr>
          <p:cNvPr id="17" name="Picture 16">
            <a:extLst>
              <a:ext uri="{FF2B5EF4-FFF2-40B4-BE49-F238E27FC236}">
                <a16:creationId xmlns:a16="http://schemas.microsoft.com/office/drawing/2014/main" id="{37ED1689-03E2-E5FB-CD55-8058EB966031}"/>
              </a:ext>
            </a:extLst>
          </p:cNvPr>
          <p:cNvPicPr>
            <a:picLocks noChangeAspect="1"/>
          </p:cNvPicPr>
          <p:nvPr/>
        </p:nvPicPr>
        <p:blipFill>
          <a:blip r:embed="rId5"/>
          <a:stretch>
            <a:fillRect/>
          </a:stretch>
        </p:blipFill>
        <p:spPr>
          <a:xfrm>
            <a:off x="-2" y="4689306"/>
            <a:ext cx="2115117" cy="978668"/>
          </a:xfrm>
          <a:prstGeom prst="rect">
            <a:avLst/>
          </a:prstGeom>
        </p:spPr>
      </p:pic>
      <p:pic>
        <p:nvPicPr>
          <p:cNvPr id="19" name="Picture 18">
            <a:extLst>
              <a:ext uri="{FF2B5EF4-FFF2-40B4-BE49-F238E27FC236}">
                <a16:creationId xmlns:a16="http://schemas.microsoft.com/office/drawing/2014/main" id="{B6833120-1885-4CCE-D14D-A4F32574D2A8}"/>
              </a:ext>
            </a:extLst>
          </p:cNvPr>
          <p:cNvPicPr>
            <a:picLocks noChangeAspect="1"/>
          </p:cNvPicPr>
          <p:nvPr/>
        </p:nvPicPr>
        <p:blipFill>
          <a:blip r:embed="rId6"/>
          <a:stretch>
            <a:fillRect/>
          </a:stretch>
        </p:blipFill>
        <p:spPr>
          <a:xfrm>
            <a:off x="9" y="5809468"/>
            <a:ext cx="2115117" cy="957960"/>
          </a:xfrm>
          <a:prstGeom prst="rect">
            <a:avLst/>
          </a:prstGeom>
        </p:spPr>
      </p:pic>
      <p:sp>
        <p:nvSpPr>
          <p:cNvPr id="20" name="TextBox 19"/>
          <p:cNvSpPr txBox="1"/>
          <p:nvPr/>
        </p:nvSpPr>
        <p:spPr>
          <a:xfrm>
            <a:off x="184826" y="430000"/>
            <a:ext cx="11800000" cy="560000"/>
          </a:xfrm>
          <a:prstGeom prst="rect">
            <a:avLst/>
          </a:prstGeom>
          <a:noFill/>
        </p:spPr>
        <p:txBody>
          <a:bodyPr wrap="square">
            <a:spAutoFit/>
          </a:bodyPr>
          <a:lstStyle/>
          <a:p>
            <a:r>
              <a:rPr sz="2200" b="1">
                <a:solidFill>
                  <a:srgbClr val="FFFFFF"/>
                </a:solidFill>
              </a:rPr>
              <a:t>KEY PERFORMANCE INDICATORS (KPI's)</a:t>
            </a:r>
          </a:p>
          <a:p>
            <a:r>
              <a:rPr sz="1300" b="1">
                <a:solidFill>
                  <a:srgbClr val="E9B44C"/>
                </a:solidFill>
              </a:rPr>
              <a:t>Dashboard 1 &amp; 2 Summary</a:t>
            </a:r>
          </a:p>
        </p:txBody>
      </p:sp>
      <p:sp>
        <p:nvSpPr>
          <p:cNvPr id="21" name="Rectangle 20"/>
          <p:cNvSpPr/>
          <p:nvPr/>
        </p:nvSpPr>
        <p:spPr>
          <a:xfrm>
            <a:off x="2350000" y="981077"/>
            <a:ext cx="38000" cy="116569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60000" y="971077"/>
            <a:ext cx="9552000" cy="1185699"/>
          </a:xfrm>
          <a:prstGeom prst="rect">
            <a:avLst/>
          </a:prstGeom>
          <a:noFill/>
        </p:spPr>
        <p:txBody>
          <a:bodyPr wrap="square" lIns="0" tIns="20000" rIns="0" bIns="0">
            <a:spAutoFit/>
          </a:bodyPr>
          <a:lstStyle/>
          <a:p>
            <a:pPr>
              <a:lnSpc>
                <a:spcPct val="108000"/>
              </a:lnSpc>
            </a:pPr>
            <a:r>
              <a:rPr sz="1350" b="1">
                <a:solidFill>
                  <a:srgbClr val="2A9D8F"/>
                </a:solidFill>
              </a:rPr>
              <a:t>Total Customers</a:t>
            </a:r>
            <a:r>
              <a:rPr sz="1200" b="0">
                <a:solidFill>
                  <a:srgbClr val="C7CEDB"/>
                </a:solidFill>
              </a:rPr>
              <a:t> – The dashboard contains data for </a:t>
            </a:r>
            <a:r>
              <a:rPr sz="1350" b="1">
                <a:solidFill>
                  <a:srgbClr val="2A9D8F"/>
                </a:solidFill>
              </a:rPr>
              <a:t>5,000 customers</a:t>
            </a:r>
            <a:r>
              <a:rPr sz="1200" b="0">
                <a:solidFill>
                  <a:srgbClr val="C7CEDB"/>
                </a:solidFill>
              </a:rPr>
              <a:t>, providing a comprehensive view of customer demographics and policy ownership.</a:t>
            </a:r>
          </a:p>
        </p:txBody>
      </p:sp>
      <p:sp>
        <p:nvSpPr>
          <p:cNvPr id="23" name="Rectangle 22"/>
          <p:cNvSpPr/>
          <p:nvPr/>
        </p:nvSpPr>
        <p:spPr>
          <a:xfrm>
            <a:off x="2350000" y="2128426"/>
            <a:ext cx="38000" cy="1298923"/>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60000" y="2118426"/>
            <a:ext cx="9552000" cy="1318923"/>
          </a:xfrm>
          <a:prstGeom prst="rect">
            <a:avLst/>
          </a:prstGeom>
          <a:noFill/>
        </p:spPr>
        <p:txBody>
          <a:bodyPr wrap="square" lIns="0" tIns="20000" rIns="0" bIns="0">
            <a:spAutoFit/>
          </a:bodyPr>
          <a:lstStyle/>
          <a:p>
            <a:pPr>
              <a:lnSpc>
                <a:spcPct val="108000"/>
              </a:lnSpc>
            </a:pPr>
            <a:r>
              <a:rPr sz="1350" b="1">
                <a:solidFill>
                  <a:srgbClr val="6FA8DC"/>
                </a:solidFill>
              </a:rPr>
              <a:t>Total Policies</a:t>
            </a:r>
            <a:r>
              <a:rPr sz="1200" b="0">
                <a:solidFill>
                  <a:srgbClr val="C7CEDB"/>
                </a:solidFill>
              </a:rPr>
              <a:t> – A total of </a:t>
            </a:r>
            <a:r>
              <a:rPr sz="1350" b="1">
                <a:solidFill>
                  <a:srgbClr val="6FA8DC"/>
                </a:solidFill>
              </a:rPr>
              <a:t>5,000 insurance policies</a:t>
            </a:r>
            <a:r>
              <a:rPr sz="1200" b="0">
                <a:solidFill>
                  <a:srgbClr val="C7CEDB"/>
                </a:solidFill>
              </a:rPr>
              <a:t> were analyzed to evaluate policy performance and customer participation.</a:t>
            </a:r>
          </a:p>
        </p:txBody>
      </p:sp>
      <p:sp>
        <p:nvSpPr>
          <p:cNvPr id="25" name="Rectangle 24"/>
          <p:cNvSpPr/>
          <p:nvPr/>
        </p:nvSpPr>
        <p:spPr>
          <a:xfrm>
            <a:off x="2350000" y="3409000"/>
            <a:ext cx="38000" cy="1244051"/>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460000" y="3399000"/>
            <a:ext cx="9552000" cy="1264051"/>
          </a:xfrm>
          <a:prstGeom prst="rect">
            <a:avLst/>
          </a:prstGeom>
          <a:noFill/>
        </p:spPr>
        <p:txBody>
          <a:bodyPr wrap="square" lIns="0" tIns="20000" rIns="0" bIns="0">
            <a:spAutoFit/>
          </a:bodyPr>
          <a:lstStyle/>
          <a:p>
            <a:pPr>
              <a:lnSpc>
                <a:spcPct val="108000"/>
              </a:lnSpc>
            </a:pPr>
            <a:r>
              <a:rPr sz="1350" b="1">
                <a:solidFill>
                  <a:srgbClr val="E76F51"/>
                </a:solidFill>
              </a:rPr>
              <a:t>Claim Amount</a:t>
            </a:r>
            <a:r>
              <a:rPr sz="1200" b="0">
                <a:solidFill>
                  <a:srgbClr val="C7CEDB"/>
                </a:solidFill>
              </a:rPr>
              <a:t> – The total claim amount processed across all policies is </a:t>
            </a:r>
            <a:r>
              <a:rPr sz="1350" b="1">
                <a:solidFill>
                  <a:srgbClr val="E76F51"/>
                </a:solidFill>
              </a:rPr>
              <a:t>₹251.4 million</a:t>
            </a:r>
            <a:r>
              <a:rPr sz="1200" b="0">
                <a:solidFill>
                  <a:srgbClr val="C7CEDB"/>
                </a:solidFill>
              </a:rPr>
              <a:t>, reflecting the overall claims handled.</a:t>
            </a:r>
          </a:p>
        </p:txBody>
      </p:sp>
      <p:sp>
        <p:nvSpPr>
          <p:cNvPr id="27" name="Rectangle 26"/>
          <p:cNvSpPr/>
          <p:nvPr/>
        </p:nvSpPr>
        <p:spPr>
          <a:xfrm>
            <a:off x="2350000" y="4669306"/>
            <a:ext cx="38000" cy="1058668"/>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60000" y="4659306"/>
            <a:ext cx="9552000" cy="1078668"/>
          </a:xfrm>
          <a:prstGeom prst="rect">
            <a:avLst/>
          </a:prstGeom>
          <a:noFill/>
        </p:spPr>
        <p:txBody>
          <a:bodyPr wrap="square" lIns="0" tIns="20000" rIns="0" bIns="0">
            <a:spAutoFit/>
          </a:bodyPr>
          <a:lstStyle/>
          <a:p>
            <a:pPr>
              <a:lnSpc>
                <a:spcPct val="108000"/>
              </a:lnSpc>
            </a:pPr>
            <a:r>
              <a:rPr sz="1350" b="1">
                <a:solidFill>
                  <a:srgbClr val="E9B44C"/>
                </a:solidFill>
              </a:rPr>
              <a:t>Average Coverage Amount</a:t>
            </a:r>
            <a:r>
              <a:rPr sz="1200" b="0">
                <a:solidFill>
                  <a:srgbClr val="C7CEDB"/>
                </a:solidFill>
              </a:rPr>
              <a:t> – The average insurance coverage provided per policy is </a:t>
            </a:r>
            <a:r>
              <a:rPr sz="1350" b="1">
                <a:solidFill>
                  <a:srgbClr val="E9B44C"/>
                </a:solidFill>
              </a:rPr>
              <a:t>₹254.56K</a:t>
            </a:r>
            <a:r>
              <a:rPr sz="1200" b="0">
                <a:solidFill>
                  <a:srgbClr val="C7CEDB"/>
                </a:solidFill>
              </a:rPr>
              <a:t>, indicating the typical financial protection offered.</a:t>
            </a:r>
          </a:p>
        </p:txBody>
      </p:sp>
      <p:sp>
        <p:nvSpPr>
          <p:cNvPr id="29" name="Rectangle 28"/>
          <p:cNvSpPr/>
          <p:nvPr/>
        </p:nvSpPr>
        <p:spPr>
          <a:xfrm>
            <a:off x="2350000" y="5789468"/>
            <a:ext cx="38000" cy="1037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60000" y="5779468"/>
            <a:ext cx="9552000" cy="1057960"/>
          </a:xfrm>
          <a:prstGeom prst="rect">
            <a:avLst/>
          </a:prstGeom>
          <a:noFill/>
        </p:spPr>
        <p:txBody>
          <a:bodyPr wrap="square" lIns="0" tIns="20000" rIns="0" bIns="0">
            <a:spAutoFit/>
          </a:bodyPr>
          <a:lstStyle/>
          <a:p>
            <a:pPr>
              <a:lnSpc>
                <a:spcPct val="108000"/>
              </a:lnSpc>
            </a:pPr>
            <a:r>
              <a:rPr sz="1350" b="1">
                <a:solidFill>
                  <a:srgbClr val="FFFFFF"/>
                </a:solidFill>
              </a:rPr>
              <a:t>Average Premium Amount</a:t>
            </a:r>
            <a:r>
              <a:rPr sz="1200" b="0">
                <a:solidFill>
                  <a:srgbClr val="C7CEDB"/>
                </a:solidFill>
              </a:rPr>
              <a:t> – The average premium collected per policy is </a:t>
            </a:r>
            <a:r>
              <a:rPr sz="1350" b="1">
                <a:solidFill>
                  <a:srgbClr val="FFFFFF"/>
                </a:solidFill>
              </a:rPr>
              <a:t>₹1.05K</a:t>
            </a:r>
            <a:r>
              <a:rPr sz="1200" b="0">
                <a:solidFill>
                  <a:srgbClr val="C7CEDB"/>
                </a:solidFill>
              </a:rPr>
              <a:t>, representing the average customer payment.</a:t>
            </a:r>
          </a:p>
        </p:txBody>
      </p:sp>
    </p:spTree>
    <p:extLst>
      <p:ext uri="{BB962C8B-B14F-4D97-AF65-F5344CB8AC3E}">
        <p14:creationId xmlns:p14="http://schemas.microsoft.com/office/powerpoint/2010/main" val="4208914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6" name="Rectangle 5"/>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50000" y="521914"/>
            <a:ext cx="38000" cy="16827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60000" y="511914"/>
            <a:ext cx="8452000" cy="1702796"/>
          </a:xfrm>
          <a:prstGeom prst="rect">
            <a:avLst/>
          </a:prstGeom>
          <a:noFill/>
        </p:spPr>
        <p:txBody>
          <a:bodyPr wrap="square" lIns="0" tIns="20000" rIns="0" bIns="0">
            <a:spAutoFit/>
          </a:bodyPr>
          <a:lstStyle/>
          <a:p>
            <a:pPr>
              <a:lnSpc>
                <a:spcPct val="108000"/>
              </a:lnSpc>
            </a:pPr>
            <a:r>
              <a:rPr sz="1400" b="1">
                <a:solidFill>
                  <a:srgbClr val="2A9D8F"/>
                </a:solidFill>
              </a:rPr>
              <a:t>Policy Status</a:t>
            </a:r>
            <a:r>
              <a:rPr sz="1250" b="0">
                <a:solidFill>
                  <a:srgbClr val="C7CEDB"/>
                </a:solidFill>
              </a:rPr>
              <a:t> – </a:t>
            </a:r>
            <a:r>
              <a:rPr sz="1400" b="1">
                <a:solidFill>
                  <a:srgbClr val="2A9D8F"/>
                </a:solidFill>
              </a:rPr>
              <a:t>Active:</a:t>
            </a:r>
            <a:r>
              <a:rPr sz="1250" b="0">
                <a:solidFill>
                  <a:srgbClr val="C7CEDB"/>
                </a:solidFill>
              </a:rPr>
              <a:t> 1,682  </a:t>
            </a:r>
            <a:r>
              <a:rPr sz="1400" b="1">
                <a:solidFill>
                  <a:srgbClr val="2A9D8F"/>
                </a:solidFill>
              </a:rPr>
              <a:t>Terminated:</a:t>
            </a:r>
            <a:r>
              <a:rPr sz="1250" b="0">
                <a:solidFill>
                  <a:srgbClr val="C7CEDB"/>
                </a:solidFill>
              </a:rPr>
              <a:t> 1,678  </a:t>
            </a:r>
            <a:r>
              <a:rPr sz="1400" b="1">
                <a:solidFill>
                  <a:srgbClr val="2A9D8F"/>
                </a:solidFill>
              </a:rPr>
              <a:t>Lapsed:</a:t>
            </a:r>
            <a:r>
              <a:rPr sz="1250" b="0">
                <a:solidFill>
                  <a:srgbClr val="C7CEDB"/>
                </a:solidFill>
              </a:rPr>
              <a:t> 1,640 policies. </a:t>
            </a:r>
            <a:r>
              <a:rPr sz="1400" b="1">
                <a:solidFill>
                  <a:srgbClr val="2A9D8F"/>
                </a:solidFill>
              </a:rPr>
              <a:t>Active</a:t>
            </a:r>
            <a:r>
              <a:rPr sz="1250" b="0">
                <a:solidFill>
                  <a:srgbClr val="C7CEDB"/>
                </a:solidFill>
              </a:rPr>
              <a:t> has the highest number of policies, indicating most customers currently have active insurance coverage.</a:t>
            </a:r>
          </a:p>
        </p:txBody>
      </p:sp>
      <p:sp>
        <p:nvSpPr>
          <p:cNvPr id="15" name="Rectangle 14"/>
          <p:cNvSpPr/>
          <p:nvPr/>
        </p:nvSpPr>
        <p:spPr>
          <a:xfrm>
            <a:off x="3450000" y="2336625"/>
            <a:ext cx="38000" cy="2179193"/>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0000" y="2326625"/>
            <a:ext cx="8452000" cy="2199193"/>
          </a:xfrm>
          <a:prstGeom prst="rect">
            <a:avLst/>
          </a:prstGeom>
          <a:noFill/>
        </p:spPr>
        <p:txBody>
          <a:bodyPr wrap="square" lIns="0" tIns="20000" rIns="0" bIns="0">
            <a:spAutoFit/>
          </a:bodyPr>
          <a:lstStyle/>
          <a:p>
            <a:pPr>
              <a:lnSpc>
                <a:spcPct val="108000"/>
              </a:lnSpc>
            </a:pPr>
            <a:r>
              <a:rPr sz="1400" b="1">
                <a:solidFill>
                  <a:srgbClr val="6FA8DC"/>
                </a:solidFill>
              </a:rPr>
              <a:t>Gender-wise Policy Distribution</a:t>
            </a:r>
            <a:r>
              <a:rPr sz="1250" b="0">
                <a:solidFill>
                  <a:srgbClr val="C7CEDB"/>
                </a:solidFill>
              </a:rPr>
              <a:t> – </a:t>
            </a:r>
            <a:r>
              <a:rPr sz="1400" b="1">
                <a:solidFill>
                  <a:srgbClr val="6FA8DC"/>
                </a:solidFill>
              </a:rPr>
              <a:t>Male:</a:t>
            </a:r>
            <a:r>
              <a:rPr sz="1250" b="0">
                <a:solidFill>
                  <a:srgbClr val="C7CEDB"/>
                </a:solidFill>
              </a:rPr>
              <a:t> 34%  </a:t>
            </a:r>
            <a:r>
              <a:rPr sz="1400" b="1">
                <a:solidFill>
                  <a:srgbClr val="6FA8DC"/>
                </a:solidFill>
              </a:rPr>
              <a:t>Female:</a:t>
            </a:r>
            <a:r>
              <a:rPr sz="1250" b="0">
                <a:solidFill>
                  <a:srgbClr val="C7CEDB"/>
                </a:solidFill>
              </a:rPr>
              <a:t> 33%  </a:t>
            </a:r>
            <a:r>
              <a:rPr sz="1400" b="1">
                <a:solidFill>
                  <a:srgbClr val="6FA8DC"/>
                </a:solidFill>
              </a:rPr>
              <a:t>Other:</a:t>
            </a:r>
            <a:r>
              <a:rPr sz="1250" b="0">
                <a:solidFill>
                  <a:srgbClr val="C7CEDB"/>
                </a:solidFill>
              </a:rPr>
              <a:t> 33%. The policy distribution is almost equal across all genders, showing balanced customer participation.</a:t>
            </a:r>
          </a:p>
        </p:txBody>
      </p:sp>
      <p:sp>
        <p:nvSpPr>
          <p:cNvPr id="17" name="Rectangle 16"/>
          <p:cNvSpPr/>
          <p:nvPr/>
        </p:nvSpPr>
        <p:spPr>
          <a:xfrm>
            <a:off x="3450000" y="4682661"/>
            <a:ext cx="38000" cy="206533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60000" y="4672661"/>
            <a:ext cx="8452000" cy="2085339"/>
          </a:xfrm>
          <a:prstGeom prst="rect">
            <a:avLst/>
          </a:prstGeom>
          <a:noFill/>
        </p:spPr>
        <p:txBody>
          <a:bodyPr wrap="square" lIns="0" tIns="20000" rIns="0" bIns="0">
            <a:spAutoFit/>
          </a:bodyPr>
          <a:lstStyle/>
          <a:p>
            <a:pPr>
              <a:lnSpc>
                <a:spcPct val="108000"/>
              </a:lnSpc>
            </a:pPr>
            <a:r>
              <a:rPr sz="1400" b="1">
                <a:solidFill>
                  <a:srgbClr val="E76F51"/>
                </a:solidFill>
              </a:rPr>
              <a:t>Age-wise Policy Analysis</a:t>
            </a:r>
            <a:r>
              <a:rPr sz="1250" b="0">
                <a:solidFill>
                  <a:srgbClr val="C7CEDB"/>
                </a:solidFill>
              </a:rPr>
              <a:t> – The </a:t>
            </a:r>
            <a:r>
              <a:rPr sz="1400" b="1">
                <a:solidFill>
                  <a:srgbClr val="E76F51"/>
                </a:solidFill>
              </a:rPr>
              <a:t>48–57</a:t>
            </a:r>
            <a:r>
              <a:rPr sz="1250" b="0">
                <a:solidFill>
                  <a:srgbClr val="C7CEDB"/>
                </a:solidFill>
              </a:rPr>
              <a:t> age group has the highest number of policies (</a:t>
            </a:r>
            <a:r>
              <a:rPr sz="1400" b="1">
                <a:solidFill>
                  <a:srgbClr val="E76F51"/>
                </a:solidFill>
              </a:rPr>
              <a:t>785</a:t>
            </a:r>
            <a:r>
              <a:rPr sz="1250" b="0">
                <a:solidFill>
                  <a:srgbClr val="C7CEDB"/>
                </a:solidFill>
              </a:rPr>
              <a:t>), followed by </a:t>
            </a:r>
            <a:r>
              <a:rPr sz="1400" b="1">
                <a:solidFill>
                  <a:srgbClr val="E76F51"/>
                </a:solidFill>
              </a:rPr>
              <a:t>38–47</a:t>
            </a:r>
            <a:r>
              <a:rPr sz="1250" b="0">
                <a:solidFill>
                  <a:srgbClr val="C7CEDB"/>
                </a:solidFill>
              </a:rPr>
              <a:t> (</a:t>
            </a:r>
            <a:r>
              <a:rPr sz="1400" b="1">
                <a:solidFill>
                  <a:srgbClr val="E76F51"/>
                </a:solidFill>
              </a:rPr>
              <a:t>759</a:t>
            </a:r>
            <a:r>
              <a:rPr sz="1250" b="0">
                <a:solidFill>
                  <a:srgbClr val="C7CEDB"/>
                </a:solidFill>
              </a:rPr>
              <a:t>) and </a:t>
            </a:r>
            <a:r>
              <a:rPr sz="1400" b="1">
                <a:solidFill>
                  <a:srgbClr val="E76F51"/>
                </a:solidFill>
              </a:rPr>
              <a:t>58–67</a:t>
            </a:r>
            <a:r>
              <a:rPr sz="1250" b="0">
                <a:solidFill>
                  <a:srgbClr val="C7CEDB"/>
                </a:solidFill>
              </a:rPr>
              <a:t> (</a:t>
            </a:r>
            <a:r>
              <a:rPr sz="1400" b="1">
                <a:solidFill>
                  <a:srgbClr val="E76F51"/>
                </a:solidFill>
              </a:rPr>
              <a:t>744</a:t>
            </a:r>
            <a:r>
              <a:rPr sz="1250" b="0">
                <a:solidFill>
                  <a:srgbClr val="C7CEDB"/>
                </a:solidFill>
              </a:rPr>
              <a:t>). This indicates that middle-aged customers purchase the highest number of insurance policies.</a:t>
            </a:r>
          </a:p>
        </p:txBody>
      </p:sp>
      <p:graphicFrame>
        <p:nvGraphicFramePr>
          <p:cNvPr id="4" name="Chart 3">
            <a:extLst>
              <a:ext uri="{FF2B5EF4-FFF2-40B4-BE49-F238E27FC236}">
                <a16:creationId xmlns:a16="http://schemas.microsoft.com/office/drawing/2014/main" id="{0B387C33-663A-475B-90EA-58C60D7FBE3E}"/>
              </a:ext>
            </a:extLst>
          </p:cNvPr>
          <p:cNvGraphicFramePr>
            <a:graphicFrameLocks/>
          </p:cNvGraphicFramePr>
          <p:nvPr>
            <p:extLst>
              <p:ext uri="{D42A27DB-BD31-4B8C-83A1-F6EECF244321}">
                <p14:modId xmlns:p14="http://schemas.microsoft.com/office/powerpoint/2010/main" val="3966561681"/>
              </p:ext>
            </p:extLst>
          </p:nvPr>
        </p:nvGraphicFramePr>
        <p:xfrm>
          <a:off x="123334" y="506287"/>
          <a:ext cx="3174048" cy="171568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43E5DDDC-270C-4B9C-BFAD-02A4DE4C6C1E}"/>
              </a:ext>
            </a:extLst>
          </p:cNvPr>
          <p:cNvGraphicFramePr>
            <a:graphicFrameLocks/>
          </p:cNvGraphicFramePr>
          <p:nvPr>
            <p:extLst>
              <p:ext uri="{D42A27DB-BD31-4B8C-83A1-F6EECF244321}">
                <p14:modId xmlns:p14="http://schemas.microsoft.com/office/powerpoint/2010/main" val="2047761198"/>
              </p:ext>
            </p:extLst>
          </p:nvPr>
        </p:nvGraphicFramePr>
        <p:xfrm>
          <a:off x="123335" y="2299101"/>
          <a:ext cx="3174048" cy="21991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59CFE307-F55B-4522-BE8B-1531A19DE219}"/>
              </a:ext>
            </a:extLst>
          </p:cNvPr>
          <p:cNvGraphicFramePr>
            <a:graphicFrameLocks/>
          </p:cNvGraphicFramePr>
          <p:nvPr>
            <p:extLst>
              <p:ext uri="{D42A27DB-BD31-4B8C-83A1-F6EECF244321}">
                <p14:modId xmlns:p14="http://schemas.microsoft.com/office/powerpoint/2010/main" val="2248515075"/>
              </p:ext>
            </p:extLst>
          </p:nvPr>
        </p:nvGraphicFramePr>
        <p:xfrm>
          <a:off x="123334" y="4575423"/>
          <a:ext cx="3174049" cy="219919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4936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11" name="Rectangle 10"/>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a:extLst>
              <a:ext uri="{FF2B5EF4-FFF2-40B4-BE49-F238E27FC236}">
                <a16:creationId xmlns:a16="http://schemas.microsoft.com/office/drawing/2014/main" id="{36F914A9-E0D1-4BED-A14E-0AD444BF1F5A}"/>
              </a:ext>
            </a:extLst>
          </p:cNvPr>
          <p:cNvGraphicFramePr>
            <a:graphicFrameLocks/>
          </p:cNvGraphicFramePr>
          <p:nvPr>
            <p:extLst>
              <p:ext uri="{D42A27DB-BD31-4B8C-83A1-F6EECF244321}">
                <p14:modId xmlns:p14="http://schemas.microsoft.com/office/powerpoint/2010/main" val="3215143076"/>
              </p:ext>
            </p:extLst>
          </p:nvPr>
        </p:nvGraphicFramePr>
        <p:xfrm>
          <a:off x="102524" y="4967651"/>
          <a:ext cx="5993476" cy="1780892"/>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p:cNvSpPr/>
          <p:nvPr/>
        </p:nvSpPr>
        <p:spPr>
          <a:xfrm>
            <a:off x="4150000" y="479076"/>
            <a:ext cx="38000" cy="140127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60000" y="469076"/>
            <a:ext cx="7752000" cy="1421274"/>
          </a:xfrm>
          <a:prstGeom prst="rect">
            <a:avLst/>
          </a:prstGeom>
          <a:noFill/>
        </p:spPr>
        <p:txBody>
          <a:bodyPr wrap="square" lIns="0" tIns="20000" rIns="0" bIns="0">
            <a:spAutoFit/>
          </a:bodyPr>
          <a:lstStyle/>
          <a:p>
            <a:pPr>
              <a:lnSpc>
                <a:spcPct val="108000"/>
              </a:lnSpc>
            </a:pPr>
            <a:r>
              <a:rPr sz="1400" b="1">
                <a:solidFill>
                  <a:srgbClr val="2A9D8F"/>
                </a:solidFill>
              </a:rPr>
              <a:t>Male vs Female Policy Count</a:t>
            </a:r>
            <a:r>
              <a:rPr sz="1250" b="0">
                <a:solidFill>
                  <a:srgbClr val="C7CEDB"/>
                </a:solidFill>
              </a:rPr>
              <a:t> – </a:t>
            </a:r>
            <a:r>
              <a:rPr sz="1400" b="1">
                <a:solidFill>
                  <a:srgbClr val="2A9D8F"/>
                </a:solidFill>
              </a:rPr>
              <a:t>Male:</a:t>
            </a:r>
            <a:r>
              <a:rPr sz="1250" b="0">
                <a:solidFill>
                  <a:srgbClr val="C7CEDB"/>
                </a:solidFill>
              </a:rPr>
              <a:t> 1,705  </a:t>
            </a:r>
            <a:r>
              <a:rPr sz="1400" b="1">
                <a:solidFill>
                  <a:srgbClr val="2A9D8F"/>
                </a:solidFill>
              </a:rPr>
              <a:t>Female:</a:t>
            </a:r>
            <a:r>
              <a:rPr sz="1250" b="0">
                <a:solidFill>
                  <a:srgbClr val="C7CEDB"/>
                </a:solidFill>
              </a:rPr>
              <a:t> 1,640 policies. Male customers hold </a:t>
            </a:r>
            <a:r>
              <a:rPr sz="1400" b="1">
                <a:solidFill>
                  <a:srgbClr val="2A9D8F"/>
                </a:solidFill>
              </a:rPr>
              <a:t>65 more policies</a:t>
            </a:r>
            <a:r>
              <a:rPr sz="1250" b="0">
                <a:solidFill>
                  <a:srgbClr val="C7CEDB"/>
                </a:solidFill>
              </a:rPr>
              <a:t> than female customers.</a:t>
            </a:r>
          </a:p>
        </p:txBody>
      </p:sp>
      <p:sp>
        <p:nvSpPr>
          <p:cNvPr id="14" name="Rectangle 13"/>
          <p:cNvSpPr/>
          <p:nvPr/>
        </p:nvSpPr>
        <p:spPr>
          <a:xfrm>
            <a:off x="4150000" y="1969425"/>
            <a:ext cx="38000" cy="149787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60000" y="1959425"/>
            <a:ext cx="7752000" cy="1517875"/>
          </a:xfrm>
          <a:prstGeom prst="rect">
            <a:avLst/>
          </a:prstGeom>
          <a:noFill/>
        </p:spPr>
        <p:txBody>
          <a:bodyPr wrap="square" lIns="0" tIns="20000" rIns="0" bIns="0">
            <a:spAutoFit/>
          </a:bodyPr>
          <a:lstStyle/>
          <a:p>
            <a:pPr>
              <a:lnSpc>
                <a:spcPct val="108000"/>
              </a:lnSpc>
            </a:pPr>
            <a:r>
              <a:rPr sz="1400" b="1">
                <a:solidFill>
                  <a:srgbClr val="6FA8DC"/>
                </a:solidFill>
              </a:rPr>
              <a:t>Policy Difference</a:t>
            </a:r>
            <a:r>
              <a:rPr sz="1250" b="0">
                <a:solidFill>
                  <a:srgbClr val="C7CEDB"/>
                </a:solidFill>
              </a:rPr>
              <a:t> – The difference between male and female policy counts is </a:t>
            </a:r>
            <a:r>
              <a:rPr sz="1400" b="1">
                <a:solidFill>
                  <a:srgbClr val="6FA8DC"/>
                </a:solidFill>
              </a:rPr>
              <a:t>65 policies</a:t>
            </a:r>
            <a:r>
              <a:rPr sz="1250" b="0">
                <a:solidFill>
                  <a:srgbClr val="C7CEDB"/>
                </a:solidFill>
              </a:rPr>
              <a:t>. This shows a small variation in policy ownership between the two groups.</a:t>
            </a:r>
          </a:p>
        </p:txBody>
      </p:sp>
      <p:sp>
        <p:nvSpPr>
          <p:cNvPr id="16" name="Rectangle 15"/>
          <p:cNvSpPr/>
          <p:nvPr/>
        </p:nvSpPr>
        <p:spPr>
          <a:xfrm>
            <a:off x="4150000" y="3594304"/>
            <a:ext cx="38000" cy="126457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60000" y="3584304"/>
            <a:ext cx="7752000" cy="1284578"/>
          </a:xfrm>
          <a:prstGeom prst="rect">
            <a:avLst/>
          </a:prstGeom>
          <a:noFill/>
        </p:spPr>
        <p:txBody>
          <a:bodyPr wrap="square" lIns="0" tIns="20000" rIns="0" bIns="0">
            <a:spAutoFit/>
          </a:bodyPr>
          <a:lstStyle/>
          <a:p>
            <a:pPr>
              <a:lnSpc>
                <a:spcPct val="108000"/>
              </a:lnSpc>
            </a:pPr>
            <a:r>
              <a:rPr sz="1400" b="1">
                <a:solidFill>
                  <a:srgbClr val="E76F51"/>
                </a:solidFill>
              </a:rPr>
              <a:t>Max &amp; Min Policy Type</a:t>
            </a:r>
            <a:r>
              <a:rPr sz="1250" b="0">
                <a:solidFill>
                  <a:srgbClr val="C7CEDB"/>
                </a:solidFill>
              </a:rPr>
              <a:t> – </a:t>
            </a:r>
            <a:r>
              <a:rPr sz="1400" b="1">
                <a:solidFill>
                  <a:srgbClr val="E76F51"/>
                </a:solidFill>
              </a:rPr>
              <a:t>Highest:</a:t>
            </a:r>
            <a:r>
              <a:rPr sz="1250" b="0">
                <a:solidFill>
                  <a:srgbClr val="C7CEDB"/>
                </a:solidFill>
              </a:rPr>
              <a:t> Health – </a:t>
            </a:r>
            <a:r>
              <a:rPr sz="1400" b="1">
                <a:solidFill>
                  <a:srgbClr val="E76F51"/>
                </a:solidFill>
              </a:rPr>
              <a:t>1,316 policies</a:t>
            </a:r>
            <a:r>
              <a:rPr sz="1250" b="0">
                <a:solidFill>
                  <a:srgbClr val="C7CEDB"/>
                </a:solidFill>
              </a:rPr>
              <a:t>.  </a:t>
            </a:r>
            <a:r>
              <a:rPr sz="1400" b="1">
                <a:solidFill>
                  <a:srgbClr val="E76F51"/>
                </a:solidFill>
              </a:rPr>
              <a:t>Lowest:</a:t>
            </a:r>
            <a:r>
              <a:rPr sz="1250" b="0">
                <a:solidFill>
                  <a:srgbClr val="C7CEDB"/>
                </a:solidFill>
              </a:rPr>
              <a:t> Auto – </a:t>
            </a:r>
            <a:r>
              <a:rPr sz="1400" b="1">
                <a:solidFill>
                  <a:srgbClr val="E76F51"/>
                </a:solidFill>
              </a:rPr>
              <a:t>1,214 policies</a:t>
            </a:r>
            <a:r>
              <a:rPr sz="1250" b="0">
                <a:solidFill>
                  <a:srgbClr val="C7CEDB"/>
                </a:solidFill>
              </a:rPr>
              <a:t>. Health insurance is the most preferred policy type, while Auto has the lowest demand.</a:t>
            </a:r>
          </a:p>
        </p:txBody>
      </p:sp>
      <p:sp>
        <p:nvSpPr>
          <p:cNvPr id="18" name="Rectangle 17"/>
          <p:cNvSpPr/>
          <p:nvPr/>
        </p:nvSpPr>
        <p:spPr>
          <a:xfrm>
            <a:off x="6296000" y="4977651"/>
            <a:ext cx="38000" cy="1760892"/>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6000" y="4967651"/>
            <a:ext cx="5606000" cy="1780892"/>
          </a:xfrm>
          <a:prstGeom prst="rect">
            <a:avLst/>
          </a:prstGeom>
          <a:noFill/>
        </p:spPr>
        <p:txBody>
          <a:bodyPr wrap="square" lIns="0" tIns="20000" rIns="0" bIns="0">
            <a:spAutoFit/>
          </a:bodyPr>
          <a:lstStyle/>
          <a:p>
            <a:pPr>
              <a:lnSpc>
                <a:spcPct val="108000"/>
              </a:lnSpc>
            </a:pPr>
            <a:r>
              <a:rPr sz="1400" b="1">
                <a:solidFill>
                  <a:srgbClr val="E9B44C"/>
                </a:solidFill>
              </a:rPr>
              <a:t>Year-wise Premium Trend</a:t>
            </a:r>
            <a:r>
              <a:rPr sz="1250" b="0">
                <a:solidFill>
                  <a:srgbClr val="C7CEDB"/>
                </a:solidFill>
              </a:rPr>
              <a:t> – Premium collection was analyzed from </a:t>
            </a:r>
            <a:r>
              <a:rPr sz="1400" b="1">
                <a:solidFill>
                  <a:srgbClr val="E9B44C"/>
                </a:solidFill>
              </a:rPr>
              <a:t>2014 to 2024</a:t>
            </a:r>
            <a:r>
              <a:rPr sz="1250" b="0">
                <a:solidFill>
                  <a:srgbClr val="C7CEDB"/>
                </a:solidFill>
              </a:rPr>
              <a:t>. The trend shows fluctuations in premium amounts, with peak collections observed in the middle years before declining slightly.</a:t>
            </a:r>
          </a:p>
        </p:txBody>
      </p:sp>
      <p:graphicFrame>
        <p:nvGraphicFramePr>
          <p:cNvPr id="2" name="Chart 1">
            <a:extLst>
              <a:ext uri="{FF2B5EF4-FFF2-40B4-BE49-F238E27FC236}">
                <a16:creationId xmlns:a16="http://schemas.microsoft.com/office/drawing/2014/main" id="{62414923-197E-4BFE-A2CA-7B9856991379}"/>
              </a:ext>
            </a:extLst>
          </p:cNvPr>
          <p:cNvGraphicFramePr>
            <a:graphicFrameLocks/>
          </p:cNvGraphicFramePr>
          <p:nvPr>
            <p:extLst>
              <p:ext uri="{D42A27DB-BD31-4B8C-83A1-F6EECF244321}">
                <p14:modId xmlns:p14="http://schemas.microsoft.com/office/powerpoint/2010/main" val="3905769377"/>
              </p:ext>
            </p:extLst>
          </p:nvPr>
        </p:nvGraphicFramePr>
        <p:xfrm>
          <a:off x="102524" y="469076"/>
          <a:ext cx="3896821" cy="138334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3702D63E-478F-44AE-B407-2E98E31AC222}"/>
              </a:ext>
            </a:extLst>
          </p:cNvPr>
          <p:cNvGraphicFramePr>
            <a:graphicFrameLocks/>
          </p:cNvGraphicFramePr>
          <p:nvPr>
            <p:extLst>
              <p:ext uri="{D42A27DB-BD31-4B8C-83A1-F6EECF244321}">
                <p14:modId xmlns:p14="http://schemas.microsoft.com/office/powerpoint/2010/main" val="1146196200"/>
              </p:ext>
            </p:extLst>
          </p:nvPr>
        </p:nvGraphicFramePr>
        <p:xfrm>
          <a:off x="102524" y="1931497"/>
          <a:ext cx="3896821" cy="149750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2F1A1DC5-37CB-4757-9A60-3F116382DDF1}"/>
              </a:ext>
            </a:extLst>
          </p:cNvPr>
          <p:cNvGraphicFramePr>
            <a:graphicFrameLocks/>
          </p:cNvGraphicFramePr>
          <p:nvPr>
            <p:extLst>
              <p:ext uri="{D42A27DB-BD31-4B8C-83A1-F6EECF244321}">
                <p14:modId xmlns:p14="http://schemas.microsoft.com/office/powerpoint/2010/main" val="513902778"/>
              </p:ext>
            </p:extLst>
          </p:nvPr>
        </p:nvGraphicFramePr>
        <p:xfrm>
          <a:off x="102524" y="3497333"/>
          <a:ext cx="3896821" cy="138334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12347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7" name="Rectangle 6"/>
          <p:cNvSpPr/>
          <p:nvPr/>
        </p:nvSpPr>
        <p:spPr>
          <a:xfrm>
            <a:off x="0" y="-10000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ectangle 7"/>
          <p:cNvSpPr/>
          <p:nvPr/>
        </p:nvSpPr>
        <p:spPr>
          <a:xfrm>
            <a:off x="6723186" y="363291"/>
            <a:ext cx="38000" cy="309935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3186" y="353291"/>
            <a:ext cx="5178814" cy="3119359"/>
          </a:xfrm>
          <a:prstGeom prst="rect">
            <a:avLst/>
          </a:prstGeom>
          <a:noFill/>
        </p:spPr>
        <p:txBody>
          <a:bodyPr wrap="square" lIns="0" tIns="20000" rIns="0" bIns="0">
            <a:spAutoFit/>
          </a:bodyPr>
          <a:lstStyle/>
          <a:p>
            <a:pPr>
              <a:lnSpc>
                <a:spcPct val="108000"/>
              </a:lnSpc>
            </a:pPr>
            <a:r>
              <a:rPr sz="1400" b="1">
                <a:solidFill>
                  <a:srgbClr val="2A9D8F"/>
                </a:solidFill>
              </a:rPr>
              <a:t>Policy Ending Trend</a:t>
            </a:r>
            <a:r>
              <a:rPr sz="1250" b="0">
                <a:solidFill>
                  <a:srgbClr val="C7CEDB"/>
                </a:solidFill>
              </a:rPr>
              <a:t> – Policy endings increased steadily and reached a </a:t>
            </a:r>
            <a:r>
              <a:rPr sz="1400" b="1">
                <a:solidFill>
                  <a:srgbClr val="2A9D8F"/>
                </a:solidFill>
              </a:rPr>
              <a:t>peak of 526 policies in 2025</a:t>
            </a:r>
            <a:r>
              <a:rPr sz="1250" b="0">
                <a:solidFill>
                  <a:srgbClr val="C7CEDB"/>
                </a:solidFill>
              </a:rPr>
              <a:t>. After 2025, the number of policy endings gradually decreased, indicating fewer policies expiring in later years.</a:t>
            </a:r>
          </a:p>
        </p:txBody>
      </p:sp>
      <p:sp>
        <p:nvSpPr>
          <p:cNvPr id="10" name="Rectangle 9"/>
          <p:cNvSpPr/>
          <p:nvPr/>
        </p:nvSpPr>
        <p:spPr>
          <a:xfrm>
            <a:off x="6723186" y="3649387"/>
            <a:ext cx="38000" cy="3052698"/>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33186" y="3639387"/>
            <a:ext cx="5178814" cy="3072698"/>
          </a:xfrm>
          <a:prstGeom prst="rect">
            <a:avLst/>
          </a:prstGeom>
          <a:noFill/>
        </p:spPr>
        <p:txBody>
          <a:bodyPr wrap="square" lIns="0" tIns="20000" rIns="0" bIns="0">
            <a:spAutoFit/>
          </a:bodyPr>
          <a:lstStyle/>
          <a:p>
            <a:pPr>
              <a:lnSpc>
                <a:spcPct val="108000"/>
              </a:lnSpc>
            </a:pPr>
            <a:r>
              <a:rPr sz="1400" b="1">
                <a:solidFill>
                  <a:srgbClr val="6FA8DC"/>
                </a:solidFill>
              </a:rPr>
              <a:t>Premium Growth Rate</a:t>
            </a:r>
            <a:r>
              <a:rPr sz="1250" b="0">
                <a:solidFill>
                  <a:srgbClr val="C7CEDB"/>
                </a:solidFill>
              </a:rPr>
              <a:t> – </a:t>
            </a:r>
            <a:r>
              <a:rPr sz="1400" b="1">
                <a:solidFill>
                  <a:srgbClr val="6FA8DC"/>
                </a:solidFill>
              </a:rPr>
              <a:t>Max:</a:t>
            </a:r>
            <a:r>
              <a:rPr sz="1250" b="0">
                <a:solidFill>
                  <a:srgbClr val="C7CEDB"/>
                </a:solidFill>
              </a:rPr>
              <a:t> 38.55%   </a:t>
            </a:r>
            <a:r>
              <a:rPr sz="1400" b="1">
                <a:solidFill>
                  <a:srgbClr val="6FA8DC"/>
                </a:solidFill>
              </a:rPr>
              <a:t>Min:</a:t>
            </a:r>
            <a:r>
              <a:rPr sz="1250" b="0">
                <a:solidFill>
                  <a:srgbClr val="C7CEDB"/>
                </a:solidFill>
              </a:rPr>
              <a:t> −0.09%   </a:t>
            </a:r>
            <a:r>
              <a:rPr sz="1400" b="1">
                <a:solidFill>
                  <a:srgbClr val="6FA8DC"/>
                </a:solidFill>
              </a:rPr>
              <a:t>Diff:</a:t>
            </a:r>
            <a:r>
              <a:rPr sz="1250" b="0">
                <a:solidFill>
                  <a:srgbClr val="C7CEDB"/>
                </a:solidFill>
              </a:rPr>
              <a:t> 38.64%. The chart highlights yearly changes in premium growth and how performance varied over time.</a:t>
            </a:r>
          </a:p>
        </p:txBody>
      </p:sp>
      <p:graphicFrame>
        <p:nvGraphicFramePr>
          <p:cNvPr id="2" name="Chart 1">
            <a:extLst>
              <a:ext uri="{FF2B5EF4-FFF2-40B4-BE49-F238E27FC236}">
                <a16:creationId xmlns:a16="http://schemas.microsoft.com/office/drawing/2014/main" id="{3E6370F4-48AF-44F8-A6D0-82EE90F40416}"/>
              </a:ext>
            </a:extLst>
          </p:cNvPr>
          <p:cNvGraphicFramePr>
            <a:graphicFrameLocks/>
          </p:cNvGraphicFramePr>
          <p:nvPr>
            <p:extLst>
              <p:ext uri="{D42A27DB-BD31-4B8C-83A1-F6EECF244321}">
                <p14:modId xmlns:p14="http://schemas.microsoft.com/office/powerpoint/2010/main" val="4022820701"/>
              </p:ext>
            </p:extLst>
          </p:nvPr>
        </p:nvGraphicFramePr>
        <p:xfrm>
          <a:off x="130685" y="363291"/>
          <a:ext cx="6392501" cy="29817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27019A8A-3B0A-4677-8451-746EF837FC6B}"/>
              </a:ext>
            </a:extLst>
          </p:cNvPr>
          <p:cNvGraphicFramePr>
            <a:graphicFrameLocks/>
          </p:cNvGraphicFramePr>
          <p:nvPr>
            <p:extLst>
              <p:ext uri="{D42A27DB-BD31-4B8C-83A1-F6EECF244321}">
                <p14:modId xmlns:p14="http://schemas.microsoft.com/office/powerpoint/2010/main" val="2591375097"/>
              </p:ext>
            </p:extLst>
          </p:nvPr>
        </p:nvGraphicFramePr>
        <p:xfrm>
          <a:off x="180000" y="3511821"/>
          <a:ext cx="6343186" cy="31921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85372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91CAB5AC-7835-BD96-B384-24CE1E67D393}"/>
              </a:ext>
            </a:extLst>
          </p:cNvPr>
          <p:cNvSpPr/>
          <p:nvPr/>
        </p:nvSpPr>
        <p:spPr>
          <a:xfrm>
            <a:off x="9503381" y="-1920240"/>
            <a:ext cx="6055360" cy="5349240"/>
          </a:xfrm>
          <a:prstGeom prst="ellipse">
            <a:avLst/>
          </a:prstGeom>
          <a:solidFill>
            <a:srgbClr val="2235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DABB195-F0B0-2713-E4A5-288890BD424A}"/>
              </a:ext>
            </a:extLst>
          </p:cNvPr>
          <p:cNvSpPr/>
          <p:nvPr/>
        </p:nvSpPr>
        <p:spPr>
          <a:xfrm>
            <a:off x="-4050717" y="3516384"/>
            <a:ext cx="6727010" cy="5349240"/>
          </a:xfrm>
          <a:prstGeom prst="ellipse">
            <a:avLst/>
          </a:prstGeom>
          <a:solidFill>
            <a:srgbClr val="2235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1DBE0036-0FC1-3A56-A1D3-EAF1F131C7F4}"/>
              </a:ext>
            </a:extLst>
          </p:cNvPr>
          <p:cNvSpPr txBox="1"/>
          <p:nvPr/>
        </p:nvSpPr>
        <p:spPr>
          <a:xfrm>
            <a:off x="2454443" y="2746943"/>
            <a:ext cx="9644514" cy="769441"/>
          </a:xfrm>
          <a:prstGeom prst="rect">
            <a:avLst/>
          </a:prstGeom>
          <a:noFill/>
        </p:spPr>
        <p:txBody>
          <a:bodyPr wrap="square" rtlCol="0">
            <a:spAutoFit/>
          </a:bodyPr>
          <a:lstStyle/>
          <a:p>
            <a:r>
              <a:rPr lang="en-IN" sz="4400" dirty="0">
                <a:solidFill>
                  <a:srgbClr val="FFFFFF"/>
                </a:solidFill>
                <a:latin typeface="Times New Roman" panose="02020603050405020304" pitchFamily="18" charset="0"/>
                <a:cs typeface="Times New Roman" panose="02020603050405020304" pitchFamily="18" charset="0"/>
              </a:rPr>
              <a:t>Power BI Dashboard Overview</a:t>
            </a:r>
          </a:p>
        </p:txBody>
      </p:sp>
    </p:spTree>
    <p:extLst>
      <p:ext uri="{BB962C8B-B14F-4D97-AF65-F5344CB8AC3E}">
        <p14:creationId xmlns:p14="http://schemas.microsoft.com/office/powerpoint/2010/main" val="1197145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61D1C-5C34-473A-8FD2-368FAEDB50C3}"/>
              </a:ext>
            </a:extLst>
          </p:cNvPr>
          <p:cNvSpPr>
            <a:spLocks noGrp="1"/>
          </p:cNvSpPr>
          <p:nvPr>
            <p:ph type="title"/>
          </p:nvPr>
        </p:nvSpPr>
        <p:spPr>
          <a:xfrm>
            <a:off x="300000" y="50000"/>
            <a:ext cx="10515600" cy="906446"/>
          </a:xfrm>
        </p:spPr>
        <p:txBody>
          <a:bodyPr/>
          <a:lstStyle/>
          <a:p>
            <a:pPr>
              <a:defRPr sz="2600" b="1">
                <a:solidFill>
                  <a:srgbClr val="FFFFFF"/>
                </a:solidFill>
              </a:defRPr>
            </a:pPr>
            <a:r>
              <a:rPr lang="en-IN" dirty="0">
                <a:latin typeface="+mn-lt"/>
              </a:rPr>
              <a:t>POWER BI DASHBOARD -1</a:t>
            </a:r>
          </a:p>
        </p:txBody>
      </p:sp>
      <p:sp>
        <p:nvSpPr>
          <p:cNvPr id="5" name="Rectangle 4"/>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32FB7DC1-1AB3-C28F-B0F6-E7458BE4B799}"/>
              </a:ext>
            </a:extLst>
          </p:cNvPr>
          <p:cNvPicPr>
            <a:picLocks noChangeAspect="1"/>
          </p:cNvPicPr>
          <p:nvPr/>
        </p:nvPicPr>
        <p:blipFill>
          <a:blip r:embed="rId2"/>
          <a:stretch>
            <a:fillRect/>
          </a:stretch>
        </p:blipFill>
        <p:spPr>
          <a:xfrm>
            <a:off x="101600" y="450000"/>
            <a:ext cx="12007273" cy="6358000"/>
          </a:xfrm>
          <a:prstGeom prst="rect">
            <a:avLst/>
          </a:prstGeom>
        </p:spPr>
      </p:pic>
    </p:spTree>
    <p:extLst>
      <p:ext uri="{BB962C8B-B14F-4D97-AF65-F5344CB8AC3E}">
        <p14:creationId xmlns:p14="http://schemas.microsoft.com/office/powerpoint/2010/main" val="2691852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4E3C-0BD8-061A-72E7-2B085CFE35FD}"/>
              </a:ext>
            </a:extLst>
          </p:cNvPr>
          <p:cNvSpPr>
            <a:spLocks noGrp="1"/>
          </p:cNvSpPr>
          <p:nvPr>
            <p:ph type="title"/>
          </p:nvPr>
        </p:nvSpPr>
        <p:spPr>
          <a:xfrm>
            <a:off x="300000" y="50000"/>
            <a:ext cx="10515600" cy="981986"/>
          </a:xfrm>
        </p:spPr>
        <p:txBody>
          <a:bodyPr/>
          <a:lstStyle/>
          <a:p>
            <a:pPr>
              <a:defRPr sz="2600" b="1">
                <a:solidFill>
                  <a:srgbClr val="FFFFFF"/>
                </a:solidFill>
              </a:defRPr>
            </a:pPr>
            <a:r>
              <a:rPr lang="en-IN" dirty="0">
                <a:latin typeface="+mn-lt"/>
              </a:rPr>
              <a:t>POWER BI DASHBOARD -2</a:t>
            </a:r>
          </a:p>
        </p:txBody>
      </p:sp>
      <p:sp>
        <p:nvSpPr>
          <p:cNvPr id="5" name="Rectangle 4"/>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054AAA5A-2DFE-767D-8538-896611E3A68B}"/>
              </a:ext>
            </a:extLst>
          </p:cNvPr>
          <p:cNvPicPr>
            <a:picLocks noChangeAspect="1"/>
          </p:cNvPicPr>
          <p:nvPr/>
        </p:nvPicPr>
        <p:blipFill>
          <a:blip r:embed="rId2"/>
          <a:stretch>
            <a:fillRect/>
          </a:stretch>
        </p:blipFill>
        <p:spPr>
          <a:xfrm>
            <a:off x="110836" y="450000"/>
            <a:ext cx="12061926" cy="6358000"/>
          </a:xfrm>
          <a:prstGeom prst="rect">
            <a:avLst/>
          </a:prstGeom>
        </p:spPr>
      </p:pic>
    </p:spTree>
    <p:extLst>
      <p:ext uri="{BB962C8B-B14F-4D97-AF65-F5344CB8AC3E}">
        <p14:creationId xmlns:p14="http://schemas.microsoft.com/office/powerpoint/2010/main" val="2285319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72E6C-914D-183B-BE9C-D4E4F1B685B9}"/>
              </a:ext>
            </a:extLst>
          </p:cNvPr>
          <p:cNvSpPr>
            <a:spLocks noGrp="1"/>
          </p:cNvSpPr>
          <p:nvPr>
            <p:ph type="title"/>
          </p:nvPr>
        </p:nvSpPr>
        <p:spPr>
          <a:xfrm>
            <a:off x="300000" y="50000"/>
            <a:ext cx="10515600" cy="1367624"/>
          </a:xfrm>
        </p:spPr>
        <p:txBody>
          <a:bodyPr/>
          <a:lstStyle/>
          <a:p>
            <a:pPr>
              <a:defRPr sz="2600" b="1">
                <a:solidFill>
                  <a:srgbClr val="FFFFFF"/>
                </a:solidFill>
              </a:defRPr>
            </a:pPr>
            <a:r>
              <a:rPr lang="en-IN" dirty="0">
                <a:latin typeface="+mn-lt"/>
              </a:rPr>
              <a:t>POWER BI DASHBOARD -3</a:t>
            </a:r>
          </a:p>
        </p:txBody>
      </p:sp>
      <p:sp>
        <p:nvSpPr>
          <p:cNvPr id="7" name="Rectangle 6"/>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a:extLst>
              <a:ext uri="{FF2B5EF4-FFF2-40B4-BE49-F238E27FC236}">
                <a16:creationId xmlns:a16="http://schemas.microsoft.com/office/drawing/2014/main" id="{A8B5946D-9059-71E7-263B-4ECE7B022149}"/>
              </a:ext>
            </a:extLst>
          </p:cNvPr>
          <p:cNvPicPr>
            <a:picLocks noChangeAspect="1"/>
          </p:cNvPicPr>
          <p:nvPr/>
        </p:nvPicPr>
        <p:blipFill>
          <a:blip r:embed="rId2"/>
          <a:stretch>
            <a:fillRect/>
          </a:stretch>
        </p:blipFill>
        <p:spPr>
          <a:xfrm>
            <a:off x="73891" y="450000"/>
            <a:ext cx="12025746" cy="6358000"/>
          </a:xfrm>
          <a:prstGeom prst="rect">
            <a:avLst/>
          </a:prstGeom>
        </p:spPr>
      </p:pic>
    </p:spTree>
    <p:extLst>
      <p:ext uri="{BB962C8B-B14F-4D97-AF65-F5344CB8AC3E}">
        <p14:creationId xmlns:p14="http://schemas.microsoft.com/office/powerpoint/2010/main" val="2755717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CB9DD8F-E8EC-4EEC-08C3-FC176EF19498}"/>
              </a:ext>
            </a:extLst>
          </p:cNvPr>
          <p:cNvSpPr/>
          <p:nvPr/>
        </p:nvSpPr>
        <p:spPr>
          <a:xfrm>
            <a:off x="9329110" y="-2057206"/>
            <a:ext cx="6055360" cy="5349240"/>
          </a:xfrm>
          <a:prstGeom prst="ellipse">
            <a:avLst/>
          </a:prstGeom>
          <a:solidFill>
            <a:srgbClr val="2235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9E0A0329-32EE-C282-9BFC-9B85BA28FBAF}"/>
              </a:ext>
            </a:extLst>
          </p:cNvPr>
          <p:cNvSpPr/>
          <p:nvPr/>
        </p:nvSpPr>
        <p:spPr>
          <a:xfrm>
            <a:off x="-4498055" y="3429000"/>
            <a:ext cx="6952498" cy="5316861"/>
          </a:xfrm>
          <a:prstGeom prst="ellipse">
            <a:avLst/>
          </a:prstGeom>
          <a:solidFill>
            <a:srgbClr val="2235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E4272B8-DF38-11BE-03ED-34597569FFB5}"/>
              </a:ext>
            </a:extLst>
          </p:cNvPr>
          <p:cNvSpPr txBox="1"/>
          <p:nvPr/>
        </p:nvSpPr>
        <p:spPr>
          <a:xfrm>
            <a:off x="2454443" y="2784651"/>
            <a:ext cx="9644514" cy="769441"/>
          </a:xfrm>
          <a:prstGeom prst="rect">
            <a:avLst/>
          </a:prstGeom>
          <a:noFill/>
        </p:spPr>
        <p:txBody>
          <a:bodyPr wrap="square" rtlCol="0">
            <a:spAutoFit/>
          </a:bodyPr>
          <a:lstStyle/>
          <a:p>
            <a:r>
              <a:rPr lang="en-IN" sz="4400" dirty="0">
                <a:solidFill>
                  <a:srgbClr val="FFFFFF"/>
                </a:solidFill>
                <a:latin typeface="Times New Roman" panose="02020603050405020304" pitchFamily="18" charset="0"/>
                <a:cs typeface="Times New Roman" panose="02020603050405020304" pitchFamily="18" charset="0"/>
              </a:rPr>
              <a:t>Tableau Dashboard Overview</a:t>
            </a:r>
          </a:p>
        </p:txBody>
      </p:sp>
    </p:spTree>
    <p:extLst>
      <p:ext uri="{BB962C8B-B14F-4D97-AF65-F5344CB8AC3E}">
        <p14:creationId xmlns:p14="http://schemas.microsoft.com/office/powerpoint/2010/main" val="581255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29B6610-A9B8-1D87-CC90-28B01D7E9F15}"/>
              </a:ext>
            </a:extLst>
          </p:cNvPr>
          <p:cNvSpPr txBox="1"/>
          <p:nvPr/>
        </p:nvSpPr>
        <p:spPr>
          <a:xfrm>
            <a:off x="370936" y="404456"/>
            <a:ext cx="11507638" cy="477054"/>
          </a:xfrm>
          <a:prstGeom prst="rect">
            <a:avLst/>
          </a:prstGeom>
          <a:noFill/>
        </p:spPr>
        <p:txBody>
          <a:bodyPr wrap="square" rtlCol="0">
            <a:spAutoFit/>
          </a:bodyPr>
          <a:lstStyle/>
          <a:p>
            <a:pPr algn="ctr"/>
            <a:r>
              <a:rPr lang="en-IN" sz="2500" b="1" dirty="0">
                <a:latin typeface="Times New Roman" panose="02020603050405020304" pitchFamily="18" charset="0"/>
                <a:cs typeface="Times New Roman" panose="02020603050405020304" pitchFamily="18" charset="0"/>
              </a:rPr>
              <a:t>TABLEAU DASHBOARD OVERVIEW - 1</a:t>
            </a:r>
          </a:p>
        </p:txBody>
      </p:sp>
      <p:sp>
        <p:nvSpPr>
          <p:cNvPr id="11" name="Rectangle 10">
            <a:extLst>
              <a:ext uri="{FF2B5EF4-FFF2-40B4-BE49-F238E27FC236}">
                <a16:creationId xmlns:a16="http://schemas.microsoft.com/office/drawing/2014/main" id="{0C264153-336F-EB80-9878-582C72C0E50B}"/>
              </a:ext>
            </a:extLst>
          </p:cNvPr>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FF2B5EF4-FFF2-40B4-BE49-F238E27FC236}">
                <a16:creationId xmlns:a16="http://schemas.microsoft.com/office/drawing/2014/main" id="{F0DE0B2A-FAA8-A01B-DB69-68F50FEEA6CB}"/>
              </a:ext>
            </a:extLst>
          </p:cNvPr>
          <p:cNvPicPr>
            <a:picLocks noChangeAspect="1"/>
          </p:cNvPicPr>
          <p:nvPr/>
        </p:nvPicPr>
        <p:blipFill>
          <a:blip r:embed="rId2"/>
          <a:stretch>
            <a:fillRect/>
          </a:stretch>
        </p:blipFill>
        <p:spPr>
          <a:xfrm>
            <a:off x="84666" y="881510"/>
            <a:ext cx="12014201" cy="5841023"/>
          </a:xfrm>
          <a:prstGeom prst="rect">
            <a:avLst/>
          </a:prstGeom>
        </p:spPr>
      </p:pic>
    </p:spTree>
    <p:extLst>
      <p:ext uri="{BB962C8B-B14F-4D97-AF65-F5344CB8AC3E}">
        <p14:creationId xmlns:p14="http://schemas.microsoft.com/office/powerpoint/2010/main" val="3167106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9A2B18-19DA-AFB5-8B51-70E8BB2DD1B2}"/>
              </a:ext>
            </a:extLst>
          </p:cNvPr>
          <p:cNvSpPr txBox="1"/>
          <p:nvPr/>
        </p:nvSpPr>
        <p:spPr>
          <a:xfrm>
            <a:off x="370936" y="400000"/>
            <a:ext cx="11507638" cy="477054"/>
          </a:xfrm>
          <a:prstGeom prst="rect">
            <a:avLst/>
          </a:prstGeom>
          <a:noFill/>
        </p:spPr>
        <p:txBody>
          <a:bodyPr wrap="square" rtlCol="0">
            <a:spAutoFit/>
          </a:bodyPr>
          <a:lstStyle/>
          <a:p>
            <a:pPr algn="ctr"/>
            <a:r>
              <a:rPr lang="en-IN" sz="2500" b="1" dirty="0">
                <a:latin typeface="Times New Roman" panose="02020603050405020304" pitchFamily="18" charset="0"/>
                <a:cs typeface="Times New Roman" panose="02020603050405020304" pitchFamily="18" charset="0"/>
              </a:rPr>
              <a:t>TABLEAU DASHBOARD OVERVIEW - 2</a:t>
            </a:r>
          </a:p>
        </p:txBody>
      </p:sp>
      <p:sp>
        <p:nvSpPr>
          <p:cNvPr id="6" name="Rectangle 5"/>
          <p:cNvSpPr/>
          <p:nvPr/>
        </p:nvSpPr>
        <p:spPr>
          <a:xfrm>
            <a:off x="0" y="0"/>
            <a:ext cx="12192000" cy="400000"/>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a:extLst>
              <a:ext uri="{FF2B5EF4-FFF2-40B4-BE49-F238E27FC236}">
                <a16:creationId xmlns:a16="http://schemas.microsoft.com/office/drawing/2014/main" id="{AD7532DB-56DA-3316-2CF1-60EF0D049F17}"/>
              </a:ext>
            </a:extLst>
          </p:cNvPr>
          <p:cNvPicPr>
            <a:picLocks noChangeAspect="1"/>
          </p:cNvPicPr>
          <p:nvPr/>
        </p:nvPicPr>
        <p:blipFill>
          <a:blip r:embed="rId2"/>
          <a:stretch>
            <a:fillRect/>
          </a:stretch>
        </p:blipFill>
        <p:spPr>
          <a:xfrm>
            <a:off x="110067" y="877055"/>
            <a:ext cx="11971866" cy="5879346"/>
          </a:xfrm>
          <a:prstGeom prst="rect">
            <a:avLst/>
          </a:prstGeom>
        </p:spPr>
      </p:pic>
    </p:spTree>
    <p:extLst>
      <p:ext uri="{BB962C8B-B14F-4D97-AF65-F5344CB8AC3E}">
        <p14:creationId xmlns:p14="http://schemas.microsoft.com/office/powerpoint/2010/main" val="1147166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E2BD2D-10F6-67D2-A3BA-30A98B4A4EE3}"/>
              </a:ext>
            </a:extLst>
          </p:cNvPr>
          <p:cNvSpPr txBox="1"/>
          <p:nvPr/>
        </p:nvSpPr>
        <p:spPr>
          <a:xfrm>
            <a:off x="0" y="-1"/>
            <a:ext cx="12192000" cy="656241"/>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b="1" dirty="0">
                <a:latin typeface="Times New Roman" panose="02020603050405020304" pitchFamily="18" charset="0"/>
                <a:cs typeface="Times New Roman" panose="02020603050405020304" pitchFamily="18" charset="0"/>
              </a:rPr>
              <a:t>SQL QUERIES</a:t>
            </a:r>
          </a:p>
        </p:txBody>
      </p:sp>
      <p:pic>
        <p:nvPicPr>
          <p:cNvPr id="9" name="Picture 8">
            <a:extLst>
              <a:ext uri="{FF2B5EF4-FFF2-40B4-BE49-F238E27FC236}">
                <a16:creationId xmlns:a16="http://schemas.microsoft.com/office/drawing/2014/main" id="{6BB52A06-2371-B6A2-4F85-34CBC1BBBCCB}"/>
              </a:ext>
            </a:extLst>
          </p:cNvPr>
          <p:cNvPicPr>
            <a:picLocks noChangeAspect="1"/>
          </p:cNvPicPr>
          <p:nvPr/>
        </p:nvPicPr>
        <p:blipFill>
          <a:blip r:embed="rId2"/>
          <a:stretch>
            <a:fillRect/>
          </a:stretch>
        </p:blipFill>
        <p:spPr>
          <a:xfrm>
            <a:off x="342181" y="751987"/>
            <a:ext cx="2663388" cy="1754458"/>
          </a:xfrm>
          <a:prstGeom prst="rect">
            <a:avLst/>
          </a:prstGeom>
        </p:spPr>
      </p:pic>
      <p:sp>
        <p:nvSpPr>
          <p:cNvPr id="10" name="TextBox 9">
            <a:extLst>
              <a:ext uri="{FF2B5EF4-FFF2-40B4-BE49-F238E27FC236}">
                <a16:creationId xmlns:a16="http://schemas.microsoft.com/office/drawing/2014/main" id="{B4283FC5-89DC-DA80-6EC3-855E003A768C}"/>
              </a:ext>
            </a:extLst>
          </p:cNvPr>
          <p:cNvSpPr txBox="1"/>
          <p:nvPr/>
        </p:nvSpPr>
        <p:spPr>
          <a:xfrm>
            <a:off x="3114135" y="1190445"/>
            <a:ext cx="3063849"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         -    Creating Database </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FAF7CDC-B04F-4C84-9943-8AB8CC7FF233}"/>
              </a:ext>
            </a:extLst>
          </p:cNvPr>
          <p:cNvSpPr txBox="1"/>
          <p:nvPr/>
        </p:nvSpPr>
        <p:spPr>
          <a:xfrm>
            <a:off x="2820838" y="1559777"/>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E784C84-4496-F5DE-729C-6C6B5CC0612E}"/>
              </a:ext>
            </a:extLst>
          </p:cNvPr>
          <p:cNvSpPr txBox="1"/>
          <p:nvPr/>
        </p:nvSpPr>
        <p:spPr>
          <a:xfrm>
            <a:off x="3517789" y="2758396"/>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2D3B1924-A4EF-7147-B8BE-0E43999DBE4F}"/>
              </a:ext>
            </a:extLst>
          </p:cNvPr>
          <p:cNvPicPr>
            <a:picLocks noChangeAspect="1"/>
          </p:cNvPicPr>
          <p:nvPr/>
        </p:nvPicPr>
        <p:blipFill>
          <a:blip r:embed="rId3"/>
          <a:stretch>
            <a:fillRect/>
          </a:stretch>
        </p:blipFill>
        <p:spPr>
          <a:xfrm>
            <a:off x="4197488" y="2673550"/>
            <a:ext cx="1923690" cy="582981"/>
          </a:xfrm>
          <a:prstGeom prst="rect">
            <a:avLst/>
          </a:prstGeom>
        </p:spPr>
      </p:pic>
      <p:sp>
        <p:nvSpPr>
          <p:cNvPr id="26" name="TextBox 25">
            <a:extLst>
              <a:ext uri="{FF2B5EF4-FFF2-40B4-BE49-F238E27FC236}">
                <a16:creationId xmlns:a16="http://schemas.microsoft.com/office/drawing/2014/main" id="{04603862-05DA-7C74-F4DF-A913DD48C554}"/>
              </a:ext>
            </a:extLst>
          </p:cNvPr>
          <p:cNvSpPr txBox="1"/>
          <p:nvPr/>
        </p:nvSpPr>
        <p:spPr>
          <a:xfrm>
            <a:off x="3517789" y="3879330"/>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1D10D5B3-BE1B-E916-1AFC-199AF0B11B7B}"/>
              </a:ext>
            </a:extLst>
          </p:cNvPr>
          <p:cNvPicPr>
            <a:picLocks noChangeAspect="1"/>
          </p:cNvPicPr>
          <p:nvPr/>
        </p:nvPicPr>
        <p:blipFill>
          <a:blip r:embed="rId4"/>
          <a:stretch>
            <a:fillRect/>
          </a:stretch>
        </p:blipFill>
        <p:spPr>
          <a:xfrm>
            <a:off x="4197487" y="3772506"/>
            <a:ext cx="1980499" cy="582980"/>
          </a:xfrm>
          <a:prstGeom prst="rect">
            <a:avLst/>
          </a:prstGeom>
        </p:spPr>
      </p:pic>
      <p:sp>
        <p:nvSpPr>
          <p:cNvPr id="33" name="TextBox 32">
            <a:extLst>
              <a:ext uri="{FF2B5EF4-FFF2-40B4-BE49-F238E27FC236}">
                <a16:creationId xmlns:a16="http://schemas.microsoft.com/office/drawing/2014/main" id="{10077929-6E1B-1018-6645-4512EB7FA11B}"/>
              </a:ext>
            </a:extLst>
          </p:cNvPr>
          <p:cNvSpPr txBox="1"/>
          <p:nvPr/>
        </p:nvSpPr>
        <p:spPr>
          <a:xfrm>
            <a:off x="3517789" y="5000264"/>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0147749A-E66A-01CB-895C-1412CC9B6B60}"/>
              </a:ext>
            </a:extLst>
          </p:cNvPr>
          <p:cNvPicPr>
            <a:picLocks noChangeAspect="1"/>
          </p:cNvPicPr>
          <p:nvPr/>
        </p:nvPicPr>
        <p:blipFill>
          <a:blip r:embed="rId5"/>
          <a:stretch>
            <a:fillRect/>
          </a:stretch>
        </p:blipFill>
        <p:spPr>
          <a:xfrm>
            <a:off x="4197488" y="4772925"/>
            <a:ext cx="1815123" cy="690113"/>
          </a:xfrm>
          <a:prstGeom prst="rect">
            <a:avLst/>
          </a:prstGeom>
        </p:spPr>
      </p:pic>
      <p:pic>
        <p:nvPicPr>
          <p:cNvPr id="37" name="Picture 36">
            <a:extLst>
              <a:ext uri="{FF2B5EF4-FFF2-40B4-BE49-F238E27FC236}">
                <a16:creationId xmlns:a16="http://schemas.microsoft.com/office/drawing/2014/main" id="{BA657131-FA80-712B-F05F-1F528DCE882B}"/>
              </a:ext>
            </a:extLst>
          </p:cNvPr>
          <p:cNvPicPr>
            <a:picLocks noChangeAspect="1"/>
          </p:cNvPicPr>
          <p:nvPr/>
        </p:nvPicPr>
        <p:blipFill>
          <a:blip r:embed="rId6"/>
          <a:stretch>
            <a:fillRect/>
          </a:stretch>
        </p:blipFill>
        <p:spPr>
          <a:xfrm>
            <a:off x="342181" y="2506445"/>
            <a:ext cx="3255034" cy="3599568"/>
          </a:xfrm>
          <a:prstGeom prst="rect">
            <a:avLst/>
          </a:prstGeom>
        </p:spPr>
      </p:pic>
      <p:pic>
        <p:nvPicPr>
          <p:cNvPr id="42" name="Picture 41">
            <a:extLst>
              <a:ext uri="{FF2B5EF4-FFF2-40B4-BE49-F238E27FC236}">
                <a16:creationId xmlns:a16="http://schemas.microsoft.com/office/drawing/2014/main" id="{1B8C670E-5BD4-CBAC-32DE-3FF0983EE759}"/>
              </a:ext>
            </a:extLst>
          </p:cNvPr>
          <p:cNvPicPr>
            <a:picLocks noChangeAspect="1"/>
          </p:cNvPicPr>
          <p:nvPr/>
        </p:nvPicPr>
        <p:blipFill>
          <a:blip r:embed="rId7"/>
          <a:stretch>
            <a:fillRect/>
          </a:stretch>
        </p:blipFill>
        <p:spPr>
          <a:xfrm>
            <a:off x="5859511" y="751987"/>
            <a:ext cx="3563005" cy="4915568"/>
          </a:xfrm>
          <a:prstGeom prst="rect">
            <a:avLst/>
          </a:prstGeom>
        </p:spPr>
      </p:pic>
      <p:cxnSp>
        <p:nvCxnSpPr>
          <p:cNvPr id="48" name="Straight Connector 47">
            <a:extLst>
              <a:ext uri="{FF2B5EF4-FFF2-40B4-BE49-F238E27FC236}">
                <a16:creationId xmlns:a16="http://schemas.microsoft.com/office/drawing/2014/main" id="{AAA66AAC-8B37-3E5A-5251-20520AE4FB9F}"/>
              </a:ext>
            </a:extLst>
          </p:cNvPr>
          <p:cNvCxnSpPr>
            <a:cxnSpLocks/>
          </p:cNvCxnSpPr>
          <p:nvPr/>
        </p:nvCxnSpPr>
        <p:spPr>
          <a:xfrm>
            <a:off x="5859511" y="646331"/>
            <a:ext cx="0" cy="6211669"/>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1E1E799-0F30-B680-C56D-47DCF4758921}"/>
              </a:ext>
            </a:extLst>
          </p:cNvPr>
          <p:cNvSpPr txBox="1"/>
          <p:nvPr/>
        </p:nvSpPr>
        <p:spPr>
          <a:xfrm>
            <a:off x="4514218" y="685099"/>
            <a:ext cx="887820" cy="369332"/>
          </a:xfrm>
          <a:prstGeom prst="rect">
            <a:avLst/>
          </a:prstGeom>
          <a:noFill/>
        </p:spPr>
        <p:txBody>
          <a:bodyPr wrap="square" rtlCol="0">
            <a:spAutoFit/>
          </a:bodyPr>
          <a:lstStyle/>
          <a:p>
            <a:pPr algn="ctr"/>
            <a:r>
              <a:rPr lang="en-US" dirty="0">
                <a:solidFill>
                  <a:srgbClr val="C7CEDB"/>
                </a:solidFill>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4F82903B-2E5C-5103-6E25-82A2C0561CEE}"/>
              </a:ext>
            </a:extLst>
          </p:cNvPr>
          <p:cNvSpPr txBox="1"/>
          <p:nvPr/>
        </p:nvSpPr>
        <p:spPr>
          <a:xfrm>
            <a:off x="9598297" y="1073680"/>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B9DEA700-AEB6-0442-2A88-9C8F81E600BA}"/>
              </a:ext>
            </a:extLst>
          </p:cNvPr>
          <p:cNvSpPr txBox="1"/>
          <p:nvPr/>
        </p:nvSpPr>
        <p:spPr>
          <a:xfrm>
            <a:off x="9595440" y="2321779"/>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42D183F-5C83-D51C-E693-A95A1CC2EE15}"/>
              </a:ext>
            </a:extLst>
          </p:cNvPr>
          <p:cNvSpPr txBox="1"/>
          <p:nvPr/>
        </p:nvSpPr>
        <p:spPr>
          <a:xfrm>
            <a:off x="9595429" y="3382833"/>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42AF2BF4-6FD6-7D74-4208-111DA67E2F11}"/>
              </a:ext>
            </a:extLst>
          </p:cNvPr>
          <p:cNvSpPr txBox="1"/>
          <p:nvPr/>
        </p:nvSpPr>
        <p:spPr>
          <a:xfrm>
            <a:off x="9656921" y="5000264"/>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64" name="Picture 63">
            <a:extLst>
              <a:ext uri="{FF2B5EF4-FFF2-40B4-BE49-F238E27FC236}">
                <a16:creationId xmlns:a16="http://schemas.microsoft.com/office/drawing/2014/main" id="{04456CCC-F25E-4424-8086-0A956276FE89}"/>
              </a:ext>
            </a:extLst>
          </p:cNvPr>
          <p:cNvPicPr>
            <a:picLocks noChangeAspect="1"/>
          </p:cNvPicPr>
          <p:nvPr/>
        </p:nvPicPr>
        <p:blipFill>
          <a:blip r:embed="rId8"/>
          <a:stretch>
            <a:fillRect/>
          </a:stretch>
        </p:blipFill>
        <p:spPr>
          <a:xfrm>
            <a:off x="9871473" y="1073680"/>
            <a:ext cx="1978345" cy="526412"/>
          </a:xfrm>
          <a:prstGeom prst="rect">
            <a:avLst/>
          </a:prstGeom>
        </p:spPr>
      </p:pic>
      <p:pic>
        <p:nvPicPr>
          <p:cNvPr id="66" name="Picture 65">
            <a:extLst>
              <a:ext uri="{FF2B5EF4-FFF2-40B4-BE49-F238E27FC236}">
                <a16:creationId xmlns:a16="http://schemas.microsoft.com/office/drawing/2014/main" id="{B16D6ED0-05AB-4EDE-ACF5-B8DB5E83FC94}"/>
              </a:ext>
            </a:extLst>
          </p:cNvPr>
          <p:cNvPicPr>
            <a:picLocks noChangeAspect="1"/>
          </p:cNvPicPr>
          <p:nvPr/>
        </p:nvPicPr>
        <p:blipFill>
          <a:blip r:embed="rId9"/>
          <a:stretch>
            <a:fillRect/>
          </a:stretch>
        </p:blipFill>
        <p:spPr>
          <a:xfrm>
            <a:off x="9879989" y="2291814"/>
            <a:ext cx="1969830" cy="572155"/>
          </a:xfrm>
          <a:prstGeom prst="rect">
            <a:avLst/>
          </a:prstGeom>
        </p:spPr>
      </p:pic>
      <p:pic>
        <p:nvPicPr>
          <p:cNvPr id="68" name="Picture 67">
            <a:extLst>
              <a:ext uri="{FF2B5EF4-FFF2-40B4-BE49-F238E27FC236}">
                <a16:creationId xmlns:a16="http://schemas.microsoft.com/office/drawing/2014/main" id="{EF6BC16F-E346-7B75-0061-83CFC3D1CE63}"/>
              </a:ext>
            </a:extLst>
          </p:cNvPr>
          <p:cNvPicPr>
            <a:picLocks noChangeAspect="1"/>
          </p:cNvPicPr>
          <p:nvPr/>
        </p:nvPicPr>
        <p:blipFill>
          <a:blip r:embed="rId10"/>
          <a:stretch>
            <a:fillRect/>
          </a:stretch>
        </p:blipFill>
        <p:spPr>
          <a:xfrm>
            <a:off x="9879989" y="3382833"/>
            <a:ext cx="1969830" cy="572155"/>
          </a:xfrm>
          <a:prstGeom prst="rect">
            <a:avLst/>
          </a:prstGeom>
        </p:spPr>
      </p:pic>
      <p:pic>
        <p:nvPicPr>
          <p:cNvPr id="70" name="Picture 69">
            <a:extLst>
              <a:ext uri="{FF2B5EF4-FFF2-40B4-BE49-F238E27FC236}">
                <a16:creationId xmlns:a16="http://schemas.microsoft.com/office/drawing/2014/main" id="{CF72191E-CFF2-C247-BC74-D6D0381BB2A1}"/>
              </a:ext>
            </a:extLst>
          </p:cNvPr>
          <p:cNvPicPr>
            <a:picLocks noChangeAspect="1"/>
          </p:cNvPicPr>
          <p:nvPr/>
        </p:nvPicPr>
        <p:blipFill>
          <a:blip r:embed="rId11"/>
          <a:stretch>
            <a:fillRect/>
          </a:stretch>
        </p:blipFill>
        <p:spPr>
          <a:xfrm>
            <a:off x="9879989" y="4478674"/>
            <a:ext cx="1969830" cy="984364"/>
          </a:xfrm>
          <a:prstGeom prst="rect">
            <a:avLst/>
          </a:prstGeom>
        </p:spPr>
      </p:pic>
      <p:pic>
        <p:nvPicPr>
          <p:cNvPr id="72" name="Picture 71">
            <a:extLst>
              <a:ext uri="{FF2B5EF4-FFF2-40B4-BE49-F238E27FC236}">
                <a16:creationId xmlns:a16="http://schemas.microsoft.com/office/drawing/2014/main" id="{F4CDBD82-0E2D-C890-E2BA-249EC422EBC6}"/>
              </a:ext>
            </a:extLst>
          </p:cNvPr>
          <p:cNvPicPr>
            <a:picLocks noChangeAspect="1"/>
          </p:cNvPicPr>
          <p:nvPr/>
        </p:nvPicPr>
        <p:blipFill>
          <a:blip r:embed="rId12"/>
          <a:stretch>
            <a:fillRect/>
          </a:stretch>
        </p:blipFill>
        <p:spPr>
          <a:xfrm>
            <a:off x="5940507" y="5671868"/>
            <a:ext cx="3174038" cy="1044030"/>
          </a:xfrm>
          <a:prstGeom prst="rect">
            <a:avLst/>
          </a:prstGeom>
        </p:spPr>
      </p:pic>
      <p:sp>
        <p:nvSpPr>
          <p:cNvPr id="74" name="TextBox 73">
            <a:extLst>
              <a:ext uri="{FF2B5EF4-FFF2-40B4-BE49-F238E27FC236}">
                <a16:creationId xmlns:a16="http://schemas.microsoft.com/office/drawing/2014/main" id="{CC0E5C70-7666-8834-EA4A-5E58BD25CA35}"/>
              </a:ext>
            </a:extLst>
          </p:cNvPr>
          <p:cNvSpPr txBox="1"/>
          <p:nvPr/>
        </p:nvSpPr>
        <p:spPr>
          <a:xfrm>
            <a:off x="9606855" y="6009217"/>
            <a:ext cx="276045" cy="369332"/>
          </a:xfrm>
          <a:prstGeom prst="rect">
            <a:avLst/>
          </a:prstGeom>
          <a:noFill/>
        </p:spPr>
        <p:txBody>
          <a:bodyPr wrap="square" rtlCol="0">
            <a:spAutoFit/>
          </a:bodyPr>
          <a:lstStyle/>
          <a:p>
            <a:r>
              <a:rPr lang="en-US" dirty="0">
                <a:solidFill>
                  <a:srgbClr val="C7CEDB"/>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76" name="Picture 75">
            <a:extLst>
              <a:ext uri="{FF2B5EF4-FFF2-40B4-BE49-F238E27FC236}">
                <a16:creationId xmlns:a16="http://schemas.microsoft.com/office/drawing/2014/main" id="{21C2A19D-F195-820F-99DF-47E900EB1BFE}"/>
              </a:ext>
            </a:extLst>
          </p:cNvPr>
          <p:cNvPicPr>
            <a:picLocks noChangeAspect="1"/>
          </p:cNvPicPr>
          <p:nvPr/>
        </p:nvPicPr>
        <p:blipFill>
          <a:blip r:embed="rId13"/>
          <a:stretch>
            <a:fillRect/>
          </a:stretch>
        </p:blipFill>
        <p:spPr>
          <a:xfrm>
            <a:off x="9882900" y="5823439"/>
            <a:ext cx="1966918" cy="555110"/>
          </a:xfrm>
          <a:prstGeom prst="rect">
            <a:avLst/>
          </a:prstGeom>
        </p:spPr>
      </p:pic>
    </p:spTree>
    <p:extLst>
      <p:ext uri="{BB962C8B-B14F-4D97-AF65-F5344CB8AC3E}">
        <p14:creationId xmlns:p14="http://schemas.microsoft.com/office/powerpoint/2010/main" val="719231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8350A5-19F8-4CE8-9CF8-525D2423F6F5}"/>
              </a:ext>
            </a:extLst>
          </p:cNvPr>
          <p:cNvPicPr>
            <a:picLocks noChangeAspect="1"/>
          </p:cNvPicPr>
          <p:nvPr/>
        </p:nvPicPr>
        <p:blipFill>
          <a:blip r:embed="rId2"/>
          <a:stretch>
            <a:fillRect/>
          </a:stretch>
        </p:blipFill>
        <p:spPr>
          <a:xfrm>
            <a:off x="342181" y="724619"/>
            <a:ext cx="5522910" cy="3562709"/>
          </a:xfrm>
          <a:prstGeom prst="rect">
            <a:avLst/>
          </a:prstGeom>
        </p:spPr>
      </p:pic>
      <p:pic>
        <p:nvPicPr>
          <p:cNvPr id="10" name="Picture 9">
            <a:extLst>
              <a:ext uri="{FF2B5EF4-FFF2-40B4-BE49-F238E27FC236}">
                <a16:creationId xmlns:a16="http://schemas.microsoft.com/office/drawing/2014/main" id="{C07A7C53-E13F-8790-E5FF-743276E5567A}"/>
              </a:ext>
            </a:extLst>
          </p:cNvPr>
          <p:cNvPicPr>
            <a:picLocks noChangeAspect="1"/>
          </p:cNvPicPr>
          <p:nvPr/>
        </p:nvPicPr>
        <p:blipFill>
          <a:blip r:embed="rId3"/>
          <a:stretch>
            <a:fillRect/>
          </a:stretch>
        </p:blipFill>
        <p:spPr>
          <a:xfrm>
            <a:off x="342181" y="4287328"/>
            <a:ext cx="5522910" cy="2552921"/>
          </a:xfrm>
          <a:prstGeom prst="rect">
            <a:avLst/>
          </a:prstGeom>
        </p:spPr>
      </p:pic>
      <p:sp>
        <p:nvSpPr>
          <p:cNvPr id="13" name="TextBox 12">
            <a:extLst>
              <a:ext uri="{FF2B5EF4-FFF2-40B4-BE49-F238E27FC236}">
                <a16:creationId xmlns:a16="http://schemas.microsoft.com/office/drawing/2014/main" id="{5FBFC2CC-7362-B756-C2F0-3D8B09F220D2}"/>
              </a:ext>
            </a:extLst>
          </p:cNvPr>
          <p:cNvSpPr txBox="1"/>
          <p:nvPr/>
        </p:nvSpPr>
        <p:spPr>
          <a:xfrm>
            <a:off x="6064371" y="4565599"/>
            <a:ext cx="181154" cy="369332"/>
          </a:xfrm>
          <a:prstGeom prst="rect">
            <a:avLst/>
          </a:prstGeom>
          <a:noFill/>
        </p:spPr>
        <p:txBody>
          <a:bodyPr wrap="square" rtlCol="0">
            <a:spAutoFit/>
          </a:bodyPr>
          <a:lstStyle/>
          <a:p>
            <a:r>
              <a:rPr lang="en-US" dirty="0">
                <a:solidFill>
                  <a:srgbClr val="C7CEDB"/>
                </a:solidFill>
              </a:rPr>
              <a:t>-</a:t>
            </a:r>
            <a:endParaRPr lang="en-IN" dirty="0"/>
          </a:p>
        </p:txBody>
      </p:sp>
      <p:sp>
        <p:nvSpPr>
          <p:cNvPr id="15" name="TextBox 14">
            <a:extLst>
              <a:ext uri="{FF2B5EF4-FFF2-40B4-BE49-F238E27FC236}">
                <a16:creationId xmlns:a16="http://schemas.microsoft.com/office/drawing/2014/main" id="{4423A8B1-5C9D-5AE9-9D73-2CDBBAB7EC38}"/>
              </a:ext>
            </a:extLst>
          </p:cNvPr>
          <p:cNvSpPr txBox="1"/>
          <p:nvPr/>
        </p:nvSpPr>
        <p:spPr>
          <a:xfrm>
            <a:off x="6051432" y="2208192"/>
            <a:ext cx="181154" cy="369332"/>
          </a:xfrm>
          <a:prstGeom prst="rect">
            <a:avLst/>
          </a:prstGeom>
          <a:noFill/>
        </p:spPr>
        <p:txBody>
          <a:bodyPr wrap="square" rtlCol="0">
            <a:spAutoFit/>
          </a:bodyPr>
          <a:lstStyle/>
          <a:p>
            <a:r>
              <a:rPr lang="en-US" dirty="0">
                <a:solidFill>
                  <a:srgbClr val="C7CEDB"/>
                </a:solidFill>
              </a:rPr>
              <a:t>-</a:t>
            </a:r>
            <a:endParaRPr lang="en-IN" dirty="0"/>
          </a:p>
        </p:txBody>
      </p:sp>
      <p:sp>
        <p:nvSpPr>
          <p:cNvPr id="17" name="TextBox 16">
            <a:extLst>
              <a:ext uri="{FF2B5EF4-FFF2-40B4-BE49-F238E27FC236}">
                <a16:creationId xmlns:a16="http://schemas.microsoft.com/office/drawing/2014/main" id="{3720A474-B092-4C8E-0803-D5C5AAD86B89}"/>
              </a:ext>
            </a:extLst>
          </p:cNvPr>
          <p:cNvSpPr txBox="1"/>
          <p:nvPr/>
        </p:nvSpPr>
        <p:spPr>
          <a:xfrm>
            <a:off x="6045680" y="3388743"/>
            <a:ext cx="181154" cy="369332"/>
          </a:xfrm>
          <a:prstGeom prst="rect">
            <a:avLst/>
          </a:prstGeom>
          <a:noFill/>
        </p:spPr>
        <p:txBody>
          <a:bodyPr wrap="square" rtlCol="0">
            <a:spAutoFit/>
          </a:bodyPr>
          <a:lstStyle/>
          <a:p>
            <a:r>
              <a:rPr lang="en-US" dirty="0">
                <a:solidFill>
                  <a:srgbClr val="C7CEDB"/>
                </a:solidFill>
              </a:rPr>
              <a:t>-</a:t>
            </a:r>
            <a:endParaRPr lang="en-IN" dirty="0"/>
          </a:p>
        </p:txBody>
      </p:sp>
      <p:sp>
        <p:nvSpPr>
          <p:cNvPr id="19" name="TextBox 18">
            <a:extLst>
              <a:ext uri="{FF2B5EF4-FFF2-40B4-BE49-F238E27FC236}">
                <a16:creationId xmlns:a16="http://schemas.microsoft.com/office/drawing/2014/main" id="{C626E6F3-1233-C661-FE4C-DD8A1765CB63}"/>
              </a:ext>
            </a:extLst>
          </p:cNvPr>
          <p:cNvSpPr txBox="1"/>
          <p:nvPr/>
        </p:nvSpPr>
        <p:spPr>
          <a:xfrm>
            <a:off x="6096000" y="5579323"/>
            <a:ext cx="181154" cy="369332"/>
          </a:xfrm>
          <a:prstGeom prst="rect">
            <a:avLst/>
          </a:prstGeom>
          <a:noFill/>
        </p:spPr>
        <p:txBody>
          <a:bodyPr wrap="square" rtlCol="0">
            <a:spAutoFit/>
          </a:bodyPr>
          <a:lstStyle/>
          <a:p>
            <a:r>
              <a:rPr lang="en-US" dirty="0">
                <a:solidFill>
                  <a:srgbClr val="C7CEDB"/>
                </a:solidFill>
              </a:rPr>
              <a:t>-</a:t>
            </a:r>
            <a:endParaRPr lang="en-IN" dirty="0"/>
          </a:p>
        </p:txBody>
      </p:sp>
      <p:sp>
        <p:nvSpPr>
          <p:cNvPr id="21" name="TextBox 20">
            <a:extLst>
              <a:ext uri="{FF2B5EF4-FFF2-40B4-BE49-F238E27FC236}">
                <a16:creationId xmlns:a16="http://schemas.microsoft.com/office/drawing/2014/main" id="{D3578BF5-F61D-23E6-DCE7-F7FF411BF755}"/>
              </a:ext>
            </a:extLst>
          </p:cNvPr>
          <p:cNvSpPr txBox="1"/>
          <p:nvPr/>
        </p:nvSpPr>
        <p:spPr>
          <a:xfrm>
            <a:off x="6133382" y="1054329"/>
            <a:ext cx="181154" cy="369332"/>
          </a:xfrm>
          <a:prstGeom prst="rect">
            <a:avLst/>
          </a:prstGeom>
          <a:noFill/>
        </p:spPr>
        <p:txBody>
          <a:bodyPr wrap="square" rtlCol="0">
            <a:spAutoFit/>
          </a:bodyPr>
          <a:lstStyle/>
          <a:p>
            <a:r>
              <a:rPr lang="en-US" dirty="0">
                <a:solidFill>
                  <a:srgbClr val="C7CEDB"/>
                </a:solidFill>
              </a:rPr>
              <a:t>-</a:t>
            </a:r>
            <a:endParaRPr lang="en-IN" dirty="0"/>
          </a:p>
        </p:txBody>
      </p:sp>
      <p:pic>
        <p:nvPicPr>
          <p:cNvPr id="23" name="Picture 22">
            <a:extLst>
              <a:ext uri="{FF2B5EF4-FFF2-40B4-BE49-F238E27FC236}">
                <a16:creationId xmlns:a16="http://schemas.microsoft.com/office/drawing/2014/main" id="{FD22A4C6-AC99-B666-43C8-82D0D57087A4}"/>
              </a:ext>
            </a:extLst>
          </p:cNvPr>
          <p:cNvPicPr>
            <a:picLocks noChangeAspect="1"/>
          </p:cNvPicPr>
          <p:nvPr/>
        </p:nvPicPr>
        <p:blipFill>
          <a:blip r:embed="rId4"/>
          <a:stretch>
            <a:fillRect/>
          </a:stretch>
        </p:blipFill>
        <p:spPr>
          <a:xfrm>
            <a:off x="6965040" y="932890"/>
            <a:ext cx="3299746" cy="680250"/>
          </a:xfrm>
          <a:prstGeom prst="rect">
            <a:avLst/>
          </a:prstGeom>
        </p:spPr>
      </p:pic>
      <p:pic>
        <p:nvPicPr>
          <p:cNvPr id="25" name="Picture 24">
            <a:extLst>
              <a:ext uri="{FF2B5EF4-FFF2-40B4-BE49-F238E27FC236}">
                <a16:creationId xmlns:a16="http://schemas.microsoft.com/office/drawing/2014/main" id="{2F194D7E-0647-DC2B-34D2-6B094EC97B79}"/>
              </a:ext>
            </a:extLst>
          </p:cNvPr>
          <p:cNvPicPr>
            <a:picLocks noChangeAspect="1"/>
          </p:cNvPicPr>
          <p:nvPr/>
        </p:nvPicPr>
        <p:blipFill>
          <a:blip r:embed="rId5"/>
          <a:stretch>
            <a:fillRect/>
          </a:stretch>
        </p:blipFill>
        <p:spPr>
          <a:xfrm>
            <a:off x="6965040" y="2002565"/>
            <a:ext cx="3299746" cy="680250"/>
          </a:xfrm>
          <a:prstGeom prst="rect">
            <a:avLst/>
          </a:prstGeom>
        </p:spPr>
      </p:pic>
      <p:pic>
        <p:nvPicPr>
          <p:cNvPr id="27" name="Picture 26">
            <a:extLst>
              <a:ext uri="{FF2B5EF4-FFF2-40B4-BE49-F238E27FC236}">
                <a16:creationId xmlns:a16="http://schemas.microsoft.com/office/drawing/2014/main" id="{12B3446F-35FF-4DD5-6423-4692D02F44DF}"/>
              </a:ext>
            </a:extLst>
          </p:cNvPr>
          <p:cNvPicPr>
            <a:picLocks noChangeAspect="1"/>
          </p:cNvPicPr>
          <p:nvPr/>
        </p:nvPicPr>
        <p:blipFill>
          <a:blip r:embed="rId6"/>
          <a:stretch>
            <a:fillRect/>
          </a:stretch>
        </p:blipFill>
        <p:spPr>
          <a:xfrm>
            <a:off x="6973454" y="3072240"/>
            <a:ext cx="3299746" cy="935624"/>
          </a:xfrm>
          <a:prstGeom prst="rect">
            <a:avLst/>
          </a:prstGeom>
        </p:spPr>
      </p:pic>
      <p:pic>
        <p:nvPicPr>
          <p:cNvPr id="29" name="Picture 28">
            <a:extLst>
              <a:ext uri="{FF2B5EF4-FFF2-40B4-BE49-F238E27FC236}">
                <a16:creationId xmlns:a16="http://schemas.microsoft.com/office/drawing/2014/main" id="{D9622F86-56A5-74BB-3A82-ED42195EF4DE}"/>
              </a:ext>
            </a:extLst>
          </p:cNvPr>
          <p:cNvPicPr>
            <a:picLocks noChangeAspect="1"/>
          </p:cNvPicPr>
          <p:nvPr/>
        </p:nvPicPr>
        <p:blipFill>
          <a:blip r:embed="rId7"/>
          <a:stretch>
            <a:fillRect/>
          </a:stretch>
        </p:blipFill>
        <p:spPr>
          <a:xfrm>
            <a:off x="6973454" y="4329358"/>
            <a:ext cx="3291332" cy="605573"/>
          </a:xfrm>
          <a:prstGeom prst="rect">
            <a:avLst/>
          </a:prstGeom>
        </p:spPr>
      </p:pic>
      <p:pic>
        <p:nvPicPr>
          <p:cNvPr id="31" name="Picture 30">
            <a:extLst>
              <a:ext uri="{FF2B5EF4-FFF2-40B4-BE49-F238E27FC236}">
                <a16:creationId xmlns:a16="http://schemas.microsoft.com/office/drawing/2014/main" id="{F574572C-9309-5958-F87B-B16FA519DFE4}"/>
              </a:ext>
            </a:extLst>
          </p:cNvPr>
          <p:cNvPicPr>
            <a:picLocks noChangeAspect="1"/>
          </p:cNvPicPr>
          <p:nvPr/>
        </p:nvPicPr>
        <p:blipFill>
          <a:blip r:embed="rId8"/>
          <a:stretch>
            <a:fillRect/>
          </a:stretch>
        </p:blipFill>
        <p:spPr>
          <a:xfrm>
            <a:off x="6973454" y="5461203"/>
            <a:ext cx="3291332" cy="605573"/>
          </a:xfrm>
          <a:prstGeom prst="rect">
            <a:avLst/>
          </a:prstGeom>
        </p:spPr>
      </p:pic>
      <p:sp>
        <p:nvSpPr>
          <p:cNvPr id="3" name="TextBox 2">
            <a:extLst>
              <a:ext uri="{FF2B5EF4-FFF2-40B4-BE49-F238E27FC236}">
                <a16:creationId xmlns:a16="http://schemas.microsoft.com/office/drawing/2014/main" id="{A8C71949-D484-07BA-4250-FBA5631C0CD7}"/>
              </a:ext>
            </a:extLst>
          </p:cNvPr>
          <p:cNvSpPr txBox="1"/>
          <p:nvPr/>
        </p:nvSpPr>
        <p:spPr>
          <a:xfrm>
            <a:off x="0" y="-1"/>
            <a:ext cx="12192000" cy="656241"/>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b="1" dirty="0">
                <a:solidFill>
                  <a:srgbClr val="C7CEDB"/>
                </a:solidFill>
                <a:latin typeface="Times New Roman" panose="02020603050405020304" pitchFamily="18" charset="0"/>
                <a:cs typeface="Times New Roman" panose="02020603050405020304" pitchFamily="18" charset="0"/>
              </a:rPr>
              <a:t>SQL QUERIES</a:t>
            </a:r>
          </a:p>
        </p:txBody>
      </p:sp>
    </p:spTree>
    <p:extLst>
      <p:ext uri="{BB962C8B-B14F-4D97-AF65-F5344CB8AC3E}">
        <p14:creationId xmlns:p14="http://schemas.microsoft.com/office/powerpoint/2010/main" val="2056993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9E6503-77EF-4B32-FB47-CD44A290D213}"/>
              </a:ext>
            </a:extLst>
          </p:cNvPr>
          <p:cNvPicPr>
            <a:picLocks noChangeAspect="1"/>
          </p:cNvPicPr>
          <p:nvPr/>
        </p:nvPicPr>
        <p:blipFill>
          <a:blip r:embed="rId2"/>
          <a:stretch>
            <a:fillRect/>
          </a:stretch>
        </p:blipFill>
        <p:spPr>
          <a:xfrm>
            <a:off x="379563" y="721267"/>
            <a:ext cx="6866626" cy="5576016"/>
          </a:xfrm>
          <a:prstGeom prst="rect">
            <a:avLst/>
          </a:prstGeom>
        </p:spPr>
      </p:pic>
      <p:sp>
        <p:nvSpPr>
          <p:cNvPr id="7" name="TextBox 6">
            <a:extLst>
              <a:ext uri="{FF2B5EF4-FFF2-40B4-BE49-F238E27FC236}">
                <a16:creationId xmlns:a16="http://schemas.microsoft.com/office/drawing/2014/main" id="{B11B52CE-FB1C-5F5B-B0D5-77E3A86939AC}"/>
              </a:ext>
            </a:extLst>
          </p:cNvPr>
          <p:cNvSpPr txBox="1"/>
          <p:nvPr/>
        </p:nvSpPr>
        <p:spPr>
          <a:xfrm>
            <a:off x="7293634" y="1145557"/>
            <a:ext cx="250166" cy="369332"/>
          </a:xfrm>
          <a:prstGeom prst="rect">
            <a:avLst/>
          </a:prstGeom>
          <a:noFill/>
        </p:spPr>
        <p:txBody>
          <a:bodyPr wrap="square" rtlCol="0">
            <a:spAutoFit/>
          </a:bodyPr>
          <a:lstStyle/>
          <a:p>
            <a:r>
              <a:rPr lang="en-US" dirty="0">
                <a:solidFill>
                  <a:srgbClr val="C7CEDB"/>
                </a:solidFill>
              </a:rPr>
              <a:t>-</a:t>
            </a:r>
            <a:endParaRPr lang="en-IN" dirty="0"/>
          </a:p>
        </p:txBody>
      </p:sp>
      <p:sp>
        <p:nvSpPr>
          <p:cNvPr id="9" name="TextBox 8">
            <a:extLst>
              <a:ext uri="{FF2B5EF4-FFF2-40B4-BE49-F238E27FC236}">
                <a16:creationId xmlns:a16="http://schemas.microsoft.com/office/drawing/2014/main" id="{7BD4E0CE-921F-EF73-2F60-F26F5D64014F}"/>
              </a:ext>
            </a:extLst>
          </p:cNvPr>
          <p:cNvSpPr txBox="1"/>
          <p:nvPr/>
        </p:nvSpPr>
        <p:spPr>
          <a:xfrm>
            <a:off x="7290759" y="2350698"/>
            <a:ext cx="250166" cy="369332"/>
          </a:xfrm>
          <a:prstGeom prst="rect">
            <a:avLst/>
          </a:prstGeom>
          <a:noFill/>
        </p:spPr>
        <p:txBody>
          <a:bodyPr wrap="square" rtlCol="0">
            <a:spAutoFit/>
          </a:bodyPr>
          <a:lstStyle/>
          <a:p>
            <a:r>
              <a:rPr lang="en-US" dirty="0">
                <a:solidFill>
                  <a:srgbClr val="C7CEDB"/>
                </a:solidFill>
              </a:rPr>
              <a:t>-</a:t>
            </a:r>
            <a:endParaRPr lang="en-IN" dirty="0"/>
          </a:p>
        </p:txBody>
      </p:sp>
      <p:sp>
        <p:nvSpPr>
          <p:cNvPr id="11" name="TextBox 10">
            <a:extLst>
              <a:ext uri="{FF2B5EF4-FFF2-40B4-BE49-F238E27FC236}">
                <a16:creationId xmlns:a16="http://schemas.microsoft.com/office/drawing/2014/main" id="{4D2C195E-B59D-8B6D-A3EE-05123011C1D3}"/>
              </a:ext>
            </a:extLst>
          </p:cNvPr>
          <p:cNvSpPr txBox="1"/>
          <p:nvPr/>
        </p:nvSpPr>
        <p:spPr>
          <a:xfrm>
            <a:off x="7293634" y="4122472"/>
            <a:ext cx="250166" cy="369332"/>
          </a:xfrm>
          <a:prstGeom prst="rect">
            <a:avLst/>
          </a:prstGeom>
          <a:noFill/>
        </p:spPr>
        <p:txBody>
          <a:bodyPr wrap="square" rtlCol="0">
            <a:spAutoFit/>
          </a:bodyPr>
          <a:lstStyle/>
          <a:p>
            <a:r>
              <a:rPr lang="en-US" dirty="0">
                <a:solidFill>
                  <a:srgbClr val="C7CEDB"/>
                </a:solidFill>
              </a:rPr>
              <a:t>-</a:t>
            </a:r>
            <a:endParaRPr lang="en-IN" dirty="0"/>
          </a:p>
        </p:txBody>
      </p:sp>
      <p:sp>
        <p:nvSpPr>
          <p:cNvPr id="13" name="TextBox 12">
            <a:extLst>
              <a:ext uri="{FF2B5EF4-FFF2-40B4-BE49-F238E27FC236}">
                <a16:creationId xmlns:a16="http://schemas.microsoft.com/office/drawing/2014/main" id="{5AC22171-52AE-398A-4B7C-17B556B0CB17}"/>
              </a:ext>
            </a:extLst>
          </p:cNvPr>
          <p:cNvSpPr txBox="1"/>
          <p:nvPr/>
        </p:nvSpPr>
        <p:spPr>
          <a:xfrm>
            <a:off x="7293634" y="5595032"/>
            <a:ext cx="250166" cy="369332"/>
          </a:xfrm>
          <a:prstGeom prst="rect">
            <a:avLst/>
          </a:prstGeom>
          <a:noFill/>
        </p:spPr>
        <p:txBody>
          <a:bodyPr wrap="square" rtlCol="0">
            <a:spAutoFit/>
          </a:bodyPr>
          <a:lstStyle/>
          <a:p>
            <a:r>
              <a:rPr lang="en-US" dirty="0">
                <a:solidFill>
                  <a:srgbClr val="C7CEDB"/>
                </a:solidFill>
              </a:rPr>
              <a:t>-</a:t>
            </a:r>
            <a:endParaRPr lang="en-IN" dirty="0"/>
          </a:p>
        </p:txBody>
      </p:sp>
      <p:pic>
        <p:nvPicPr>
          <p:cNvPr id="15" name="Picture 14">
            <a:extLst>
              <a:ext uri="{FF2B5EF4-FFF2-40B4-BE49-F238E27FC236}">
                <a16:creationId xmlns:a16="http://schemas.microsoft.com/office/drawing/2014/main" id="{9FB14352-7956-7456-9FC5-274F502D2F83}"/>
              </a:ext>
            </a:extLst>
          </p:cNvPr>
          <p:cNvPicPr>
            <a:picLocks noChangeAspect="1"/>
          </p:cNvPicPr>
          <p:nvPr/>
        </p:nvPicPr>
        <p:blipFill>
          <a:blip r:embed="rId3"/>
          <a:stretch>
            <a:fillRect/>
          </a:stretch>
        </p:blipFill>
        <p:spPr>
          <a:xfrm>
            <a:off x="7978278" y="1030877"/>
            <a:ext cx="2591025" cy="646330"/>
          </a:xfrm>
          <a:prstGeom prst="rect">
            <a:avLst/>
          </a:prstGeom>
        </p:spPr>
      </p:pic>
      <p:pic>
        <p:nvPicPr>
          <p:cNvPr id="17" name="Picture 16">
            <a:extLst>
              <a:ext uri="{FF2B5EF4-FFF2-40B4-BE49-F238E27FC236}">
                <a16:creationId xmlns:a16="http://schemas.microsoft.com/office/drawing/2014/main" id="{F4861183-902A-B130-0F61-5BA4F999B8BB}"/>
              </a:ext>
            </a:extLst>
          </p:cNvPr>
          <p:cNvPicPr>
            <a:picLocks noChangeAspect="1"/>
          </p:cNvPicPr>
          <p:nvPr/>
        </p:nvPicPr>
        <p:blipFill>
          <a:blip r:embed="rId4"/>
          <a:stretch>
            <a:fillRect/>
          </a:stretch>
        </p:blipFill>
        <p:spPr>
          <a:xfrm>
            <a:off x="7978277" y="2327242"/>
            <a:ext cx="2591025" cy="646330"/>
          </a:xfrm>
          <a:prstGeom prst="rect">
            <a:avLst/>
          </a:prstGeom>
        </p:spPr>
      </p:pic>
      <p:pic>
        <p:nvPicPr>
          <p:cNvPr id="19" name="Picture 18">
            <a:extLst>
              <a:ext uri="{FF2B5EF4-FFF2-40B4-BE49-F238E27FC236}">
                <a16:creationId xmlns:a16="http://schemas.microsoft.com/office/drawing/2014/main" id="{B6120429-F4C1-3C44-A28B-F597689F709D}"/>
              </a:ext>
            </a:extLst>
          </p:cNvPr>
          <p:cNvPicPr>
            <a:picLocks noChangeAspect="1"/>
          </p:cNvPicPr>
          <p:nvPr/>
        </p:nvPicPr>
        <p:blipFill>
          <a:blip r:embed="rId5"/>
          <a:stretch>
            <a:fillRect/>
          </a:stretch>
        </p:blipFill>
        <p:spPr>
          <a:xfrm>
            <a:off x="7978278" y="3884429"/>
            <a:ext cx="2591025" cy="770053"/>
          </a:xfrm>
          <a:prstGeom prst="rect">
            <a:avLst/>
          </a:prstGeom>
        </p:spPr>
      </p:pic>
      <p:pic>
        <p:nvPicPr>
          <p:cNvPr id="21" name="Picture 20">
            <a:extLst>
              <a:ext uri="{FF2B5EF4-FFF2-40B4-BE49-F238E27FC236}">
                <a16:creationId xmlns:a16="http://schemas.microsoft.com/office/drawing/2014/main" id="{0B25CB53-0F5C-66E5-ACDD-6B23C081D45E}"/>
              </a:ext>
            </a:extLst>
          </p:cNvPr>
          <p:cNvPicPr>
            <a:picLocks noChangeAspect="1"/>
          </p:cNvPicPr>
          <p:nvPr/>
        </p:nvPicPr>
        <p:blipFill>
          <a:blip r:embed="rId6"/>
          <a:stretch>
            <a:fillRect/>
          </a:stretch>
        </p:blipFill>
        <p:spPr>
          <a:xfrm>
            <a:off x="7978278" y="5302664"/>
            <a:ext cx="2591024" cy="1236159"/>
          </a:xfrm>
          <a:prstGeom prst="rect">
            <a:avLst/>
          </a:prstGeom>
        </p:spPr>
      </p:pic>
      <p:sp>
        <p:nvSpPr>
          <p:cNvPr id="3" name="TextBox 2">
            <a:extLst>
              <a:ext uri="{FF2B5EF4-FFF2-40B4-BE49-F238E27FC236}">
                <a16:creationId xmlns:a16="http://schemas.microsoft.com/office/drawing/2014/main" id="{61E55AD6-CD93-3F98-ADDE-7A425557DD32}"/>
              </a:ext>
            </a:extLst>
          </p:cNvPr>
          <p:cNvSpPr txBox="1"/>
          <p:nvPr/>
        </p:nvSpPr>
        <p:spPr>
          <a:xfrm>
            <a:off x="0" y="-1"/>
            <a:ext cx="12192000" cy="656241"/>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b="1" dirty="0">
                <a:solidFill>
                  <a:srgbClr val="C7CEDB"/>
                </a:solidFill>
                <a:latin typeface="Times New Roman" panose="02020603050405020304" pitchFamily="18" charset="0"/>
                <a:cs typeface="Times New Roman" panose="02020603050405020304" pitchFamily="18" charset="0"/>
              </a:rPr>
              <a:t>SQL QUERIES</a:t>
            </a:r>
          </a:p>
        </p:txBody>
      </p:sp>
    </p:spTree>
    <p:extLst>
      <p:ext uri="{BB962C8B-B14F-4D97-AF65-F5344CB8AC3E}">
        <p14:creationId xmlns:p14="http://schemas.microsoft.com/office/powerpoint/2010/main" val="1338343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005360-A144-7936-80F4-DD50FF2CDD02}"/>
              </a:ext>
            </a:extLst>
          </p:cNvPr>
          <p:cNvPicPr>
            <a:picLocks noChangeAspect="1"/>
          </p:cNvPicPr>
          <p:nvPr/>
        </p:nvPicPr>
        <p:blipFill>
          <a:blip r:embed="rId2"/>
          <a:stretch>
            <a:fillRect/>
          </a:stretch>
        </p:blipFill>
        <p:spPr>
          <a:xfrm>
            <a:off x="379564" y="566670"/>
            <a:ext cx="7289320" cy="2927028"/>
          </a:xfrm>
          <a:prstGeom prst="rect">
            <a:avLst/>
          </a:prstGeom>
        </p:spPr>
      </p:pic>
      <p:sp>
        <p:nvSpPr>
          <p:cNvPr id="11" name="TextBox 10">
            <a:extLst>
              <a:ext uri="{FF2B5EF4-FFF2-40B4-BE49-F238E27FC236}">
                <a16:creationId xmlns:a16="http://schemas.microsoft.com/office/drawing/2014/main" id="{B7186175-3DC2-A103-4662-3D754D6372A1}"/>
              </a:ext>
            </a:extLst>
          </p:cNvPr>
          <p:cNvSpPr txBox="1"/>
          <p:nvPr/>
        </p:nvSpPr>
        <p:spPr>
          <a:xfrm>
            <a:off x="7689012" y="765194"/>
            <a:ext cx="69011" cy="369332"/>
          </a:xfrm>
          <a:prstGeom prst="rect">
            <a:avLst/>
          </a:prstGeom>
          <a:noFill/>
        </p:spPr>
        <p:txBody>
          <a:bodyPr wrap="square" rtlCol="0">
            <a:spAutoFit/>
          </a:bodyPr>
          <a:lstStyle/>
          <a:p>
            <a:r>
              <a:rPr lang="en-US" dirty="0">
                <a:solidFill>
                  <a:srgbClr val="C7CEDB"/>
                </a:solidFill>
              </a:rPr>
              <a:t>-</a:t>
            </a:r>
            <a:endParaRPr lang="en-IN" dirty="0"/>
          </a:p>
        </p:txBody>
      </p:sp>
      <p:sp>
        <p:nvSpPr>
          <p:cNvPr id="15" name="TextBox 14">
            <a:extLst>
              <a:ext uri="{FF2B5EF4-FFF2-40B4-BE49-F238E27FC236}">
                <a16:creationId xmlns:a16="http://schemas.microsoft.com/office/drawing/2014/main" id="{FEBDB4FF-56D9-6820-8B70-EBB279A89ED3}"/>
              </a:ext>
            </a:extLst>
          </p:cNvPr>
          <p:cNvSpPr txBox="1"/>
          <p:nvPr/>
        </p:nvSpPr>
        <p:spPr>
          <a:xfrm>
            <a:off x="7709139" y="2487917"/>
            <a:ext cx="69011" cy="369332"/>
          </a:xfrm>
          <a:prstGeom prst="rect">
            <a:avLst/>
          </a:prstGeom>
          <a:noFill/>
        </p:spPr>
        <p:txBody>
          <a:bodyPr wrap="square" rtlCol="0">
            <a:spAutoFit/>
          </a:bodyPr>
          <a:lstStyle/>
          <a:p>
            <a:r>
              <a:rPr lang="en-US" dirty="0">
                <a:solidFill>
                  <a:srgbClr val="C7CEDB"/>
                </a:solidFill>
              </a:rPr>
              <a:t>-</a:t>
            </a:r>
            <a:endParaRPr lang="en-IN" dirty="0"/>
          </a:p>
        </p:txBody>
      </p:sp>
      <p:sp>
        <p:nvSpPr>
          <p:cNvPr id="17" name="TextBox 16">
            <a:extLst>
              <a:ext uri="{FF2B5EF4-FFF2-40B4-BE49-F238E27FC236}">
                <a16:creationId xmlns:a16="http://schemas.microsoft.com/office/drawing/2014/main" id="{C2620FE1-2775-A5DA-3BB8-B11A22E81B94}"/>
              </a:ext>
            </a:extLst>
          </p:cNvPr>
          <p:cNvSpPr txBox="1"/>
          <p:nvPr/>
        </p:nvSpPr>
        <p:spPr>
          <a:xfrm>
            <a:off x="7703388" y="3821501"/>
            <a:ext cx="69011" cy="369332"/>
          </a:xfrm>
          <a:prstGeom prst="rect">
            <a:avLst/>
          </a:prstGeom>
          <a:noFill/>
        </p:spPr>
        <p:txBody>
          <a:bodyPr wrap="square" rtlCol="0">
            <a:spAutoFit/>
          </a:bodyPr>
          <a:lstStyle/>
          <a:p>
            <a:r>
              <a:rPr lang="en-US" dirty="0">
                <a:solidFill>
                  <a:srgbClr val="C7CEDB"/>
                </a:solidFill>
              </a:rPr>
              <a:t>-</a:t>
            </a:r>
            <a:endParaRPr lang="en-IN" dirty="0"/>
          </a:p>
        </p:txBody>
      </p:sp>
      <p:sp>
        <p:nvSpPr>
          <p:cNvPr id="19" name="TextBox 18">
            <a:extLst>
              <a:ext uri="{FF2B5EF4-FFF2-40B4-BE49-F238E27FC236}">
                <a16:creationId xmlns:a16="http://schemas.microsoft.com/office/drawing/2014/main" id="{4B69D37C-2847-9CAA-7764-50345168C006}"/>
              </a:ext>
            </a:extLst>
          </p:cNvPr>
          <p:cNvSpPr txBox="1"/>
          <p:nvPr/>
        </p:nvSpPr>
        <p:spPr>
          <a:xfrm>
            <a:off x="7634377" y="5339751"/>
            <a:ext cx="69011" cy="369332"/>
          </a:xfrm>
          <a:prstGeom prst="rect">
            <a:avLst/>
          </a:prstGeom>
          <a:noFill/>
        </p:spPr>
        <p:txBody>
          <a:bodyPr wrap="square" rtlCol="0">
            <a:spAutoFit/>
          </a:bodyPr>
          <a:lstStyle/>
          <a:p>
            <a:r>
              <a:rPr lang="en-US" dirty="0">
                <a:solidFill>
                  <a:srgbClr val="C7CEDB"/>
                </a:solidFill>
              </a:rPr>
              <a:t>-</a:t>
            </a:r>
            <a:endParaRPr lang="en-IN" dirty="0"/>
          </a:p>
        </p:txBody>
      </p:sp>
      <p:pic>
        <p:nvPicPr>
          <p:cNvPr id="21" name="Picture 20">
            <a:extLst>
              <a:ext uri="{FF2B5EF4-FFF2-40B4-BE49-F238E27FC236}">
                <a16:creationId xmlns:a16="http://schemas.microsoft.com/office/drawing/2014/main" id="{EF0C1470-9C24-7A3B-4B22-A2579BCE9191}"/>
              </a:ext>
            </a:extLst>
          </p:cNvPr>
          <p:cNvPicPr>
            <a:picLocks noChangeAspect="1"/>
          </p:cNvPicPr>
          <p:nvPr/>
        </p:nvPicPr>
        <p:blipFill>
          <a:blip r:embed="rId3"/>
          <a:stretch>
            <a:fillRect/>
          </a:stretch>
        </p:blipFill>
        <p:spPr>
          <a:xfrm>
            <a:off x="8134771" y="738252"/>
            <a:ext cx="2320443" cy="590216"/>
          </a:xfrm>
          <a:prstGeom prst="rect">
            <a:avLst/>
          </a:prstGeom>
        </p:spPr>
      </p:pic>
      <p:pic>
        <p:nvPicPr>
          <p:cNvPr id="23" name="Picture 22">
            <a:extLst>
              <a:ext uri="{FF2B5EF4-FFF2-40B4-BE49-F238E27FC236}">
                <a16:creationId xmlns:a16="http://schemas.microsoft.com/office/drawing/2014/main" id="{0FE312FA-7593-35CB-00C0-005C61572A4F}"/>
              </a:ext>
            </a:extLst>
          </p:cNvPr>
          <p:cNvPicPr>
            <a:picLocks noChangeAspect="1"/>
          </p:cNvPicPr>
          <p:nvPr/>
        </p:nvPicPr>
        <p:blipFill>
          <a:blip r:embed="rId4"/>
          <a:stretch>
            <a:fillRect/>
          </a:stretch>
        </p:blipFill>
        <p:spPr>
          <a:xfrm>
            <a:off x="8134771" y="1518249"/>
            <a:ext cx="3482642" cy="2128995"/>
          </a:xfrm>
          <a:prstGeom prst="rect">
            <a:avLst/>
          </a:prstGeom>
        </p:spPr>
      </p:pic>
      <p:pic>
        <p:nvPicPr>
          <p:cNvPr id="27" name="Picture 26">
            <a:extLst>
              <a:ext uri="{FF2B5EF4-FFF2-40B4-BE49-F238E27FC236}">
                <a16:creationId xmlns:a16="http://schemas.microsoft.com/office/drawing/2014/main" id="{53F70A2A-2962-5CA2-9BB3-E594C660CBA2}"/>
              </a:ext>
            </a:extLst>
          </p:cNvPr>
          <p:cNvPicPr>
            <a:picLocks noChangeAspect="1"/>
          </p:cNvPicPr>
          <p:nvPr/>
        </p:nvPicPr>
        <p:blipFill>
          <a:blip r:embed="rId5"/>
          <a:stretch>
            <a:fillRect/>
          </a:stretch>
        </p:blipFill>
        <p:spPr>
          <a:xfrm>
            <a:off x="379564" y="3583314"/>
            <a:ext cx="7289320" cy="3131522"/>
          </a:xfrm>
          <a:prstGeom prst="rect">
            <a:avLst/>
          </a:prstGeom>
        </p:spPr>
      </p:pic>
      <p:pic>
        <p:nvPicPr>
          <p:cNvPr id="29" name="Picture 28">
            <a:extLst>
              <a:ext uri="{FF2B5EF4-FFF2-40B4-BE49-F238E27FC236}">
                <a16:creationId xmlns:a16="http://schemas.microsoft.com/office/drawing/2014/main" id="{D7E57F69-E120-52E3-2F19-D8D775FBBF00}"/>
              </a:ext>
            </a:extLst>
          </p:cNvPr>
          <p:cNvPicPr>
            <a:picLocks noChangeAspect="1"/>
          </p:cNvPicPr>
          <p:nvPr/>
        </p:nvPicPr>
        <p:blipFill>
          <a:blip r:embed="rId6"/>
          <a:stretch>
            <a:fillRect/>
          </a:stretch>
        </p:blipFill>
        <p:spPr>
          <a:xfrm>
            <a:off x="8134771" y="3837026"/>
            <a:ext cx="2320443" cy="485592"/>
          </a:xfrm>
          <a:prstGeom prst="rect">
            <a:avLst/>
          </a:prstGeom>
        </p:spPr>
      </p:pic>
      <p:pic>
        <p:nvPicPr>
          <p:cNvPr id="31" name="Picture 30">
            <a:extLst>
              <a:ext uri="{FF2B5EF4-FFF2-40B4-BE49-F238E27FC236}">
                <a16:creationId xmlns:a16="http://schemas.microsoft.com/office/drawing/2014/main" id="{0FC43BE8-AD43-F708-6E67-44C32CAC6166}"/>
              </a:ext>
            </a:extLst>
          </p:cNvPr>
          <p:cNvPicPr>
            <a:picLocks noChangeAspect="1"/>
          </p:cNvPicPr>
          <p:nvPr/>
        </p:nvPicPr>
        <p:blipFill>
          <a:blip r:embed="rId7"/>
          <a:stretch>
            <a:fillRect/>
          </a:stretch>
        </p:blipFill>
        <p:spPr>
          <a:xfrm>
            <a:off x="8217457" y="4435582"/>
            <a:ext cx="3399956" cy="2422418"/>
          </a:xfrm>
          <a:prstGeom prst="rect">
            <a:avLst/>
          </a:prstGeom>
        </p:spPr>
      </p:pic>
      <p:sp>
        <p:nvSpPr>
          <p:cNvPr id="3" name="TextBox 2">
            <a:extLst>
              <a:ext uri="{FF2B5EF4-FFF2-40B4-BE49-F238E27FC236}">
                <a16:creationId xmlns:a16="http://schemas.microsoft.com/office/drawing/2014/main" id="{29C7A902-6EFA-A5A9-8B6D-BFDC3C44EBAF}"/>
              </a:ext>
            </a:extLst>
          </p:cNvPr>
          <p:cNvSpPr txBox="1"/>
          <p:nvPr/>
        </p:nvSpPr>
        <p:spPr>
          <a:xfrm>
            <a:off x="0" y="-1"/>
            <a:ext cx="12192000" cy="548471"/>
          </a:xfrm>
          <a:prstGeom prst="rect">
            <a:avLst/>
          </a:prstGeom>
          <a:solidFill>
            <a:srgbClr val="0E3C7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b="1" dirty="0">
                <a:solidFill>
                  <a:srgbClr val="C7CEDB"/>
                </a:solidFill>
                <a:latin typeface="Times New Roman" panose="02020603050405020304" pitchFamily="18" charset="0"/>
                <a:cs typeface="Times New Roman" panose="02020603050405020304" pitchFamily="18" charset="0"/>
              </a:rPr>
              <a:t>SQL QUERIES</a:t>
            </a:r>
          </a:p>
        </p:txBody>
      </p:sp>
    </p:spTree>
    <p:extLst>
      <p:ext uri="{BB962C8B-B14F-4D97-AF65-F5344CB8AC3E}">
        <p14:creationId xmlns:p14="http://schemas.microsoft.com/office/powerpoint/2010/main" val="1388513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0F771-7C79-65D9-9AF4-E0748F993010}"/>
              </a:ext>
            </a:extLst>
          </p:cNvPr>
          <p:cNvPicPr>
            <a:picLocks noChangeAspect="1"/>
          </p:cNvPicPr>
          <p:nvPr/>
        </p:nvPicPr>
        <p:blipFill>
          <a:blip r:embed="rId2"/>
          <a:stretch>
            <a:fillRect/>
          </a:stretch>
        </p:blipFill>
        <p:spPr>
          <a:xfrm>
            <a:off x="170800" y="512540"/>
            <a:ext cx="2368689" cy="1464042"/>
          </a:xfrm>
          <a:prstGeom prst="rect">
            <a:avLst/>
          </a:prstGeom>
        </p:spPr>
      </p:pic>
      <p:pic>
        <p:nvPicPr>
          <p:cNvPr id="7" name="Picture 6">
            <a:extLst>
              <a:ext uri="{FF2B5EF4-FFF2-40B4-BE49-F238E27FC236}">
                <a16:creationId xmlns:a16="http://schemas.microsoft.com/office/drawing/2014/main" id="{CF8E3926-4207-C330-E8AC-08A7E9B262FF}"/>
              </a:ext>
            </a:extLst>
          </p:cNvPr>
          <p:cNvPicPr>
            <a:picLocks noChangeAspect="1"/>
          </p:cNvPicPr>
          <p:nvPr/>
        </p:nvPicPr>
        <p:blipFill>
          <a:blip r:embed="rId3"/>
          <a:stretch>
            <a:fillRect/>
          </a:stretch>
        </p:blipFill>
        <p:spPr>
          <a:xfrm>
            <a:off x="170801" y="2089122"/>
            <a:ext cx="2368046" cy="1464043"/>
          </a:xfrm>
          <a:prstGeom prst="rect">
            <a:avLst/>
          </a:prstGeom>
        </p:spPr>
      </p:pic>
      <p:pic>
        <p:nvPicPr>
          <p:cNvPr id="9" name="Picture 8">
            <a:extLst>
              <a:ext uri="{FF2B5EF4-FFF2-40B4-BE49-F238E27FC236}">
                <a16:creationId xmlns:a16="http://schemas.microsoft.com/office/drawing/2014/main" id="{238087F7-76E0-3CB5-BF4C-9A9F74372855}"/>
              </a:ext>
            </a:extLst>
          </p:cNvPr>
          <p:cNvPicPr>
            <a:picLocks noChangeAspect="1"/>
          </p:cNvPicPr>
          <p:nvPr/>
        </p:nvPicPr>
        <p:blipFill>
          <a:blip r:embed="rId4"/>
          <a:stretch>
            <a:fillRect/>
          </a:stretch>
        </p:blipFill>
        <p:spPr>
          <a:xfrm>
            <a:off x="170801" y="3665705"/>
            <a:ext cx="2381275" cy="1464043"/>
          </a:xfrm>
          <a:prstGeom prst="rect">
            <a:avLst/>
          </a:prstGeom>
        </p:spPr>
      </p:pic>
      <p:pic>
        <p:nvPicPr>
          <p:cNvPr id="11" name="Picture 10">
            <a:extLst>
              <a:ext uri="{FF2B5EF4-FFF2-40B4-BE49-F238E27FC236}">
                <a16:creationId xmlns:a16="http://schemas.microsoft.com/office/drawing/2014/main" id="{664830B9-F22C-D1A0-143C-213DD5FDFBC6}"/>
              </a:ext>
            </a:extLst>
          </p:cNvPr>
          <p:cNvPicPr>
            <a:picLocks noChangeAspect="1"/>
          </p:cNvPicPr>
          <p:nvPr/>
        </p:nvPicPr>
        <p:blipFill>
          <a:blip r:embed="rId5"/>
          <a:stretch>
            <a:fillRect/>
          </a:stretch>
        </p:blipFill>
        <p:spPr>
          <a:xfrm>
            <a:off x="176798" y="5242288"/>
            <a:ext cx="2375278" cy="1472938"/>
          </a:xfrm>
          <a:prstGeom prst="rect">
            <a:avLst/>
          </a:prstGeom>
        </p:spPr>
      </p:pic>
      <p:sp>
        <p:nvSpPr>
          <p:cNvPr id="12" name="TextBox 11">
            <a:extLst>
              <a:ext uri="{FF2B5EF4-FFF2-40B4-BE49-F238E27FC236}">
                <a16:creationId xmlns:a16="http://schemas.microsoft.com/office/drawing/2014/main" id="{8DAFE04D-9B4C-B897-365C-728C7F62B7B0}"/>
              </a:ext>
            </a:extLst>
          </p:cNvPr>
          <p:cNvSpPr txBox="1"/>
          <p:nvPr/>
        </p:nvSpPr>
        <p:spPr>
          <a:xfrm>
            <a:off x="2770909" y="512540"/>
            <a:ext cx="9015707" cy="6186309"/>
          </a:xfrm>
          <a:prstGeom prst="rect">
            <a:avLst/>
          </a:prstGeom>
          <a:noFill/>
        </p:spPr>
        <p:txBody>
          <a:bodyPr wrap="square" rtlCol="0">
            <a:spAutoFit/>
          </a:bodyPr>
          <a:lstStyle/>
          <a:p>
            <a:pPr lvl="0"/>
            <a:r>
              <a:rPr lang="en-IN" b="1" dirty="0">
                <a:solidFill>
                  <a:srgbClr val="E9B44C"/>
                </a:solidFill>
                <a:latin typeface="Times New Roman" panose="02020603050405020304" pitchFamily="18" charset="0"/>
                <a:cs typeface="Times New Roman" panose="02020603050405020304" pitchFamily="18" charset="0"/>
              </a:rPr>
              <a:t>🏥 Health Insurance</a:t>
            </a:r>
            <a:r>
              <a:rPr lang="en-IN" dirty="0">
                <a:solidFill>
                  <a:srgbClr val="C7CEDB"/>
                </a:solidFill>
                <a:latin typeface="Times New Roman" panose="02020603050405020304" pitchFamily="18" charset="0"/>
                <a:cs typeface="Times New Roman" panose="02020603050405020304" pitchFamily="18" charset="0"/>
              </a:rPr>
              <a:t> ⭐ ⭐ </a:t>
            </a:r>
            <a:r>
              <a:rPr lang="en-IN" i="1" dirty="0">
                <a:solidFill>
                  <a:srgbClr val="C7CEDB"/>
                </a:solidFill>
                <a:latin typeface="Times New Roman" panose="02020603050405020304" pitchFamily="18" charset="0"/>
                <a:cs typeface="Times New Roman" panose="02020603050405020304" pitchFamily="18" charset="0"/>
              </a:rPr>
              <a:t>(Most important for individuals)</a:t>
            </a:r>
            <a:r>
              <a:rPr lang="en-IN" dirty="0">
                <a:solidFill>
                  <a:srgbClr val="C7CEDB"/>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Medical treatment can be very expensive.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It protects your savings during emergencies.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Everyone has a chance of facing health issues, regardless of age. </a:t>
            </a: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a:p>
            <a:pPr lvl="0"/>
            <a:r>
              <a:rPr lang="en-IN" b="1" dirty="0">
                <a:solidFill>
                  <a:srgbClr val="E9B44C"/>
                </a:solidFill>
                <a:latin typeface="Times New Roman" panose="02020603050405020304" pitchFamily="18" charset="0"/>
                <a:cs typeface="Times New Roman" panose="02020603050405020304" pitchFamily="18" charset="0"/>
              </a:rPr>
              <a:t>👨‍👩‍👧 Life Insurance</a:t>
            </a:r>
            <a:r>
              <a:rPr lang="en-IN" dirty="0">
                <a:solidFill>
                  <a:srgbClr val="C7CEDB"/>
                </a:solidFill>
                <a:latin typeface="Times New Roman" panose="02020603050405020304" pitchFamily="18" charset="0"/>
                <a:cs typeface="Times New Roman" panose="02020603050405020304" pitchFamily="18" charset="0"/>
              </a:rPr>
              <a:t> ⭐ </a:t>
            </a:r>
            <a:r>
              <a:rPr lang="en-IN" i="1" dirty="0">
                <a:solidFill>
                  <a:srgbClr val="C7CEDB"/>
                </a:solidFill>
                <a:latin typeface="Times New Roman" panose="02020603050405020304" pitchFamily="18" charset="0"/>
                <a:cs typeface="Times New Roman" panose="02020603050405020304" pitchFamily="18" charset="0"/>
              </a:rPr>
              <a:t>(Important when there is a dependent)</a:t>
            </a:r>
            <a:r>
              <a:rPr lang="en-IN" dirty="0">
                <a:solidFill>
                  <a:srgbClr val="C7CEDB"/>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Essential if you have family members who depend on your income.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Provides financial support to your loved ones if something happens to you. </a:t>
            </a: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a:p>
            <a:pPr lvl="0"/>
            <a:r>
              <a:rPr lang="en-IN" b="1" dirty="0">
                <a:solidFill>
                  <a:srgbClr val="E9B44C"/>
                </a:solidFill>
                <a:latin typeface="Times New Roman" panose="02020603050405020304" pitchFamily="18" charset="0"/>
                <a:cs typeface="Times New Roman" panose="02020603050405020304" pitchFamily="18" charset="0"/>
              </a:rPr>
              <a:t>🚗 Auto Insurance</a:t>
            </a:r>
            <a:r>
              <a:rPr lang="en-IN" dirty="0">
                <a:solidFill>
                  <a:srgbClr val="C7CEDB"/>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Important if you own or drive a vehicle.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Covers accident-related expenses, theft, and third-party liability.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In many countries, including India, third-party motor insurance is legally required.</a:t>
            </a:r>
          </a:p>
          <a:p>
            <a:pPr lvl="1"/>
            <a:endParaRPr lang="en-IN" dirty="0">
              <a:latin typeface="Times New Roman" panose="02020603050405020304" pitchFamily="18" charset="0"/>
              <a:cs typeface="Times New Roman" panose="02020603050405020304" pitchFamily="18" charset="0"/>
            </a:endParaRPr>
          </a:p>
          <a:p>
            <a:pPr lvl="1"/>
            <a:r>
              <a:rPr lang="en-IN" dirty="0">
                <a:solidFill>
                  <a:srgbClr val="C7CEDB"/>
                </a:solidFill>
                <a:latin typeface="Times New Roman" panose="02020603050405020304" pitchFamily="18" charset="0"/>
                <a:cs typeface="Times New Roman" panose="02020603050405020304" pitchFamily="18" charset="0"/>
              </a:rPr>
              <a:t> </a:t>
            </a:r>
          </a:p>
          <a:p>
            <a:pPr lvl="0"/>
            <a:r>
              <a:rPr lang="en-IN" b="1" dirty="0">
                <a:solidFill>
                  <a:srgbClr val="E9B44C"/>
                </a:solidFill>
                <a:latin typeface="Times New Roman" panose="02020603050405020304" pitchFamily="18" charset="0"/>
                <a:cs typeface="Times New Roman" panose="02020603050405020304" pitchFamily="18" charset="0"/>
              </a:rPr>
              <a:t>🏠 Property Insurance</a:t>
            </a:r>
            <a:r>
              <a:rPr lang="en-IN" dirty="0">
                <a:solidFill>
                  <a:srgbClr val="C7CEDB"/>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Important for homeowners and businesses. </a:t>
            </a:r>
          </a:p>
          <a:p>
            <a:pPr marL="742950" lvl="1" indent="-285750">
              <a:buFont typeface="Arial" panose="020B0604020202020204" pitchFamily="34" charset="0"/>
              <a:buChar char="•"/>
            </a:pPr>
            <a:r>
              <a:rPr lang="en-IN" dirty="0">
                <a:solidFill>
                  <a:srgbClr val="C7CEDB"/>
                </a:solidFill>
                <a:latin typeface="Times New Roman" panose="02020603050405020304" pitchFamily="18" charset="0"/>
                <a:cs typeface="Times New Roman" panose="02020603050405020304" pitchFamily="18" charset="0"/>
              </a:rPr>
              <a:t>Protects valuable property against fire, theft, floods, and other disasters.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41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1A37-22C4-F3E1-217A-07A39ADCBFF0}"/>
              </a:ext>
            </a:extLst>
          </p:cNvPr>
          <p:cNvSpPr>
            <a:spLocks noGrp="1"/>
          </p:cNvSpPr>
          <p:nvPr>
            <p:ph type="title"/>
          </p:nvPr>
        </p:nvSpPr>
        <p:spPr>
          <a:xfrm>
            <a:off x="839788" y="100537"/>
            <a:ext cx="10515600" cy="529177"/>
          </a:xfrm>
          <a:ln>
            <a:solidFill>
              <a:schemeClr val="bg2">
                <a:lumMod val="10000"/>
              </a:schemeClr>
            </a:solidFill>
          </a:ln>
        </p:spPr>
        <p:txBody>
          <a:bodyPr>
            <a:normAutofit/>
          </a:bodyPr>
          <a:lstStyle/>
          <a:p>
            <a:pPr algn="ctr"/>
            <a:r>
              <a:rPr lang="en-IN" sz="3000" b="1" dirty="0">
                <a:solidFill>
                  <a:schemeClr val="bg1"/>
                </a:solidFill>
                <a:latin typeface="Times New Roman" panose="02020603050405020304" pitchFamily="18" charset="0"/>
                <a:cs typeface="Times New Roman" panose="02020603050405020304" pitchFamily="18" charset="0"/>
              </a:rPr>
              <a:t>Recommendations &amp; Future Scope</a:t>
            </a:r>
          </a:p>
        </p:txBody>
      </p:sp>
      <p:sp>
        <p:nvSpPr>
          <p:cNvPr id="3" name="Text Placeholder 2">
            <a:extLst>
              <a:ext uri="{FF2B5EF4-FFF2-40B4-BE49-F238E27FC236}">
                <a16:creationId xmlns:a16="http://schemas.microsoft.com/office/drawing/2014/main" id="{F2E47C81-FB79-870B-FE29-2879E1A05013}"/>
              </a:ext>
            </a:extLst>
          </p:cNvPr>
          <p:cNvSpPr>
            <a:spLocks noGrp="1"/>
          </p:cNvSpPr>
          <p:nvPr>
            <p:ph type="body" idx="1"/>
          </p:nvPr>
        </p:nvSpPr>
        <p:spPr>
          <a:xfrm>
            <a:off x="147782" y="655394"/>
            <a:ext cx="5849793" cy="529177"/>
          </a:xfrm>
        </p:spPr>
        <p:txBody>
          <a:bodyPr/>
          <a:lstStyle/>
          <a:p>
            <a:pPr algn="ctr"/>
            <a:r>
              <a:rPr lang="en-US" dirty="0">
                <a:solidFill>
                  <a:schemeClr val="bg1"/>
                </a:solidFill>
                <a:latin typeface="Times New Roman" panose="02020603050405020304" pitchFamily="18" charset="0"/>
                <a:cs typeface="Times New Roman" panose="02020603050405020304" pitchFamily="18" charset="0"/>
              </a:rPr>
              <a:t>Recommendations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80C7100-3268-AAFF-325A-DAD8CF47D041}"/>
              </a:ext>
            </a:extLst>
          </p:cNvPr>
          <p:cNvSpPr>
            <a:spLocks noGrp="1"/>
          </p:cNvSpPr>
          <p:nvPr>
            <p:ph sz="half" idx="2"/>
          </p:nvPr>
        </p:nvSpPr>
        <p:spPr>
          <a:xfrm>
            <a:off x="147782" y="1327671"/>
            <a:ext cx="6024418" cy="5429792"/>
          </a:xfrm>
          <a:ln w="25400">
            <a:solidFill>
              <a:schemeClr val="bg2">
                <a:lumMod val="10000"/>
              </a:schemeClr>
            </a:solidFill>
          </a:ln>
        </p:spPr>
        <p:txBody>
          <a:bodyPr>
            <a:noAutofit/>
          </a:bodyPr>
          <a:lstStyle/>
          <a:p>
            <a:pPr marL="0" indent="0">
              <a:buNone/>
            </a:pPr>
            <a:r>
              <a:rPr lang="en-IN" sz="1500" b="1" dirty="0">
                <a:solidFill>
                  <a:srgbClr val="FFFF00"/>
                </a:solidFill>
                <a:highlight>
                  <a:srgbClr val="14213D"/>
                </a:highlight>
                <a:latin typeface="Times New Roman" panose="02020603050405020304" pitchFamily="18" charset="0"/>
                <a:cs typeface="Times New Roman" panose="02020603050405020304" pitchFamily="18" charset="0"/>
              </a:rPr>
              <a:t>1. Launch a Policy Renewal Program</a:t>
            </a:r>
            <a:endParaRPr lang="en-IN" sz="1500" dirty="0">
              <a:solidFill>
                <a:srgbClr val="FFFF00"/>
              </a:solidFill>
              <a:highlight>
                <a:srgbClr val="14213D"/>
              </a:highlight>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Focus on contacting customers with lapsed and terminated policies</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before their renewal period. </a:t>
            </a:r>
          </a:p>
          <a:p>
            <a:pPr lvl="0"/>
            <a:r>
              <a:rPr lang="en-IN" sz="1500" dirty="0">
                <a:solidFill>
                  <a:schemeClr val="bg1"/>
                </a:solidFill>
                <a:latin typeface="Times New Roman" panose="02020603050405020304" pitchFamily="18" charset="0"/>
                <a:cs typeface="Times New Roman" panose="02020603050405020304" pitchFamily="18" charset="0"/>
              </a:rPr>
              <a:t>Send reminders through SMS, email, and phone calls to improve policy</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renewals. </a:t>
            </a:r>
          </a:p>
          <a:p>
            <a:pPr marL="0" indent="0">
              <a:buNone/>
            </a:pPr>
            <a:r>
              <a:rPr lang="en-IN" sz="1500" b="1" dirty="0">
                <a:solidFill>
                  <a:srgbClr val="FFFF00"/>
                </a:solidFill>
                <a:latin typeface="Times New Roman" panose="02020603050405020304" pitchFamily="18" charset="0"/>
                <a:cs typeface="Times New Roman" panose="02020603050405020304" pitchFamily="18" charset="0"/>
              </a:rPr>
              <a:t>2. Improve Payment Success Rate</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Analyze the reasons for failed payments. </a:t>
            </a:r>
          </a:p>
          <a:p>
            <a:pPr lvl="0"/>
            <a:r>
              <a:rPr lang="en-IN" sz="1500" dirty="0">
                <a:solidFill>
                  <a:schemeClr val="bg1"/>
                </a:solidFill>
                <a:latin typeface="Times New Roman" panose="02020603050405020304" pitchFamily="18" charset="0"/>
                <a:cs typeface="Times New Roman" panose="02020603050405020304" pitchFamily="18" charset="0"/>
              </a:rPr>
              <a:t>Introduce multiple payment options and automated payment reminders  </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to reduce payment failures. </a:t>
            </a:r>
          </a:p>
          <a:p>
            <a:pPr marL="0" indent="0">
              <a:buNone/>
            </a:pPr>
            <a:r>
              <a:rPr lang="en-IN" sz="1500" b="1" dirty="0">
                <a:solidFill>
                  <a:srgbClr val="FFFF00"/>
                </a:solidFill>
                <a:latin typeface="Times New Roman" panose="02020603050405020304" pitchFamily="18" charset="0"/>
                <a:cs typeface="Times New Roman" panose="02020603050405020304" pitchFamily="18" charset="0"/>
              </a:rPr>
              <a:t>3. Speed Up Claim Settlement</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Prioritize pending claims and streamline the approval process. </a:t>
            </a:r>
          </a:p>
          <a:p>
            <a:pPr lvl="0"/>
            <a:r>
              <a:rPr lang="en-IN" sz="1500" dirty="0">
                <a:solidFill>
                  <a:schemeClr val="bg1"/>
                </a:solidFill>
                <a:latin typeface="Times New Roman" panose="02020603050405020304" pitchFamily="18" charset="0"/>
                <a:cs typeface="Times New Roman" panose="02020603050405020304" pitchFamily="18" charset="0"/>
              </a:rPr>
              <a:t>Faster claim settlement improves customer satisfaction and trust. </a:t>
            </a:r>
          </a:p>
          <a:p>
            <a:pPr marL="0" indent="0">
              <a:buNone/>
            </a:pPr>
            <a:r>
              <a:rPr lang="en-IN" sz="1500" b="1" dirty="0">
                <a:solidFill>
                  <a:srgbClr val="FFFF00"/>
                </a:solidFill>
                <a:latin typeface="Times New Roman" panose="02020603050405020304" pitchFamily="18" charset="0"/>
                <a:cs typeface="Times New Roman" panose="02020603050405020304" pitchFamily="18" charset="0"/>
              </a:rPr>
              <a:t>4. Target Young Customer Segments</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Design affordable insurance plans for customers aged </a:t>
            </a:r>
            <a:r>
              <a:rPr lang="en-IN" sz="1500" b="1" dirty="0">
                <a:solidFill>
                  <a:schemeClr val="bg1"/>
                </a:solidFill>
                <a:latin typeface="Times New Roman" panose="02020603050405020304" pitchFamily="18" charset="0"/>
                <a:cs typeface="Times New Roman" panose="02020603050405020304" pitchFamily="18" charset="0"/>
              </a:rPr>
              <a:t>18–24</a:t>
            </a:r>
            <a:r>
              <a:rPr lang="en-IN" sz="1500" dirty="0">
                <a:solidFill>
                  <a:schemeClr val="bg1"/>
                </a:solidFill>
                <a:latin typeface="Times New Roman" panose="02020603050405020304" pitchFamily="18" charset="0"/>
                <a:cs typeface="Times New Roman" panose="02020603050405020304" pitchFamily="18" charset="0"/>
              </a:rPr>
              <a:t> and </a:t>
            </a:r>
            <a:r>
              <a:rPr lang="en-IN" sz="1500" b="1" dirty="0">
                <a:solidFill>
                  <a:schemeClr val="bg1"/>
                </a:solidFill>
                <a:latin typeface="Times New Roman" panose="02020603050405020304" pitchFamily="18" charset="0"/>
                <a:cs typeface="Times New Roman" panose="02020603050405020304" pitchFamily="18" charset="0"/>
              </a:rPr>
              <a:t>35–44</a:t>
            </a:r>
            <a:r>
              <a:rPr lang="en-IN" sz="1500" dirty="0">
                <a:solidFill>
                  <a:schemeClr val="bg1"/>
                </a:solidFill>
                <a:latin typeface="Times New Roman" panose="02020603050405020304" pitchFamily="18" charset="0"/>
                <a:cs typeface="Times New Roman" panose="02020603050405020304" pitchFamily="18" charset="0"/>
              </a:rPr>
              <a:t>. </a:t>
            </a:r>
          </a:p>
          <a:p>
            <a:pPr lvl="0"/>
            <a:r>
              <a:rPr lang="en-IN" sz="1500" dirty="0">
                <a:solidFill>
                  <a:schemeClr val="bg1"/>
                </a:solidFill>
                <a:latin typeface="Times New Roman" panose="02020603050405020304" pitchFamily="18" charset="0"/>
                <a:cs typeface="Times New Roman" panose="02020603050405020304" pitchFamily="18" charset="0"/>
              </a:rPr>
              <a:t>Use digital marketing campaigns to increase policy adoption among</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younger customers.</a:t>
            </a:r>
          </a:p>
          <a:p>
            <a:endParaRPr lang="en-IN" sz="1500" dirty="0">
              <a:solidFill>
                <a:schemeClr val="bg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239B9385-AE4C-8CD7-CD59-DBB76C250965}"/>
              </a:ext>
            </a:extLst>
          </p:cNvPr>
          <p:cNvSpPr>
            <a:spLocks noGrp="1"/>
          </p:cNvSpPr>
          <p:nvPr>
            <p:ph type="body" sz="quarter" idx="3"/>
          </p:nvPr>
        </p:nvSpPr>
        <p:spPr>
          <a:xfrm>
            <a:off x="5997574" y="655394"/>
            <a:ext cx="6046643" cy="529177"/>
          </a:xfrm>
        </p:spPr>
        <p:txBody>
          <a:bodyPr/>
          <a:lstStyle/>
          <a:p>
            <a:pPr algn="ctr"/>
            <a:r>
              <a:rPr lang="en-US" dirty="0">
                <a:solidFill>
                  <a:schemeClr val="bg1"/>
                </a:solidFill>
                <a:latin typeface="Times New Roman" panose="02020603050405020304" pitchFamily="18" charset="0"/>
                <a:cs typeface="Times New Roman" panose="02020603050405020304" pitchFamily="18" charset="0"/>
              </a:rPr>
              <a:t>Future Scope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A35D63BE-AD33-9199-2ECA-1A39DE1D7F96}"/>
              </a:ext>
            </a:extLst>
          </p:cNvPr>
          <p:cNvSpPr>
            <a:spLocks noGrp="1"/>
          </p:cNvSpPr>
          <p:nvPr>
            <p:ph sz="quarter" idx="4"/>
          </p:nvPr>
        </p:nvSpPr>
        <p:spPr>
          <a:xfrm>
            <a:off x="6172199" y="1327671"/>
            <a:ext cx="5872017" cy="5429792"/>
          </a:xfrm>
          <a:ln w="25400">
            <a:solidFill>
              <a:schemeClr val="bg2">
                <a:lumMod val="10000"/>
              </a:schemeClr>
            </a:solidFill>
          </a:ln>
        </p:spPr>
        <p:txBody>
          <a:bodyPr>
            <a:noAutofit/>
          </a:bodyPr>
          <a:lstStyle/>
          <a:p>
            <a:pPr marL="0" indent="0">
              <a:buNone/>
            </a:pPr>
            <a:r>
              <a:rPr lang="en-IN" sz="1500" b="1" dirty="0">
                <a:solidFill>
                  <a:srgbClr val="FFFF00"/>
                </a:solidFill>
                <a:latin typeface="Times New Roman" panose="02020603050405020304" pitchFamily="18" charset="0"/>
                <a:cs typeface="Times New Roman" panose="02020603050405020304" pitchFamily="18" charset="0"/>
              </a:rPr>
              <a:t>1. Real-Time Dashboard Integration</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Connect Power BI/Tableau directly to the live database. </a:t>
            </a:r>
          </a:p>
          <a:p>
            <a:pPr lvl="0"/>
            <a:r>
              <a:rPr lang="en-IN" sz="1500" dirty="0">
                <a:solidFill>
                  <a:schemeClr val="bg1"/>
                </a:solidFill>
                <a:latin typeface="Times New Roman" panose="02020603050405020304" pitchFamily="18" charset="0"/>
                <a:cs typeface="Times New Roman" panose="02020603050405020304" pitchFamily="18" charset="0"/>
              </a:rPr>
              <a:t>Enable automatic dashboard updates without manual data refresh. </a:t>
            </a:r>
          </a:p>
          <a:p>
            <a:pPr marL="0" indent="0">
              <a:buNone/>
            </a:pPr>
            <a:r>
              <a:rPr lang="en-IN" sz="1500" b="1" dirty="0">
                <a:solidFill>
                  <a:srgbClr val="FFFF00"/>
                </a:solidFill>
                <a:latin typeface="Times New Roman" panose="02020603050405020304" pitchFamily="18" charset="0"/>
                <a:cs typeface="Times New Roman" panose="02020603050405020304" pitchFamily="18" charset="0"/>
              </a:rPr>
              <a:t>2. Predictive Analytics</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Develop machine learning models to identify customers likely to lapse </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or cancel their policies. </a:t>
            </a:r>
          </a:p>
          <a:p>
            <a:pPr lvl="0"/>
            <a:r>
              <a:rPr lang="en-IN" sz="1500" dirty="0">
                <a:solidFill>
                  <a:schemeClr val="bg1"/>
                </a:solidFill>
                <a:latin typeface="Times New Roman" panose="02020603050405020304" pitchFamily="18" charset="0"/>
                <a:cs typeface="Times New Roman" panose="02020603050405020304" pitchFamily="18" charset="0"/>
              </a:rPr>
              <a:t>Take preventive actions to improve customer retention. </a:t>
            </a:r>
          </a:p>
          <a:p>
            <a:pPr marL="0" indent="0">
              <a:buNone/>
            </a:pPr>
            <a:r>
              <a:rPr lang="en-IN" sz="1500" b="1" dirty="0">
                <a:solidFill>
                  <a:srgbClr val="FFFF00"/>
                </a:solidFill>
                <a:latin typeface="Times New Roman" panose="02020603050405020304" pitchFamily="18" charset="0"/>
                <a:cs typeface="Times New Roman" panose="02020603050405020304" pitchFamily="18" charset="0"/>
              </a:rPr>
              <a:t>3. Branch Performance Analysis</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Add branch-wise analysis to compare sales, claims, and customer</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performance. </a:t>
            </a:r>
          </a:p>
          <a:p>
            <a:pPr lvl="0"/>
            <a:r>
              <a:rPr lang="en-IN" sz="1500" dirty="0">
                <a:solidFill>
                  <a:schemeClr val="bg1"/>
                </a:solidFill>
                <a:latin typeface="Times New Roman" panose="02020603050405020304" pitchFamily="18" charset="0"/>
                <a:cs typeface="Times New Roman" panose="02020603050405020304" pitchFamily="18" charset="0"/>
              </a:rPr>
              <a:t>Help management identify high-performing and low-performing</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branches. </a:t>
            </a:r>
          </a:p>
          <a:p>
            <a:pPr marL="0" indent="0">
              <a:buNone/>
            </a:pPr>
            <a:r>
              <a:rPr lang="en-IN" sz="1500" b="1" dirty="0">
                <a:solidFill>
                  <a:srgbClr val="FFFF00"/>
                </a:solidFill>
                <a:latin typeface="Times New Roman" panose="02020603050405020304" pitchFamily="18" charset="0"/>
                <a:cs typeface="Times New Roman" panose="02020603050405020304" pitchFamily="18" charset="0"/>
              </a:rPr>
              <a:t>4. AI-Based Product Recommendations</a:t>
            </a:r>
            <a:endParaRPr lang="en-IN" sz="1500" dirty="0">
              <a:solidFill>
                <a:srgbClr val="FFFF00"/>
              </a:solidFill>
              <a:latin typeface="Times New Roman" panose="02020603050405020304" pitchFamily="18" charset="0"/>
              <a:cs typeface="Times New Roman" panose="02020603050405020304" pitchFamily="18" charset="0"/>
            </a:endParaRPr>
          </a:p>
          <a:p>
            <a:pPr lvl="0"/>
            <a:r>
              <a:rPr lang="en-IN" sz="1500" dirty="0">
                <a:solidFill>
                  <a:schemeClr val="bg1"/>
                </a:solidFill>
                <a:latin typeface="Times New Roman" panose="02020603050405020304" pitchFamily="18" charset="0"/>
                <a:cs typeface="Times New Roman" panose="02020603050405020304" pitchFamily="18" charset="0"/>
              </a:rPr>
              <a:t>Recommend suitable insurance products based on customer profile</a:t>
            </a:r>
          </a:p>
          <a:p>
            <a:pPr marL="0" lvl="0" indent="0">
              <a:buNone/>
            </a:pPr>
            <a:r>
              <a:rPr lang="en-IN" sz="1500" dirty="0">
                <a:solidFill>
                  <a:schemeClr val="bg1"/>
                </a:solidFill>
                <a:latin typeface="Times New Roman" panose="02020603050405020304" pitchFamily="18" charset="0"/>
                <a:cs typeface="Times New Roman" panose="02020603050405020304" pitchFamily="18" charset="0"/>
              </a:rPr>
              <a:t>       and policy history. </a:t>
            </a:r>
          </a:p>
          <a:p>
            <a:pPr lvl="0"/>
            <a:r>
              <a:rPr lang="en-IN" sz="1500" dirty="0">
                <a:solidFill>
                  <a:schemeClr val="bg1"/>
                </a:solidFill>
                <a:latin typeface="Times New Roman" panose="02020603050405020304" pitchFamily="18" charset="0"/>
                <a:cs typeface="Times New Roman" panose="02020603050405020304" pitchFamily="18" charset="0"/>
              </a:rPr>
              <a:t>Increase cross-selling opportunities and enhance customer experience.</a:t>
            </a:r>
          </a:p>
          <a:p>
            <a:endParaRPr lang="en-IN" sz="15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0424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3" name="TextBox 2"/>
          <p:cNvSpPr txBox="1"/>
          <p:nvPr/>
        </p:nvSpPr>
        <p:spPr>
          <a:xfrm>
            <a:off x="99222" y="274320"/>
            <a:ext cx="2321469" cy="523220"/>
          </a:xfrm>
          <a:prstGeom prst="rect">
            <a:avLst/>
          </a:prstGeom>
          <a:noFill/>
        </p:spPr>
        <p:txBody>
          <a:bodyPr wrap="none">
            <a:spAutoFit/>
          </a:bodyPr>
          <a:lstStyle/>
          <a:p>
            <a:pPr>
              <a:defRPr sz="2800" b="1">
                <a:solidFill>
                  <a:srgbClr val="0E3C78"/>
                </a:solidFill>
              </a:defRPr>
            </a:pPr>
            <a:r>
              <a:rPr dirty="0">
                <a:solidFill>
                  <a:srgbClr val="FFC000"/>
                </a:solidFill>
                <a:latin typeface="Times New Roman" panose="02020603050405020304" pitchFamily="18" charset="0"/>
                <a:cs typeface="Times New Roman" panose="02020603050405020304" pitchFamily="18" charset="0"/>
              </a:rPr>
              <a:t>Conclusion</a:t>
            </a:r>
            <a:r>
              <a:rPr lang="en-US" dirty="0">
                <a:solidFill>
                  <a:srgbClr val="FFC000"/>
                </a:solidFill>
                <a:latin typeface="Times New Roman" panose="02020603050405020304" pitchFamily="18" charset="0"/>
                <a:cs typeface="Times New Roman" panose="02020603050405020304" pitchFamily="18" charset="0"/>
              </a:rPr>
              <a:t> : -</a:t>
            </a:r>
            <a:endParaRPr dirty="0">
              <a:solidFill>
                <a:srgbClr val="FFC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99222" y="1122572"/>
            <a:ext cx="12267141" cy="1323439"/>
          </a:xfrm>
          <a:prstGeom prst="rect">
            <a:avLst/>
          </a:prstGeom>
          <a:noFill/>
        </p:spPr>
        <p:txBody>
          <a:bodyPr wrap="none">
            <a:spAutoFit/>
          </a:bodyPr>
          <a:lstStyle/>
          <a:p>
            <a:pPr>
              <a:defRPr sz="2000"/>
            </a:pPr>
            <a:r>
              <a:rPr dirty="0">
                <a:latin typeface="Times New Roman" panose="02020603050405020304" pitchFamily="18" charset="0"/>
                <a:cs typeface="Times New Roman" panose="02020603050405020304" pitchFamily="18" charset="0"/>
              </a:rPr>
              <a:t>• Successfully analyzed insurance policy data using Excel, MySQL, Power BI, and Tableau.</a:t>
            </a:r>
          </a:p>
          <a:p>
            <a:pPr>
              <a:defRPr sz="2000"/>
            </a:pPr>
            <a:r>
              <a:rPr dirty="0">
                <a:latin typeface="Times New Roman" panose="02020603050405020304" pitchFamily="18" charset="0"/>
                <a:cs typeface="Times New Roman" panose="02020603050405020304" pitchFamily="18" charset="0"/>
              </a:rPr>
              <a:t>• Built interactive dashboards to monitor policy performance, customer demographics, claims</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 premium trends.</a:t>
            </a:r>
          </a:p>
          <a:p>
            <a:pPr>
              <a:defRPr sz="2000"/>
            </a:pPr>
            <a:r>
              <a:rPr dirty="0">
                <a:latin typeface="Times New Roman" panose="02020603050405020304" pitchFamily="18" charset="0"/>
                <a:cs typeface="Times New Roman" panose="02020603050405020304" pitchFamily="18" charset="0"/>
              </a:rPr>
              <a:t>• Generated business KPIs and actionable insights to support data-driven decision-making.</a:t>
            </a:r>
          </a:p>
          <a:p>
            <a:pPr>
              <a:defRPr sz="2000"/>
            </a:pPr>
            <a:r>
              <a:rPr dirty="0">
                <a:latin typeface="Times New Roman" panose="02020603050405020304" pitchFamily="18" charset="0"/>
                <a:cs typeface="Times New Roman" panose="02020603050405020304" pitchFamily="18" charset="0"/>
              </a:rPr>
              <a:t>• Strengthened practical skills in data cleaning, SQL querying, visualization, and dashboard development.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4353329" y="2514600"/>
            <a:ext cx="2908168" cy="954107"/>
          </a:xfrm>
          <a:prstGeom prst="rect">
            <a:avLst/>
          </a:prstGeom>
          <a:noFill/>
        </p:spPr>
        <p:txBody>
          <a:bodyPr wrap="none">
            <a:spAutoFit/>
          </a:bodyPr>
          <a:lstStyle/>
          <a:p>
            <a:pPr algn="ctr">
              <a:defRPr sz="3400" b="1">
                <a:solidFill>
                  <a:srgbClr val="0E3C78"/>
                </a:solidFill>
              </a:defRPr>
            </a:pPr>
            <a:r>
              <a:rPr dirty="0">
                <a:solidFill>
                  <a:srgbClr val="FFC000"/>
                </a:solidFill>
                <a:latin typeface="Times New Roman" panose="02020603050405020304" pitchFamily="18" charset="0"/>
                <a:cs typeface="Times New Roman" panose="02020603050405020304" pitchFamily="18" charset="0"/>
              </a:rPr>
              <a:t>Thank You!</a:t>
            </a:r>
          </a:p>
          <a:p>
            <a:pPr algn="ctr">
              <a:defRPr sz="2200"/>
            </a:pPr>
            <a:r>
              <a:rPr dirty="0">
                <a:latin typeface="Times New Roman" panose="02020603050405020304" pitchFamily="18" charset="0"/>
                <a:cs typeface="Times New Roman" panose="02020603050405020304" pitchFamily="18" charset="0"/>
              </a:rPr>
              <a:t>Questions &amp; Discussion</a:t>
            </a:r>
          </a:p>
        </p:txBody>
      </p:sp>
    </p:spTree>
  </p:cSld>
  <p:clrMapOvr>
    <a:masterClrMapping/>
  </p:clrMapOvr>
</p:sld>
</file>

<file path=ppt/theme/theme1.xml><?xml version="1.0" encoding="utf-8"?>
<a:theme xmlns:a="http://schemas.openxmlformats.org/drawingml/2006/main" name="2_Office Theme">
  <a:themeElements>
    <a:clrScheme name="Custom 1">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735</TotalTime>
  <Words>1814</Words>
  <Application>Microsoft Office PowerPoint</Application>
  <PresentationFormat>Widescreen</PresentationFormat>
  <Paragraphs>292</Paragraphs>
  <Slides>33</Slides>
  <Notes>9</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33</vt:i4>
      </vt:variant>
    </vt:vector>
  </HeadingPairs>
  <TitlesOfParts>
    <vt:vector size="41" baseType="lpstr">
      <vt:lpstr>Arial</vt:lpstr>
      <vt:lpstr>Calibri</vt:lpstr>
      <vt:lpstr>Calibri Light</vt:lpstr>
      <vt:lpstr>Times New Roman</vt:lpstr>
      <vt:lpstr>2_Office Theme</vt:lpstr>
      <vt:lpstr>Office Theme</vt:lpstr>
      <vt:lpstr>1_Office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BI DASHBOARD -1</vt:lpstr>
      <vt:lpstr>POWER BI DASHBOARD -2</vt:lpstr>
      <vt:lpstr>POWER BI DASHBOARD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 &amp; Future Scope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Guvva Mahesh</cp:lastModifiedBy>
  <cp:revision>46</cp:revision>
  <dcterms:created xsi:type="dcterms:W3CDTF">2026-07-25T05:52:31Z</dcterms:created>
  <dcterms:modified xsi:type="dcterms:W3CDTF">2026-08-02T08:31:47Z</dcterms:modified>
</cp:coreProperties>
</file>